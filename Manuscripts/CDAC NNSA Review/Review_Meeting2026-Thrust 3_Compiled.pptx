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7" r:id="rId2"/>
    <p:sldMasterId id="2147483722" r:id="rId3"/>
  </p:sldMasterIdLst>
  <p:notesMasterIdLst>
    <p:notesMasterId r:id="rId56"/>
  </p:notesMasterIdLst>
  <p:sldIdLst>
    <p:sldId id="610" r:id="rId4"/>
    <p:sldId id="1115" r:id="rId5"/>
    <p:sldId id="656" r:id="rId6"/>
    <p:sldId id="668" r:id="rId7"/>
    <p:sldId id="672" r:id="rId8"/>
    <p:sldId id="669" r:id="rId9"/>
    <p:sldId id="670" r:id="rId10"/>
    <p:sldId id="674" r:id="rId11"/>
    <p:sldId id="676" r:id="rId12"/>
    <p:sldId id="671" r:id="rId13"/>
    <p:sldId id="673" r:id="rId14"/>
    <p:sldId id="1132" r:id="rId15"/>
    <p:sldId id="1133" r:id="rId16"/>
    <p:sldId id="1134" r:id="rId17"/>
    <p:sldId id="1135" r:id="rId18"/>
    <p:sldId id="681" r:id="rId19"/>
    <p:sldId id="675" r:id="rId20"/>
    <p:sldId id="677" r:id="rId21"/>
    <p:sldId id="678" r:id="rId22"/>
    <p:sldId id="680" r:id="rId23"/>
    <p:sldId id="684" r:id="rId24"/>
    <p:sldId id="682" r:id="rId25"/>
    <p:sldId id="1129" r:id="rId26"/>
    <p:sldId id="654" r:id="rId27"/>
    <p:sldId id="1130" r:id="rId28"/>
    <p:sldId id="1131" r:id="rId29"/>
    <p:sldId id="1120" r:id="rId30"/>
    <p:sldId id="660" r:id="rId31"/>
    <p:sldId id="661" r:id="rId32"/>
    <p:sldId id="662" r:id="rId33"/>
    <p:sldId id="1121" r:id="rId34"/>
    <p:sldId id="1122" r:id="rId35"/>
    <p:sldId id="1123" r:id="rId36"/>
    <p:sldId id="1124" r:id="rId37"/>
    <p:sldId id="1125" r:id="rId38"/>
    <p:sldId id="1126" r:id="rId39"/>
    <p:sldId id="666" r:id="rId40"/>
    <p:sldId id="655" r:id="rId41"/>
    <p:sldId id="1127" r:id="rId42"/>
    <p:sldId id="665" r:id="rId43"/>
    <p:sldId id="1128" r:id="rId44"/>
    <p:sldId id="667" r:id="rId45"/>
    <p:sldId id="1139" r:id="rId46"/>
    <p:sldId id="1140" r:id="rId47"/>
    <p:sldId id="1141" r:id="rId48"/>
    <p:sldId id="1117" r:id="rId49"/>
    <p:sldId id="1116" r:id="rId50"/>
    <p:sldId id="1118" r:id="rId51"/>
    <p:sldId id="1119" r:id="rId52"/>
    <p:sldId id="1136" r:id="rId53"/>
    <p:sldId id="1137" r:id="rId54"/>
    <p:sldId id="1138" r:id="rId5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399FF"/>
    <a:srgbClr val="F9F2E7"/>
    <a:srgbClr val="FFFFCC"/>
    <a:srgbClr val="FFFF00"/>
    <a:srgbClr val="000066"/>
    <a:srgbClr val="000099"/>
    <a:srgbClr val="FFFFFF"/>
    <a:srgbClr val="33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8" autoAdjust="0"/>
    <p:restoredTop sz="94658"/>
  </p:normalViewPr>
  <p:slideViewPr>
    <p:cSldViewPr snapToGrid="0" snapToObjects="1">
      <p:cViewPr varScale="1">
        <p:scale>
          <a:sx n="86" d="100"/>
          <a:sy n="86" d="100"/>
        </p:scale>
        <p:origin x="2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17E8861-A1AE-5848-88FF-870F87D49831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D6AF9B3-AA09-4B42-8165-5E182DD43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4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9070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9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890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D81A3-059B-D0D6-73CD-8611430F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71CA7-1F50-08C6-03C5-96262F4BA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FAED5-B682-2856-1270-12BB749BB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4790B-613D-E054-56C3-88B939D47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365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EB00-5DF3-3F13-9493-6EE41BBF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7C046-CBB8-2712-4EC4-6A1EF6572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3ED97-CF1C-5C5E-03BD-59B29A52C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0B973-76C4-73D1-6271-DB7E8E787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031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9120-CBB1-F4C4-9D7B-679DF2C4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CC1AB-05B9-CBA1-DCEE-22A864859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6DEDF-31F0-A4FF-FA67-78F2B7742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3FB93-DFB0-9AEE-04B6-84DEF605F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855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93E9D-DC31-2BA8-DA96-887D339E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DDC07-C446-3E1F-3ABD-5370D8EBF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2F4B3-225F-30CA-C95E-E2F386FF0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438CA-CC99-45E1-ACAE-3BDA96F24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858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FD14-2304-BE2A-BC9C-F7F3E435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29B63-6C94-873F-D22D-C640A3E83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6D4A4-3940-47EE-E6DE-48461DCD6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2A735-C86F-0DE3-B923-371AADBF9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9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1AFC-C5F9-20C5-228B-46A5AAA9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22198-4CE8-E888-2205-C0170B1C6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C1EEA-C8EB-8ABC-2B27-A54E701B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5AE51-3B7F-9C93-3187-533A009EF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38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2298-FBD1-02BB-C3A0-506FD592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D0E12-8A77-72DC-9483-A6D002678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478AD-A2C4-4068-8A4F-12528C07B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87519-1E28-7E52-6127-B6AAA9A7B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690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051C2-F224-59E2-A237-67EA68EC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19D76-E1BF-9F55-99AF-F4DD5D39A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0907E-DAF5-3F1B-59F0-23D623209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AB7B4-781A-F519-644D-96C4579C79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960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55DC-45D0-BC34-2822-970542D3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20839-0BA2-8511-BF0B-4D864522A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97FA1-11CB-4B33-533F-4CF245A13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FD679-879E-CAD4-7234-CEE237EE1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767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AFB45-563C-8970-6DF8-42A35797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28993-072C-900D-0C25-CDC1121CD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0D6A2-7FAC-A315-56E6-2B8DA7354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Swift heavy ions deposit enormous energy densities (tens of keV/nm) via dense electronic excitation and ionization — classical MD alone cannot capture this Electronic energy coupled to atomic dynamics via: electron-phonon coupling, Langevin thermostat, and empirical dose distributions — approaches validated in UO2, Al2O3, </a:t>
            </a:r>
            <a:r>
              <a:rPr lang="en-US" dirty="0" err="1"/>
              <a:t>SiC</a:t>
            </a:r>
            <a:r>
              <a:rPr lang="en-US" dirty="0"/>
              <a:t>, and pyrochlore CeO2 as model system: redox effects play a unique role in defect distribution, strain evolution, and phase transformation behavior Simulations validated against Lang's experimental benchmark datasets (XANES quantification of redox changes, single ion track characterization) Grain size as a key variable: nano-grained samples show enhanced redox effects, with hypothesized amorphization below 5 nm grain size Deliverable: quantitative, experimentally validated model of ion track formation — portable to other ceramics, metals, and amorphous materials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contrast, the source term for SHI irradiation (Fig. 2b) is often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assumed to have a two-dimensional Gaussian spatial variation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(width r) and an exponentially decaying time variation (decay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E469E-EDB7-126B-3DE5-15F6B534A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297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77A2-B5AB-C15F-86FC-B5E56F6E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E051F-6E27-8CDC-10DF-F87DCBDC2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83493-74BC-5996-A4A0-902CB577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 simulations predict the full diversity of defect structures arising across irradiation conditions: energy density (E, </a:t>
            </a:r>
            <a:r>
              <a:rPr lang="en-US" dirty="0" err="1"/>
              <a:t>dE</a:t>
            </a:r>
            <a:r>
              <a:rPr lang="en-US" dirty="0"/>
              <a:t>/dx), grain size, pre-existing damage, and dopant concentration Defect zoo in irradiated CeO2: redox-induced Frenkel/Schottky pairs, point defect clusters, dislocation cores, stacking faults, twin boundaries — and their spatial distributions within and around tracks Core/shell track morphology: inner plasma-condition core with intense damage, outer halo of dilute defects — grain size controls the competition between outward oxygen expulsion and grain boundary trapping Rare earth doping (</a:t>
            </a:r>
            <a:r>
              <a:rPr lang="en-US" dirty="0" err="1"/>
              <a:t>Sm</a:t>
            </a:r>
            <a:r>
              <a:rPr lang="en-US" dirty="0"/>
              <a:t>, Gd, Nd): varying electron/hole concentrations modify the electron-mediated energy transfer, changing defect distributions — experiment and simulation jointly quantify this Defect phase diagrams constructed in P-T-</a:t>
            </a:r>
            <a:r>
              <a:rPr lang="el-GR" dirty="0"/>
              <a:t>μ </a:t>
            </a:r>
            <a:r>
              <a:rPr lang="en-US" dirty="0"/>
              <a:t>space: equilibrium and metastable defect phases, how coupled extremes shift stability boundaries and enable access to otherwise inaccessible defect configurations Framework validated in CeO2, then extended to c-BN, WC, </a:t>
            </a:r>
            <a:r>
              <a:rPr lang="en-US" dirty="0" err="1"/>
              <a:t>ZrC</a:t>
            </a:r>
            <a:r>
              <a:rPr lang="en-US" dirty="0"/>
              <a:t>, </a:t>
            </a:r>
            <a:r>
              <a:rPr lang="en-US" dirty="0" err="1"/>
              <a:t>ZrN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B5DD6-172A-4B14-1B20-01D3F5F64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307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89ABA-4EF7-F1B4-3CB9-256BC86B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39ED3-396A-E544-D37C-43DBD8539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50447-5D32-F4BD-35DD-8E1466441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1736A-38FC-EF20-CCDF-78FAB9F8C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41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2044-CF3C-7DDA-64C8-6FA9A0D0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21CC5-498A-9916-0FD1-DC5B4A151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920FC-04E3-01AD-F2A9-C61E2693C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1AE47-809B-0ACE-563A-2BF230A9A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16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2147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80F5-2630-E718-C967-DF858789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7D2DD-64D4-962D-6D30-1BD09DA89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CF316-FE54-EA06-1454-CE0BA05A2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CAD1E-9001-C650-0FF9-B1024F503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486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3BC7-8347-1521-747C-7CDD18C4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F0A90-8117-1D80-2365-764C561EC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01699-9E9B-F779-C083-C58EC1B9B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BA90C-CED4-FFC1-ED93-2873C4EB7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786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D3DA-9EC7-57D6-1157-98F6A27C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F88B4-7921-36B2-DAC0-01C80CC03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276A0-E40D-9126-01C3-39ACE94A9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85DD8-3994-50E0-7BDB-969361139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381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8C0C-4A82-5155-3B9F-1D3256E6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FEEA3-BA12-02DF-F1D3-F9941BC59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C8AD4-CE90-CDA7-1715-B74165EFC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27961-1004-34FB-A67C-499C716BA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920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256E-24F2-AE14-52F2-B56F3696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6471B-62AA-522A-23E2-4D8D93E05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22354-B165-7466-FF54-11E373B0D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C953D-22A5-27D7-57A6-D0446C869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49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2D1F-E1BD-08E5-540F-73FAE776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52FBA-34E9-E40D-F72F-19158B982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A4697-056A-3882-E027-F857E165B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E7C6-AE52-50AC-B9EB-8450081B3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2711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4563-6380-6F14-9CEE-1093FF44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69B1C-7F9E-1723-7001-31E40D23B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F78A0-61A8-790F-8865-9FD3C1158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B038F-DC69-D1BA-D4F9-B5F4B1696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23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5641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AF9B3-AA09-4B42-8165-5E182DD434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55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AF9B3-AA09-4B42-8165-5E182DD434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9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360C-170A-D645-BFFB-6FE06DC6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028E7-2CA7-8A94-7739-0876D25D8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B5FF3-CD08-5ABC-65ED-2B8F36226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E794D-94C0-81BD-B77A-733775DFD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27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79541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9638" y="793750"/>
            <a:ext cx="4684712" cy="26352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749799"/>
            <a:ext cx="5486400" cy="3600451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180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6E60-9A26-C91C-6769-6DC9F0F0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5CE1E-78BF-0309-3D61-C6A7B91BF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9638" y="793750"/>
            <a:ext cx="4684712" cy="26352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37AF1-2675-037F-1584-48E1F452A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749799"/>
            <a:ext cx="5486400" cy="3600451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2E13B-5ABD-1A20-91FE-A832C9089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7451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E5A2A-03E4-D817-E6D7-732C5DDD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01DE4-5326-4282-1915-B13E6E74E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9638" y="793750"/>
            <a:ext cx="4684712" cy="26352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A4AF0-ACAC-6805-814F-A30B2680D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749799"/>
            <a:ext cx="5486400" cy="3600451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26A0C-7FC0-C965-545E-C300D0203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6519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2044-CF3C-7DDA-64C8-6FA9A0D0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21CC5-498A-9916-0FD1-DC5B4A151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920FC-04E3-01AD-F2A9-C61E2693C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1AE47-809B-0ACE-563A-2BF230A9A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31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21470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D0B2-9CC5-FE76-7AB4-F2CF7063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8879E-C7A1-DDCA-385C-5168CC87F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85146-A414-A2E4-8455-5E6994AA6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4BCD-8F06-254A-AAAD-3CE6381EA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4092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A3EA-ACBC-1AD5-5520-27D573BD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B9C93-110A-3463-30BE-ABF6EFB58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5C796-F214-0575-0511-F62C8303C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7E579-0CC4-60D7-665C-340CB94D9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3543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80F5-2630-E718-C967-DF858789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7D2DD-64D4-962D-6D30-1BD09DA89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CF316-FE54-EA06-1454-CE0BA05A2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CAD1E-9001-C650-0FF9-B1024F503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486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goal of this collaborative research is to investigate the behavior of radiation defects in ceria using a combined theoretical, computational, machine-learning, and experimental framework.</a:t>
            </a:r>
          </a:p>
          <a:p>
            <a:pPr marL="171450" indent="-171450">
              <a:buFontTx/>
              <a:buChar char="-"/>
            </a:pPr>
            <a:r>
              <a:rPr lang="en-US" dirty="0"/>
              <a:t>Top figure: an example of an irradiation ion track in ceria</a:t>
            </a:r>
          </a:p>
          <a:p>
            <a:pPr marL="171450" indent="-171450">
              <a:buFontTx/>
              <a:buChar char="-"/>
            </a:pPr>
            <a:r>
              <a:rPr lang="en-US" dirty="0"/>
              <a:t>Bottom figure: a snapshot of 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two-temperature MD simulation of ion irradiation in ceria (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Ertekin’s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group)</a:t>
            </a:r>
            <a:endParaRPr lang="en-US" dirty="0"/>
          </a:p>
          <a:p>
            <a:r>
              <a:rPr lang="en-US" dirty="0"/>
              <a:t>- Right figure: an example of a CALPHAD-based phase diagram of Ce-O, illustrating non-stoichiometric ceria (</a:t>
            </a:r>
            <a:r>
              <a:rPr lang="en-US" dirty="0">
                <a:effectLst/>
                <a:latin typeface="Helvetica" pitchFamily="2" charset="0"/>
              </a:rPr>
              <a:t>fluorite phase</a:t>
            </a:r>
            <a:r>
              <a:rPr lang="en-US" dirty="0"/>
              <a:t>) and several </a:t>
            </a:r>
            <a:r>
              <a:rPr lang="en-US" dirty="0">
                <a:effectLst/>
                <a:latin typeface="Helvetica" pitchFamily="2" charset="0"/>
              </a:rPr>
              <a:t>locally ordered fluorite-derivative superstructures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1804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964E-63B8-F156-D0BA-084DCC60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2D25F-A31B-FA74-33F1-77C1CC915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64C89-F7C8-8823-D9A8-46BE04D95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01C0-532F-80EA-1B25-EBACFCD52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36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38106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F0D1-8F66-AE39-667D-EB5E214BC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8F8C1-63B0-0E58-98FD-701CE225E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28222-2308-6360-AC8D-FA8D0C82F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53F09-7FE1-371E-9097-53EE3BF44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AF9B3-AA09-4B42-8165-5E182DD434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8300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4327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4653F-818D-0DDC-2B00-1725BAE5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5BE4B-AABC-4E12-608E-F1A19061C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168DA-E775-74F7-8A8C-AEAB3C7C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8D4FF-4A3B-7721-9D3C-782ADB124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AF9B3-AA09-4B42-8165-5E182DD434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4059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3BB7-F775-3CF1-DD51-ABBB166F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D5422-9B80-716B-6126-76F7828D7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C91FB-47FF-F98D-B3BE-388F5CECB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{100}&lt;110&gt; also gives a 011 texture but the Q don’t fit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0E405-160B-1B48-0FCB-F16D7C828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AF9B3-AA09-4B42-8165-5E182DD434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9748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8CF3-2DFD-CBD4-3510-86A8D262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E1EFD-CB5F-6C34-96E9-3D10AA889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95F8C-0E55-A3FF-227C-9A2613537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Shear modulus from Sun et al., 2010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9504D-D5AE-03CA-8598-B61C25FF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AF9B3-AA09-4B42-8165-5E182DD434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209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5B3E-188A-DD2E-ABEA-386505B7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18D45-C943-B11E-9028-3B38735F7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33644-6257-C6B3-A014-2952FB384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49A09-AF55-0D5C-BFF7-F670A4B44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AF9B3-AA09-4B42-8165-5E182DD434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3781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25AF-C5F6-D855-DDF4-CCAC1BCA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55C44-6EF3-A28D-E678-12A2DD6E9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EC513-B54E-5E5A-60F6-733209CF3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4AB51-670C-BC78-BC30-766E9D31D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43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47782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DA2-1535-125A-9B55-839E9149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936AB-65AC-F4DF-EC09-F4059B481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49E3A-212C-F15F-62CC-A7F799D6F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FD0AE-07C2-3B71-9E85-0EF851076F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EEF3FE-D014-4E4C-BCC8-2F9528207E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6678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E41B-AFD5-DAE4-7808-CDF2672D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88B4E-6859-7A91-8C23-4642FA358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274FB-CFDA-50FA-4390-543A62C79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121AB-C8B3-9E5F-C2D2-EFB355CDC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EEF3FE-D014-4E4C-BCC8-2F9528207E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1634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F598-C698-6FDB-856B-8E2A56073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1B3D3-F3B5-3894-5F1C-047E73A1C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81D1D-1663-34E6-1431-FE2C5D7B1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DB545-4814-374E-1A3D-9B81BC64E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E1EEF3FE-D014-4E4C-BCC8-2F9528207E4A}" type="slidenum">
              <a:rPr lang="en-US">
                <a:solidFill>
                  <a:prstClr val="black"/>
                </a:solidFill>
                <a:latin typeface="Calibri"/>
              </a:rPr>
              <a:pPr defTabSz="931774">
                <a:defRPr/>
              </a:pPr>
              <a:t>46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38472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C750-EBF6-431A-1F29-62BDEC41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F0BC0-78BE-151D-F872-91DD91D2F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38F86-17F9-930B-BA18-9933C3396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A579C-6602-DD29-2144-847BB064E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021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48A8-A14E-1AA6-21F4-D6559817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A0E06-1A04-D2F7-CF08-C34AAFEA4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1A7D2-865E-18EC-90B6-D76A94FA0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9B01A-C9C9-1476-BE28-CC2BF08ED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5939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7C33-F5B7-49FC-C1C2-1C8EBC3D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14556-92CB-5742-E3CC-DACD14BEE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13C0B-A07D-DB99-276D-EBE48DBF3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7FA72-927E-7B25-5A1E-FF8542C28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5208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E489-76EA-B42E-5809-9D2C1D6C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1D9B-8670-D8C8-8C6B-55B1301B4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8CF79-0A85-D151-0F6B-39BADE897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37C1-0AC8-7B13-3E90-42B83C777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8908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FD2A-AB0B-9BC1-F33B-9564D655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F76D6-37A0-0A76-7DFF-B9E4019F3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47EA1-74CE-3E21-B6EF-6341A9016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19408-49AE-3650-B0E7-307D28890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924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EA24-E402-567C-04C0-0A2B8CAA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DCBD5-98C0-5EAD-7828-521D777B9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E5D81-4A44-FDA2-5103-F5C790669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B7798-42BC-915E-62AD-66600C8C2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EEF3FE-D014-4E4C-BCC8-2F9528207E4A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10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402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061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154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543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215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238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779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525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407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1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0085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>
                <a:rot lat="0" lon="0" rev="4800000"/>
              </a:lightRig>
            </a:scene3d>
            <a:sp3d prstMaterial="matte"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095163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31" y="2130636"/>
            <a:ext cx="103632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44" y="3886200"/>
            <a:ext cx="8534401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88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51" y="274638"/>
            <a:ext cx="10972801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51" y="1600206"/>
            <a:ext cx="10972801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8656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7111"/>
            <a:ext cx="103632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5281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51" y="274638"/>
            <a:ext cx="10972801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4465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51" y="274638"/>
            <a:ext cx="10972801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31" y="1535113"/>
            <a:ext cx="5386917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31" y="2174875"/>
            <a:ext cx="5386917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66" y="1535113"/>
            <a:ext cx="5389033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66" y="2174875"/>
            <a:ext cx="5389033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6283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51" y="274638"/>
            <a:ext cx="10972801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6846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1234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261"/>
            <a:ext cx="6815667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1772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47" y="4800600"/>
            <a:ext cx="73152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47" y="612775"/>
            <a:ext cx="73152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47" y="5367338"/>
            <a:ext cx="73152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80378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51" y="274638"/>
            <a:ext cx="10972801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51" y="1600206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122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84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84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3774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51" y="274638"/>
            <a:ext cx="10972801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4273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30" y="213050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847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87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8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006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427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28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28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16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934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59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8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13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8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452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4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4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4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70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1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72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722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7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F1F27-CF90-4558-A9B4-115CC5EA5A8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7/17/26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Times New Roman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776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074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70000"/>
        <a:buFont typeface="Monotype Sorts" charset="0"/>
        <a:buChar char="n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690563" indent="-233363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har char="-"/>
        <a:defRPr sz="24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har char="-"/>
        <a:defRPr sz="24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har char="-"/>
        <a:defRPr sz="2400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har char="-"/>
        <a:defRPr sz="2400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har char="-"/>
        <a:defRPr sz="2400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har char="-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29" y="274638"/>
            <a:ext cx="10972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29" y="1600206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43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F1F27-CF90-4558-A9B4-115CC5EA5A8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30" y="635643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31" y="635643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F119F-E1C9-451A-8747-A02CB17B9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3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mlang2@utk.edu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mailto:Ertekin@illinois.edu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5.jpeg"/><Relationship Id="rId9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4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emf"/><Relationship Id="rId5" Type="http://schemas.openxmlformats.org/officeDocument/2006/relationships/image" Target="../media/image25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1.jpe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jpe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jpeg"/><Relationship Id="rId28" Type="http://schemas.openxmlformats.org/officeDocument/2006/relationships/image" Target="../media/image51.jpe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5.jpe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jpeg"/><Relationship Id="rId27" Type="http://schemas.openxmlformats.org/officeDocument/2006/relationships/image" Target="../media/image5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1.jpeg"/><Relationship Id="rId7" Type="http://schemas.openxmlformats.org/officeDocument/2006/relationships/image" Target="../media/image54.jpeg"/><Relationship Id="rId12" Type="http://schemas.openxmlformats.org/officeDocument/2006/relationships/image" Target="../media/image59.jpeg"/><Relationship Id="rId17" Type="http://schemas.openxmlformats.org/officeDocument/2006/relationships/image" Target="../media/image64.jpe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11" Type="http://schemas.openxmlformats.org/officeDocument/2006/relationships/image" Target="../media/image58.jpeg"/><Relationship Id="rId5" Type="http://schemas.openxmlformats.org/officeDocument/2006/relationships/image" Target="../media/image52.png"/><Relationship Id="rId15" Type="http://schemas.openxmlformats.org/officeDocument/2006/relationships/image" Target="../media/image62.jpeg"/><Relationship Id="rId10" Type="http://schemas.openxmlformats.org/officeDocument/2006/relationships/image" Target="../media/image57.png"/><Relationship Id="rId4" Type="http://schemas.openxmlformats.org/officeDocument/2006/relationships/image" Target="../media/image5.jpeg"/><Relationship Id="rId9" Type="http://schemas.openxmlformats.org/officeDocument/2006/relationships/image" Target="../media/image56.png"/><Relationship Id="rId14" Type="http://schemas.openxmlformats.org/officeDocument/2006/relationships/image" Target="../media/image6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jpeg"/><Relationship Id="rId5" Type="http://schemas.openxmlformats.org/officeDocument/2006/relationships/image" Target="../media/image66.png"/><Relationship Id="rId4" Type="http://schemas.openxmlformats.org/officeDocument/2006/relationships/image" Target="../media/image5.jpeg"/><Relationship Id="rId9" Type="http://schemas.openxmlformats.org/officeDocument/2006/relationships/image" Target="../media/image7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1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jpe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5.jpeg"/><Relationship Id="rId9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mlang2@utk.edu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eg"/><Relationship Id="rId13" Type="http://schemas.openxmlformats.org/officeDocument/2006/relationships/image" Target="../media/image89.jpeg"/><Relationship Id="rId3" Type="http://schemas.openxmlformats.org/officeDocument/2006/relationships/image" Target="../media/image1.jpeg"/><Relationship Id="rId7" Type="http://schemas.openxmlformats.org/officeDocument/2006/relationships/image" Target="../media/image85.jpeg"/><Relationship Id="rId12" Type="http://schemas.openxmlformats.org/officeDocument/2006/relationships/image" Target="../media/image8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22.png"/><Relationship Id="rId5" Type="http://schemas.openxmlformats.org/officeDocument/2006/relationships/image" Target="../media/image83.png"/><Relationship Id="rId15" Type="http://schemas.openxmlformats.org/officeDocument/2006/relationships/image" Target="../media/image91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5.jpeg"/><Relationship Id="rId9" Type="http://schemas.openxmlformats.org/officeDocument/2006/relationships/image" Target="../media/image87.jpeg"/><Relationship Id="rId1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jpeg"/><Relationship Id="rId13" Type="http://schemas.openxmlformats.org/officeDocument/2006/relationships/image" Target="../media/image100.png"/><Relationship Id="rId3" Type="http://schemas.openxmlformats.org/officeDocument/2006/relationships/image" Target="../media/image1.jpeg"/><Relationship Id="rId7" Type="http://schemas.openxmlformats.org/officeDocument/2006/relationships/image" Target="../media/image94.gif"/><Relationship Id="rId12" Type="http://schemas.openxmlformats.org/officeDocument/2006/relationships/image" Target="../media/image99.jpeg"/><Relationship Id="rId17" Type="http://schemas.openxmlformats.org/officeDocument/2006/relationships/image" Target="../media/image104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jpe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5.jpeg"/><Relationship Id="rId9" Type="http://schemas.openxmlformats.org/officeDocument/2006/relationships/image" Target="../media/image96.jpeg"/><Relationship Id="rId1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.jpe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5.jpeg"/><Relationship Id="rId9" Type="http://schemas.openxmlformats.org/officeDocument/2006/relationships/image" Target="../media/image9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.jpeg"/><Relationship Id="rId7" Type="http://schemas.openxmlformats.org/officeDocument/2006/relationships/image" Target="../media/image1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5.jpeg"/><Relationship Id="rId9" Type="http://schemas.openxmlformats.org/officeDocument/2006/relationships/image" Target="../media/image1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4.png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mailto:mlang2@utk.edu" TargetMode="Externa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mlang2@utk.edu" TargetMode="Externa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jpeg"/><Relationship Id="rId13" Type="http://schemas.openxmlformats.org/officeDocument/2006/relationships/image" Target="../media/image135.png"/><Relationship Id="rId3" Type="http://schemas.openxmlformats.org/officeDocument/2006/relationships/image" Target="../media/image125.jpe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jpeg"/><Relationship Id="rId15" Type="http://schemas.openxmlformats.org/officeDocument/2006/relationships/image" Target="../media/image137.png"/><Relationship Id="rId10" Type="http://schemas.openxmlformats.org/officeDocument/2006/relationships/image" Target="../media/image132.jpeg"/><Relationship Id="rId4" Type="http://schemas.openxmlformats.org/officeDocument/2006/relationships/image" Target="../media/image126.png"/><Relationship Id="rId9" Type="http://schemas.openxmlformats.org/officeDocument/2006/relationships/image" Target="../media/image131.jpeg"/><Relationship Id="rId14" Type="http://schemas.openxmlformats.org/officeDocument/2006/relationships/image" Target="../media/image13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jpeg"/><Relationship Id="rId3" Type="http://schemas.openxmlformats.org/officeDocument/2006/relationships/image" Target="../media/image125.jpeg"/><Relationship Id="rId7" Type="http://schemas.openxmlformats.org/officeDocument/2006/relationships/image" Target="../media/image129.png"/><Relationship Id="rId12" Type="http://schemas.openxmlformats.org/officeDocument/2006/relationships/image" Target="../media/image13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38.png"/><Relationship Id="rId5" Type="http://schemas.openxmlformats.org/officeDocument/2006/relationships/image" Target="../media/image127.jpeg"/><Relationship Id="rId10" Type="http://schemas.openxmlformats.org/officeDocument/2006/relationships/image" Target="../media/image132.jpeg"/><Relationship Id="rId4" Type="http://schemas.openxmlformats.org/officeDocument/2006/relationships/image" Target="../media/image126.png"/><Relationship Id="rId9" Type="http://schemas.openxmlformats.org/officeDocument/2006/relationships/image" Target="../media/image131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jpe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125.jpeg"/><Relationship Id="rId7" Type="http://schemas.openxmlformats.org/officeDocument/2006/relationships/image" Target="../media/image129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40.png"/><Relationship Id="rId5" Type="http://schemas.openxmlformats.org/officeDocument/2006/relationships/image" Target="../media/image127.jpeg"/><Relationship Id="rId15" Type="http://schemas.openxmlformats.org/officeDocument/2006/relationships/image" Target="../media/image144.png"/><Relationship Id="rId10" Type="http://schemas.openxmlformats.org/officeDocument/2006/relationships/image" Target="../media/image132.jpeg"/><Relationship Id="rId4" Type="http://schemas.openxmlformats.org/officeDocument/2006/relationships/image" Target="../media/image126.png"/><Relationship Id="rId9" Type="http://schemas.openxmlformats.org/officeDocument/2006/relationships/image" Target="../media/image131.jpeg"/><Relationship Id="rId14" Type="http://schemas.openxmlformats.org/officeDocument/2006/relationships/image" Target="../media/image1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mailto:mlang2@utk.edu" TargetMode="Externa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1.jpe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10" Type="http://schemas.openxmlformats.org/officeDocument/2006/relationships/image" Target="../media/image152.png"/><Relationship Id="rId4" Type="http://schemas.openxmlformats.org/officeDocument/2006/relationships/image" Target="../media/image5.jpeg"/><Relationship Id="rId9" Type="http://schemas.openxmlformats.org/officeDocument/2006/relationships/image" Target="../media/image15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5" Type="http://schemas.openxmlformats.org/officeDocument/2006/relationships/image" Target="../media/image153.gif"/><Relationship Id="rId4" Type="http://schemas.openxmlformats.org/officeDocument/2006/relationships/image" Target="../media/image5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.jpe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10" Type="http://schemas.openxmlformats.org/officeDocument/2006/relationships/image" Target="../media/image160.jpeg"/><Relationship Id="rId4" Type="http://schemas.openxmlformats.org/officeDocument/2006/relationships/image" Target="../media/image5.jpeg"/><Relationship Id="rId9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.jpeg"/><Relationship Id="rId7" Type="http://schemas.openxmlformats.org/officeDocument/2006/relationships/image" Target="../media/image163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jpeg"/><Relationship Id="rId5" Type="http://schemas.openxmlformats.org/officeDocument/2006/relationships/image" Target="../media/image9.emf"/><Relationship Id="rId10" Type="http://schemas.openxmlformats.org/officeDocument/2006/relationships/image" Target="../media/image165.png"/><Relationship Id="rId4" Type="http://schemas.openxmlformats.org/officeDocument/2006/relationships/image" Target="../media/image161.jpeg"/><Relationship Id="rId9" Type="http://schemas.openxmlformats.org/officeDocument/2006/relationships/image" Target="../media/image10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hyperlink" Target="mailto:lowell.miyagi@utah.edu" TargetMode="External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image" Target="../media/image173.jpeg"/><Relationship Id="rId18" Type="http://schemas.openxmlformats.org/officeDocument/2006/relationships/image" Target="../media/image178.jpeg"/><Relationship Id="rId3" Type="http://schemas.openxmlformats.org/officeDocument/2006/relationships/image" Target="../media/image1.jpeg"/><Relationship Id="rId7" Type="http://schemas.openxmlformats.org/officeDocument/2006/relationships/image" Target="../media/image169.png"/><Relationship Id="rId12" Type="http://schemas.openxmlformats.org/officeDocument/2006/relationships/image" Target="../media/image172.png"/><Relationship Id="rId17" Type="http://schemas.openxmlformats.org/officeDocument/2006/relationships/image" Target="../media/image177.jpe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7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66.png"/><Relationship Id="rId5" Type="http://schemas.openxmlformats.org/officeDocument/2006/relationships/image" Target="../media/image167.png"/><Relationship Id="rId15" Type="http://schemas.openxmlformats.org/officeDocument/2006/relationships/image" Target="../media/image175.jpeg"/><Relationship Id="rId10" Type="http://schemas.openxmlformats.org/officeDocument/2006/relationships/image" Target="../media/image171.jpeg"/><Relationship Id="rId19" Type="http://schemas.openxmlformats.org/officeDocument/2006/relationships/image" Target="../media/image179.jpeg"/><Relationship Id="rId4" Type="http://schemas.openxmlformats.org/officeDocument/2006/relationships/image" Target="../media/image5.jpeg"/><Relationship Id="rId9" Type="http://schemas.openxmlformats.org/officeDocument/2006/relationships/image" Target="../media/image170.jpeg"/><Relationship Id="rId14" Type="http://schemas.openxmlformats.org/officeDocument/2006/relationships/image" Target="../media/image17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61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3" Type="http://schemas.openxmlformats.org/officeDocument/2006/relationships/image" Target="../media/image1.jpe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jpeg"/><Relationship Id="rId15" Type="http://schemas.openxmlformats.org/officeDocument/2006/relationships/image" Target="../media/image193.jpeg"/><Relationship Id="rId10" Type="http://schemas.openxmlformats.org/officeDocument/2006/relationships/image" Target="../media/image188.png"/><Relationship Id="rId4" Type="http://schemas.openxmlformats.org/officeDocument/2006/relationships/image" Target="../media/image5.jpeg"/><Relationship Id="rId9" Type="http://schemas.openxmlformats.org/officeDocument/2006/relationships/image" Target="../media/image187.png"/><Relationship Id="rId14" Type="http://schemas.openxmlformats.org/officeDocument/2006/relationships/image" Target="../media/image192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.jpeg"/><Relationship Id="rId7" Type="http://schemas.openxmlformats.org/officeDocument/2006/relationships/image" Target="../media/image196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emf"/><Relationship Id="rId11" Type="http://schemas.openxmlformats.org/officeDocument/2006/relationships/image" Target="../media/image166.png"/><Relationship Id="rId5" Type="http://schemas.openxmlformats.org/officeDocument/2006/relationships/image" Target="../media/image194.emf"/><Relationship Id="rId10" Type="http://schemas.openxmlformats.org/officeDocument/2006/relationships/image" Target="../media/image199.png"/><Relationship Id="rId4" Type="http://schemas.openxmlformats.org/officeDocument/2006/relationships/image" Target="../media/image5.jpeg"/><Relationship Id="rId9" Type="http://schemas.openxmlformats.org/officeDocument/2006/relationships/image" Target="../media/image19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166.png"/><Relationship Id="rId3" Type="http://schemas.openxmlformats.org/officeDocument/2006/relationships/image" Target="../media/image1.jpeg"/><Relationship Id="rId7" Type="http://schemas.openxmlformats.org/officeDocument/2006/relationships/image" Target="../media/image201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167.png"/><Relationship Id="rId5" Type="http://schemas.openxmlformats.org/officeDocument/2006/relationships/image" Target="../media/image200.png"/><Relationship Id="rId10" Type="http://schemas.openxmlformats.org/officeDocument/2006/relationships/image" Target="../media/image204.png"/><Relationship Id="rId4" Type="http://schemas.openxmlformats.org/officeDocument/2006/relationships/image" Target="../media/image5.jpeg"/><Relationship Id="rId9" Type="http://schemas.openxmlformats.org/officeDocument/2006/relationships/image" Target="../media/image20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1.jpe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tiff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0" Type="http://schemas.openxmlformats.org/officeDocument/2006/relationships/image" Target="../media/image210.png"/><Relationship Id="rId4" Type="http://schemas.openxmlformats.org/officeDocument/2006/relationships/image" Target="../media/image5.jpeg"/><Relationship Id="rId9" Type="http://schemas.openxmlformats.org/officeDocument/2006/relationships/image" Target="../media/image2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3.png"/><Relationship Id="rId4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jpeg"/><Relationship Id="rId3" Type="http://schemas.openxmlformats.org/officeDocument/2006/relationships/image" Target="../media/image1.jpeg"/><Relationship Id="rId7" Type="http://schemas.openxmlformats.org/officeDocument/2006/relationships/image" Target="../media/image21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jpeg"/><Relationship Id="rId5" Type="http://schemas.openxmlformats.org/officeDocument/2006/relationships/image" Target="../media/image214.png"/><Relationship Id="rId10" Type="http://schemas.openxmlformats.org/officeDocument/2006/relationships/image" Target="../media/image219.jpeg"/><Relationship Id="rId4" Type="http://schemas.openxmlformats.org/officeDocument/2006/relationships/image" Target="../media/image161.jpeg"/><Relationship Id="rId9" Type="http://schemas.openxmlformats.org/officeDocument/2006/relationships/image" Target="../media/image218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3" Type="http://schemas.openxmlformats.org/officeDocument/2006/relationships/image" Target="../media/image1.jpeg"/><Relationship Id="rId7" Type="http://schemas.openxmlformats.org/officeDocument/2006/relationships/image" Target="../media/image221.jpeg"/><Relationship Id="rId12" Type="http://schemas.openxmlformats.org/officeDocument/2006/relationships/image" Target="../media/image226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jpeg"/><Relationship Id="rId11" Type="http://schemas.openxmlformats.org/officeDocument/2006/relationships/image" Target="../media/image225.png"/><Relationship Id="rId5" Type="http://schemas.openxmlformats.org/officeDocument/2006/relationships/image" Target="../media/image214.png"/><Relationship Id="rId10" Type="http://schemas.openxmlformats.org/officeDocument/2006/relationships/image" Target="../media/image224.png"/><Relationship Id="rId4" Type="http://schemas.openxmlformats.org/officeDocument/2006/relationships/image" Target="../media/image161.jpeg"/><Relationship Id="rId9" Type="http://schemas.openxmlformats.org/officeDocument/2006/relationships/image" Target="../media/image223.jpeg"/><Relationship Id="rId14" Type="http://schemas.openxmlformats.org/officeDocument/2006/relationships/image" Target="../media/image22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mlang2@utk.edu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mailto:Ertekin@illinois.edu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jpeg"/><Relationship Id="rId13" Type="http://schemas.openxmlformats.org/officeDocument/2006/relationships/image" Target="../media/image31.png"/><Relationship Id="rId18" Type="http://schemas.openxmlformats.org/officeDocument/2006/relationships/image" Target="../media/image238.png"/><Relationship Id="rId3" Type="http://schemas.openxmlformats.org/officeDocument/2006/relationships/image" Target="../media/image1.jpeg"/><Relationship Id="rId21" Type="http://schemas.openxmlformats.org/officeDocument/2006/relationships/image" Target="../media/image241.png"/><Relationship Id="rId7" Type="http://schemas.openxmlformats.org/officeDocument/2006/relationships/image" Target="../media/image231.jpeg"/><Relationship Id="rId12" Type="http://schemas.openxmlformats.org/officeDocument/2006/relationships/image" Target="../media/image44.png"/><Relationship Id="rId17" Type="http://schemas.openxmlformats.org/officeDocument/2006/relationships/image" Target="../media/image237.jpe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9.emf"/><Relationship Id="rId20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wmf"/><Relationship Id="rId11" Type="http://schemas.openxmlformats.org/officeDocument/2006/relationships/image" Target="../media/image235.jpeg"/><Relationship Id="rId5" Type="http://schemas.openxmlformats.org/officeDocument/2006/relationships/image" Target="../media/image229.png"/><Relationship Id="rId15" Type="http://schemas.openxmlformats.org/officeDocument/2006/relationships/image" Target="../media/image236.jpeg"/><Relationship Id="rId10" Type="http://schemas.openxmlformats.org/officeDocument/2006/relationships/image" Target="../media/image234.jpeg"/><Relationship Id="rId19" Type="http://schemas.openxmlformats.org/officeDocument/2006/relationships/image" Target="../media/image239.png"/><Relationship Id="rId4" Type="http://schemas.openxmlformats.org/officeDocument/2006/relationships/image" Target="../media/image5.jpeg"/><Relationship Id="rId9" Type="http://schemas.openxmlformats.org/officeDocument/2006/relationships/image" Target="../media/image233.jpeg"/><Relationship Id="rId1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emf"/><Relationship Id="rId3" Type="http://schemas.openxmlformats.org/officeDocument/2006/relationships/image" Target="../media/image1.jpeg"/><Relationship Id="rId7" Type="http://schemas.openxmlformats.org/officeDocument/2006/relationships/image" Target="../media/image24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3.jpeg"/><Relationship Id="rId5" Type="http://schemas.openxmlformats.org/officeDocument/2006/relationships/image" Target="../media/image242.png"/><Relationship Id="rId4" Type="http://schemas.openxmlformats.org/officeDocument/2006/relationships/image" Target="../media/image5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60.png"/><Relationship Id="rId3" Type="http://schemas.openxmlformats.org/officeDocument/2006/relationships/image" Target="../media/image1.jpeg"/><Relationship Id="rId7" Type="http://schemas.openxmlformats.org/officeDocument/2006/relationships/image" Target="../media/image248.png"/><Relationship Id="rId12" Type="http://schemas.openxmlformats.org/officeDocument/2006/relationships/image" Target="../media/image25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jpeg"/><Relationship Id="rId11" Type="http://schemas.openxmlformats.org/officeDocument/2006/relationships/image" Target="../media/image250.emf"/><Relationship Id="rId5" Type="http://schemas.openxmlformats.org/officeDocument/2006/relationships/image" Target="../media/image246.png"/><Relationship Id="rId10" Type="http://schemas.openxmlformats.org/officeDocument/2006/relationships/image" Target="../media/image103.png"/><Relationship Id="rId4" Type="http://schemas.openxmlformats.org/officeDocument/2006/relationships/image" Target="../media/image5.jpeg"/><Relationship Id="rId9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emf"/><Relationship Id="rId5" Type="http://schemas.openxmlformats.org/officeDocument/2006/relationships/image" Target="../media/image252.emf"/><Relationship Id="rId4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254.png"/><Relationship Id="rId4" Type="http://schemas.openxmlformats.org/officeDocument/2006/relationships/image" Target="../media/image5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E7F09814-AB31-4664-AC14-22FCE824D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420901"/>
            <a:ext cx="10553700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Thrust 3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Multiple Extremes: General Introduction 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Maik Lang, University of Tennessee, 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mlang2@utk.edu</a:t>
            </a:r>
            <a:endParaRPr lang="en-US" sz="25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Elif Ertekin, University of Illinois Urbana-Champaign, 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ertekin@illinois.edu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  </a:t>
            </a:r>
            <a:endParaRPr lang="en-US" sz="33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93B8A25D-EB10-FA42-9F0A-471F611B5B2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8BA7EA-EBF3-401A-9239-0520D8816A7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2156" y="4676662"/>
            <a:ext cx="1287636" cy="862262"/>
          </a:xfrm>
          <a:prstGeom prst="rect">
            <a:avLst/>
          </a:prstGeom>
        </p:spPr>
      </p:pic>
      <p:pic>
        <p:nvPicPr>
          <p:cNvPr id="1026" name="Picture 2" descr="2024 BEIC Fellows">
            <a:extLst>
              <a:ext uri="{FF2B5EF4-FFF2-40B4-BE49-F238E27FC236}">
                <a16:creationId xmlns:a16="http://schemas.microsoft.com/office/drawing/2014/main" id="{F4D9DF69-917D-D9B8-10D8-155637764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9895" y="4852456"/>
            <a:ext cx="1986133" cy="81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itle 2"/>
          <p:cNvSpPr txBox="1"/>
          <p:nvPr/>
        </p:nvSpPr>
        <p:spPr>
          <a:xfrm>
            <a:off x="404066" y="138023"/>
            <a:ext cx="1141476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661303"/>
                </a:solidFill>
              </a:defRPr>
            </a:pPr>
            <a:r>
              <a:rPr lang="en-US" sz="4200" i="1" kern="0" dirty="0">
                <a:solidFill>
                  <a:srgbClr val="66130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Thrust 3: Multiple Extremes – Outline</a:t>
            </a:r>
            <a:endParaRPr kumimoji="0" sz="4200" b="0" i="1" u="none" strike="noStrike" kern="0" cap="none" spc="0" normalizeH="0" baseline="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03" name="Straight Connector 36"/>
          <p:cNvSpPr/>
          <p:nvPr/>
        </p:nvSpPr>
        <p:spPr>
          <a:xfrm>
            <a:off x="28074" y="1005714"/>
            <a:ext cx="12190415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Times New Roman"/>
            </a:endParaRPr>
          </a:p>
        </p:txBody>
      </p:sp>
      <p:pic>
        <p:nvPicPr>
          <p:cNvPr id="2" name="Picture 29" descr="Picture 29">
            <a:extLst>
              <a:ext uri="{FF2B5EF4-FFF2-40B4-BE49-F238E27FC236}">
                <a16:creationId xmlns:a16="http://schemas.microsoft.com/office/drawing/2014/main" id="{1D29BAE7-0AE1-9DC6-0986-DE6E80DC851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2355" y="6303203"/>
            <a:ext cx="1541197" cy="474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Picture 32" descr="Picture 32">
            <a:extLst>
              <a:ext uri="{FF2B5EF4-FFF2-40B4-BE49-F238E27FC236}">
                <a16:creationId xmlns:a16="http://schemas.microsoft.com/office/drawing/2014/main" id="{62F5F639-18DE-90BA-FD24-CDECB1C1A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26" y="6384560"/>
            <a:ext cx="1752600" cy="3955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C8CAE7-E2A7-28DB-4A96-B0866238BB32}"/>
              </a:ext>
            </a:extLst>
          </p:cNvPr>
          <p:cNvSpPr txBox="1"/>
          <p:nvPr/>
        </p:nvSpPr>
        <p:spPr>
          <a:xfrm>
            <a:off x="255735" y="1143995"/>
            <a:ext cx="11783891" cy="4993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indent="-5143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Maik Lang/Elif Ertekin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General Introduction of Coupled Extremes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John Hirtz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Radiation Experiments and Defect Characterization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FontTx/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Grady Clopton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Modeling of Ion Track Formation in CeO</a:t>
            </a:r>
            <a:r>
              <a:rPr lang="en-US" sz="2300" i="1" baseline="-25000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2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 with MD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FontTx/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Amir Movaffagh </a:t>
            </a:r>
            <a:r>
              <a:rPr lang="en-US" sz="2300" dirty="0"/>
              <a:t> –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 Ab initio Modeling of Uranium Carbides and Nitrides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FontTx/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Sara Kadkhodaei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DEF Approach for Defect Phase Diagrams for SHI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FontTx/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Lowell Miyagi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Impact of Defect Structure on Material Behavior at Extremes 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FontTx/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Steve Jacobsen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Influence of Defect Structure on Elastic Response</a:t>
            </a:r>
          </a:p>
          <a:p>
            <a:pPr marL="514350" indent="-514350">
              <a:lnSpc>
                <a:spcPct val="150000"/>
              </a:lnSpc>
              <a:spcAft>
                <a:spcPts val="800"/>
              </a:spcAft>
              <a:buFontTx/>
              <a:buAutoNum type="arabicPeriod"/>
            </a:pPr>
            <a:r>
              <a:rPr lang="en-US" sz="2300" dirty="0">
                <a:latin typeface="Century Schoolbook" panose="02040604050505020304" pitchFamily="18" charset="0"/>
              </a:rPr>
              <a:t>Maik Lang/Elif Ertekin </a:t>
            </a:r>
            <a:r>
              <a:rPr lang="en-US" sz="2300" dirty="0"/>
              <a:t> –</a:t>
            </a:r>
            <a:r>
              <a:rPr lang="en-US" sz="2300" dirty="0">
                <a:latin typeface="Century Schoolbook" panose="02040604050505020304" pitchFamily="18" charset="0"/>
              </a:rPr>
              <a:t>  </a:t>
            </a:r>
            <a:r>
              <a:rPr lang="en-US" sz="23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Facilities, Technique Development and Next Steps</a:t>
            </a:r>
            <a:endParaRPr lang="en-US" sz="23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0D3C57-FA5E-1CFE-5AE6-FEE3C8E3BAFF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44323-232C-76EE-9E4C-B0AAA4D977C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111" y="1253182"/>
            <a:ext cx="648833" cy="434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6B57E-5820-FCC5-8F04-C463439DD46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2609" y="1840071"/>
            <a:ext cx="648833" cy="4344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A9D30B-B199-0B10-BD36-C02BBE0E607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252" y="6106090"/>
            <a:ext cx="648833" cy="434489"/>
          </a:xfrm>
          <a:prstGeom prst="rect">
            <a:avLst/>
          </a:prstGeom>
        </p:spPr>
      </p:pic>
      <p:pic>
        <p:nvPicPr>
          <p:cNvPr id="9" name="Picture 2" descr="2024 BEIC Fellows">
            <a:extLst>
              <a:ext uri="{FF2B5EF4-FFF2-40B4-BE49-F238E27FC236}">
                <a16:creationId xmlns:a16="http://schemas.microsoft.com/office/drawing/2014/main" id="{AF73E275-68D7-B811-EF24-4489FD2F2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90944" y="1225317"/>
            <a:ext cx="872657" cy="35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2024 BEIC Fellows">
            <a:extLst>
              <a:ext uri="{FF2B5EF4-FFF2-40B4-BE49-F238E27FC236}">
                <a16:creationId xmlns:a16="http://schemas.microsoft.com/office/drawing/2014/main" id="{3CE04DE0-A6A0-31DC-465B-33000F571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2620" y="6108597"/>
            <a:ext cx="872657" cy="35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red letter with black text&#10;&#10;Description automatically generated">
            <a:extLst>
              <a:ext uri="{FF2B5EF4-FFF2-40B4-BE49-F238E27FC236}">
                <a16:creationId xmlns:a16="http://schemas.microsoft.com/office/drawing/2014/main" id="{D53F6FBA-66FD-2A80-0C24-1A53AC95884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0830" y="4266575"/>
            <a:ext cx="555994" cy="662775"/>
          </a:xfrm>
          <a:prstGeom prst="rect">
            <a:avLst/>
          </a:prstGeom>
        </p:spPr>
      </p:pic>
      <p:pic>
        <p:nvPicPr>
          <p:cNvPr id="13" name="Picture 4" descr="Logos | Brand guidelines | University of Illinois Chicago">
            <a:extLst>
              <a:ext uri="{FF2B5EF4-FFF2-40B4-BE49-F238E27FC236}">
                <a16:creationId xmlns:a16="http://schemas.microsoft.com/office/drawing/2014/main" id="{47AE2853-278F-ABDC-F9D2-072531F7D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73128" y="2825245"/>
            <a:ext cx="835631" cy="105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Logos | Brand guidelines | University of Illinois Chicago">
            <a:extLst>
              <a:ext uri="{FF2B5EF4-FFF2-40B4-BE49-F238E27FC236}">
                <a16:creationId xmlns:a16="http://schemas.microsoft.com/office/drawing/2014/main" id="{FB4D1D10-CA2E-63E3-3577-46D8B5D72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342111" y="3477893"/>
            <a:ext cx="835631" cy="105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2024 BEIC Fellows">
            <a:extLst>
              <a:ext uri="{FF2B5EF4-FFF2-40B4-BE49-F238E27FC236}">
                <a16:creationId xmlns:a16="http://schemas.microsoft.com/office/drawing/2014/main" id="{F56A87C5-5374-8992-352B-9E4570DC1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378" y="2502885"/>
            <a:ext cx="1055095" cy="43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424D57-9083-C80D-C0BF-25875B45FB0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93627" y="4904607"/>
            <a:ext cx="835630" cy="61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9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6483A1C-9ECA-4426-988E-9A835352C2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36" t="74294" r="49654"/>
          <a:stretch/>
        </p:blipFill>
        <p:spPr>
          <a:xfrm>
            <a:off x="8785066" y="2721079"/>
            <a:ext cx="1092650" cy="1276905"/>
          </a:xfrm>
          <a:prstGeom prst="rect">
            <a:avLst/>
          </a:prstGeom>
        </p:spPr>
      </p:pic>
      <p:pic>
        <p:nvPicPr>
          <p:cNvPr id="9" name="Picture 8" descr="NNSA1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41136A7C-0E42-C84D-85CE-EC395521914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BA65B5-D578-4921-A620-77D78847866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BCA68484-ADF9-4D5B-A135-3A9614590746}"/>
              </a:ext>
            </a:extLst>
          </p:cNvPr>
          <p:cNvSpPr txBox="1">
            <a:spLocks/>
          </p:cNvSpPr>
          <p:nvPr/>
        </p:nvSpPr>
        <p:spPr>
          <a:xfrm>
            <a:off x="0" y="136524"/>
            <a:ext cx="1219200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Thrust 3: Multiple Extremes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89945-B15D-47E2-BF89-D4748A4480E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30" t="1872" b="1179"/>
          <a:stretch>
            <a:fillRect/>
          </a:stretch>
        </p:blipFill>
        <p:spPr>
          <a:xfrm>
            <a:off x="185195" y="1232703"/>
            <a:ext cx="6288027" cy="47803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886063-E1AE-4DBF-984C-155E1D927CBB}"/>
              </a:ext>
            </a:extLst>
          </p:cNvPr>
          <p:cNvSpPr/>
          <p:nvPr/>
        </p:nvSpPr>
        <p:spPr>
          <a:xfrm>
            <a:off x="6859021" y="1054001"/>
            <a:ext cx="49888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Goal: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To advance our knowledge of the behavior of materials exposed to multiple extreme environments, including intense particle and electromagnetic fields, to enhance material performance and to create new materials.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9A359-63B7-4C30-B693-291C2190A264}"/>
              </a:ext>
            </a:extLst>
          </p:cNvPr>
          <p:cNvSpPr/>
          <p:nvPr/>
        </p:nvSpPr>
        <p:spPr>
          <a:xfrm>
            <a:off x="6524999" y="5373766"/>
            <a:ext cx="485469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–  </a:t>
            </a:r>
            <a:r>
              <a:rPr lang="en-US" sz="1500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 irradiation 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 </a:t>
            </a:r>
            <a:r>
              <a:rPr lang="en-US" sz="15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fragmentation</a:t>
            </a:r>
          </a:p>
          <a:p>
            <a:r>
              <a:rPr 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High-pressure and physical properties</a:t>
            </a:r>
          </a:p>
          <a:p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X-ray irradiation and general characterization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C9D40-B6B0-41FC-A32A-EA054EC60D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6282" b="75185"/>
          <a:stretch/>
        </p:blipFill>
        <p:spPr>
          <a:xfrm>
            <a:off x="6723942" y="2713621"/>
            <a:ext cx="992578" cy="12326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1FEC115-F523-4A53-A656-0083981125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511" t="49693" b="25331"/>
          <a:stretch/>
        </p:blipFill>
        <p:spPr>
          <a:xfrm>
            <a:off x="10913819" y="3998821"/>
            <a:ext cx="1108520" cy="12406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9BB281-EE3E-4761-BBCF-1AFF46631D9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186" r="76384" b="50000"/>
          <a:stretch/>
        </p:blipFill>
        <p:spPr>
          <a:xfrm>
            <a:off x="7768178" y="2713632"/>
            <a:ext cx="988291" cy="12326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105A09-CCB2-4190-9660-E9230655179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204" t="24294" b="50000"/>
          <a:stretch/>
        </p:blipFill>
        <p:spPr>
          <a:xfrm>
            <a:off x="9886205" y="2691490"/>
            <a:ext cx="2083880" cy="12769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4469AE4-163E-499C-A4F7-BAECBE7185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203" t="74294" r="26175"/>
          <a:stretch/>
        </p:blipFill>
        <p:spPr>
          <a:xfrm>
            <a:off x="8854876" y="4000145"/>
            <a:ext cx="988545" cy="12769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5E6BE1F-4900-473E-A6B4-B2E8E27E4D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364" b="75186"/>
          <a:stretch/>
        </p:blipFill>
        <p:spPr>
          <a:xfrm>
            <a:off x="9808804" y="4036105"/>
            <a:ext cx="1114694" cy="12326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2634DB4-30E2-47CF-B9BF-2F42977899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38" t="1606" r="51245" b="74773"/>
          <a:stretch/>
        </p:blipFill>
        <p:spPr>
          <a:xfrm>
            <a:off x="7755144" y="4035136"/>
            <a:ext cx="1099732" cy="121792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02EFC99-23C4-4EEF-AC70-D776910652ED}"/>
              </a:ext>
            </a:extLst>
          </p:cNvPr>
          <p:cNvSpPr/>
          <p:nvPr/>
        </p:nvSpPr>
        <p:spPr>
          <a:xfrm>
            <a:off x="7775282" y="4004467"/>
            <a:ext cx="4214039" cy="12642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574667-2106-4AAF-9C32-2CC1593F08D6}"/>
              </a:ext>
            </a:extLst>
          </p:cNvPr>
          <p:cNvSpPr/>
          <p:nvPr/>
        </p:nvSpPr>
        <p:spPr>
          <a:xfrm>
            <a:off x="9893309" y="2707222"/>
            <a:ext cx="2096012" cy="12629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B927FF-125C-4438-BD94-E12BB2B46605}"/>
              </a:ext>
            </a:extLst>
          </p:cNvPr>
          <p:cNvSpPr/>
          <p:nvPr/>
        </p:nvSpPr>
        <p:spPr>
          <a:xfrm>
            <a:off x="7775283" y="2707222"/>
            <a:ext cx="981012" cy="12629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2E31D3-A76D-43BF-98CB-CEE792BE0EBC}"/>
              </a:ext>
            </a:extLst>
          </p:cNvPr>
          <p:cNvSpPr/>
          <p:nvPr/>
        </p:nvSpPr>
        <p:spPr>
          <a:xfrm>
            <a:off x="8789842" y="2706965"/>
            <a:ext cx="1067591" cy="1261429"/>
          </a:xfrm>
          <a:prstGeom prst="rect">
            <a:avLst/>
          </a:prstGeom>
          <a:noFill/>
          <a:ln w="38100"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8F3BA0B-CFD1-4437-9B5E-0530D035672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363" t="74294" r="1"/>
          <a:stretch/>
        </p:blipFill>
        <p:spPr>
          <a:xfrm>
            <a:off x="6639184" y="4000145"/>
            <a:ext cx="1114695" cy="12769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E38A949-1745-4D46-BC12-44BBB56E06DB}"/>
              </a:ext>
            </a:extLst>
          </p:cNvPr>
          <p:cNvSpPr/>
          <p:nvPr/>
        </p:nvSpPr>
        <p:spPr>
          <a:xfrm>
            <a:off x="6639185" y="2705319"/>
            <a:ext cx="1092664" cy="25634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D3E000-20D6-455A-BBC4-F897D2EB7948}"/>
              </a:ext>
            </a:extLst>
          </p:cNvPr>
          <p:cNvSpPr/>
          <p:nvPr/>
        </p:nvSpPr>
        <p:spPr>
          <a:xfrm>
            <a:off x="2225786" y="3698111"/>
            <a:ext cx="2119070" cy="194554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C0B663DC-AE2A-4527-96EA-EDE663D8C553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918DE58-0E4D-8881-BD1F-83D0DCC001CE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</p:spTree>
    <p:extLst>
      <p:ext uri="{BB962C8B-B14F-4D97-AF65-F5344CB8AC3E}">
        <p14:creationId xmlns:p14="http://schemas.microsoft.com/office/powerpoint/2010/main" val="100917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5898-9289-A365-5185-CA36BF9D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E89B74B4-CCD3-E590-63D9-2A4AD1870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983BCF-C974-8DF3-4D81-4D10F17F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061BF40A-4224-8C8F-8727-2A760F8FBA0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D299F9-ECDC-1A41-2E79-177E043B29F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482CD8C9-ABA8-DC3E-DB6A-9459C54E8D82}"/>
              </a:ext>
            </a:extLst>
          </p:cNvPr>
          <p:cNvSpPr txBox="1">
            <a:spLocks/>
          </p:cNvSpPr>
          <p:nvPr/>
        </p:nvSpPr>
        <p:spPr>
          <a:xfrm>
            <a:off x="0" y="136524"/>
            <a:ext cx="12190387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DAC Experiments: Pressure Extremes 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68E8A42-066B-6C51-6D31-450ED938455C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5" name="Isosceles Triangle 52"/>
          <p:cNvSpPr>
            <a:spLocks noChangeArrowheads="1"/>
          </p:cNvSpPr>
          <p:nvPr/>
        </p:nvSpPr>
        <p:spPr bwMode="auto">
          <a:xfrm flipV="1">
            <a:off x="-3" y="818472"/>
            <a:ext cx="12124484" cy="3507035"/>
          </a:xfrm>
          <a:prstGeom prst="triangle">
            <a:avLst>
              <a:gd name="adj" fmla="val 51640"/>
            </a:avLst>
          </a:prstGeom>
          <a:solidFill>
            <a:srgbClr val="008000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56" name="Straight Connector 62"/>
          <p:cNvCxnSpPr>
            <a:cxnSpLocks noChangeShapeType="1"/>
            <a:stCxn id="55" idx="2"/>
          </p:cNvCxnSpPr>
          <p:nvPr/>
        </p:nvCxnSpPr>
        <p:spPr bwMode="auto">
          <a:xfrm>
            <a:off x="-3" y="818472"/>
            <a:ext cx="5515781" cy="3096188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Connector 64"/>
          <p:cNvCxnSpPr>
            <a:cxnSpLocks noChangeShapeType="1"/>
          </p:cNvCxnSpPr>
          <p:nvPr/>
        </p:nvCxnSpPr>
        <p:spPr bwMode="auto">
          <a:xfrm flipV="1">
            <a:off x="6779046" y="786723"/>
            <a:ext cx="5411341" cy="3208728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Rectangle 58"/>
          <p:cNvSpPr>
            <a:spLocks noChangeArrowheads="1"/>
          </p:cNvSpPr>
          <p:nvPr/>
        </p:nvSpPr>
        <p:spPr bwMode="auto">
          <a:xfrm>
            <a:off x="5586576" y="2766804"/>
            <a:ext cx="1223963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59" name="Group 58"/>
          <p:cNvGrpSpPr/>
          <p:nvPr/>
        </p:nvGrpSpPr>
        <p:grpSpPr>
          <a:xfrm>
            <a:off x="4554251" y="2768754"/>
            <a:ext cx="3102277" cy="2874185"/>
            <a:chOff x="8224957" y="3127743"/>
            <a:chExt cx="3102277" cy="2874185"/>
          </a:xfrm>
        </p:grpSpPr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9259784" y="3127743"/>
              <a:ext cx="1223963" cy="36036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5" cstate="screen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24957" y="3258728"/>
              <a:ext cx="3102277" cy="2743200"/>
            </a:xfrm>
            <a:prstGeom prst="rect">
              <a:avLst/>
            </a:prstGeom>
          </p:spPr>
        </p:pic>
      </p:grpSp>
      <p:sp>
        <p:nvSpPr>
          <p:cNvPr id="65" name="Rectangle 64"/>
          <p:cNvSpPr/>
          <p:nvPr/>
        </p:nvSpPr>
        <p:spPr bwMode="auto">
          <a:xfrm>
            <a:off x="1099373" y="3485826"/>
            <a:ext cx="2733597" cy="723275"/>
          </a:xfrm>
          <a:prstGeom prst="rect">
            <a:avLst/>
          </a:prstGeom>
          <a:solidFill>
            <a:srgbClr val="008000">
              <a:alpha val="14902"/>
            </a:srgbClr>
          </a:solidFill>
          <a:ln w="127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" name="Picture 3" descr="C:\Users\Cameron\Desktop\Box Sync\Research\Applications\2016\berkeley nuclear\interview materials\HEA structure.png"/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333" y="4601822"/>
            <a:ext cx="2844926" cy="15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1326" y="3171921"/>
            <a:ext cx="3441871" cy="2907889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1089325" y="3485826"/>
            <a:ext cx="2733597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pressure synthesis of</a:t>
            </a:r>
          </a:p>
          <a:p>
            <a:pPr algn="ctr"/>
            <a:endParaRPr lang="en-US" sz="7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hcp </a:t>
            </a:r>
            <a:r>
              <a:rPr lang="en-US" sz="1700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CrMnFeCoNi</a:t>
            </a:r>
            <a:r>
              <a:rPr lang="en-US" sz="17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838" y="2874415"/>
            <a:ext cx="208128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DAC experiments</a:t>
            </a:r>
            <a:endParaRPr lang="en-US" sz="15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15" descr="dac.pn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774257" y="1875884"/>
            <a:ext cx="745146" cy="104971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71"/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3017" y="970607"/>
            <a:ext cx="2314477" cy="1574656"/>
          </a:xfrm>
          <a:prstGeom prst="rect">
            <a:avLst/>
          </a:prstGeom>
        </p:spPr>
      </p:pic>
      <p:sp>
        <p:nvSpPr>
          <p:cNvPr id="73" name="Text Box 14"/>
          <p:cNvSpPr txBox="1">
            <a:spLocks noChangeArrowheads="1"/>
          </p:cNvSpPr>
          <p:nvPr/>
        </p:nvSpPr>
        <p:spPr bwMode="auto">
          <a:xfrm>
            <a:off x="7028986" y="1386892"/>
            <a:ext cx="264467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ts val="6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003300"/>
                </a:solidFill>
              </a:rPr>
              <a:t>High-Pressure Cell </a:t>
            </a:r>
            <a:r>
              <a:rPr lang="en-US" altLang="en-US" sz="2000" b="1" i="1" dirty="0">
                <a:solidFill>
                  <a:srgbClr val="003300"/>
                </a:solidFill>
              </a:rPr>
              <a:t>P</a:t>
            </a:r>
            <a:r>
              <a:rPr lang="en-US" altLang="en-US" sz="2000" b="1" dirty="0">
                <a:solidFill>
                  <a:srgbClr val="003300"/>
                </a:solidFill>
              </a:rPr>
              <a:t> ~ 1 Mbar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5315" y="2894467"/>
            <a:ext cx="3102277" cy="274320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7E4AA163-668E-D7C9-82B0-219654E71624}"/>
              </a:ext>
            </a:extLst>
          </p:cNvPr>
          <p:cNvSpPr/>
          <p:nvPr/>
        </p:nvSpPr>
        <p:spPr>
          <a:xfrm>
            <a:off x="4294440" y="4587442"/>
            <a:ext cx="3518704" cy="1101427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4977614" y="5156977"/>
            <a:ext cx="244188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Tracy, et al.,</a:t>
            </a:r>
          </a:p>
          <a:p>
            <a:pPr algn="ctr"/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Communications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(2017)</a:t>
            </a:r>
          </a:p>
          <a:p>
            <a:pPr algn="ctr"/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60ECB-BB7D-7BF4-CBFD-23F76C6581ED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</p:spTree>
    <p:extLst>
      <p:ext uri="{BB962C8B-B14F-4D97-AF65-F5344CB8AC3E}">
        <p14:creationId xmlns:p14="http://schemas.microsoft.com/office/powerpoint/2010/main" val="412611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A56B-DEA5-BAE6-ABC0-A61D3900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F7FFA5DA-F1A2-2AAE-1C87-816A4430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1B5464-640D-9D8D-A0F1-CB53A3A4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840881BD-E487-3C7D-8CF1-1DDB26DBBF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2CA4BB-FA02-D774-7AB9-B1DE0F8725CB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EB0434E9-3077-B52E-DDD5-D45791FF672C}"/>
              </a:ext>
            </a:extLst>
          </p:cNvPr>
          <p:cNvSpPr txBox="1">
            <a:spLocks/>
          </p:cNvSpPr>
          <p:nvPr/>
        </p:nvSpPr>
        <p:spPr>
          <a:xfrm>
            <a:off x="0" y="136524"/>
            <a:ext cx="12190387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High-Temperature Extremes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4E90D8-6764-A2EF-F9FD-B33E3ED6A8FD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0" y="4309606"/>
            <a:ext cx="6156326" cy="2019963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dirty="0"/>
          </a:p>
        </p:txBody>
      </p:sp>
      <p:cxnSp>
        <p:nvCxnSpPr>
          <p:cNvPr id="15" name="Straight Connector 62"/>
          <p:cNvCxnSpPr>
            <a:cxnSpLocks noChangeShapeType="1"/>
            <a:stCxn id="13" idx="0"/>
          </p:cNvCxnSpPr>
          <p:nvPr/>
        </p:nvCxnSpPr>
        <p:spPr bwMode="auto">
          <a:xfrm>
            <a:off x="7951" y="786723"/>
            <a:ext cx="5611444" cy="3188929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73"/>
          <p:cNvCxnSpPr>
            <a:cxnSpLocks noChangeShapeType="1"/>
          </p:cNvCxnSpPr>
          <p:nvPr/>
        </p:nvCxnSpPr>
        <p:spPr bwMode="auto">
          <a:xfrm>
            <a:off x="6164277" y="5005393"/>
            <a:ext cx="0" cy="1324176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ight Triangle 50"/>
          <p:cNvSpPr>
            <a:spLocks noChangeArrowheads="1"/>
          </p:cNvSpPr>
          <p:nvPr/>
        </p:nvSpPr>
        <p:spPr bwMode="auto">
          <a:xfrm>
            <a:off x="7951" y="786723"/>
            <a:ext cx="6156326" cy="3522886"/>
          </a:xfrm>
          <a:prstGeom prst="rtTriangle">
            <a:avLst/>
          </a:prstGeom>
          <a:solidFill>
            <a:srgbClr val="FF0000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4" name="Group 13"/>
          <p:cNvGrpSpPr/>
          <p:nvPr/>
        </p:nvGrpSpPr>
        <p:grpSpPr>
          <a:xfrm>
            <a:off x="4470215" y="2894737"/>
            <a:ext cx="3184558" cy="2775099"/>
            <a:chOff x="4461669" y="3398945"/>
            <a:chExt cx="3184558" cy="2775099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5773" y="3398945"/>
              <a:ext cx="3100454" cy="2743200"/>
            </a:xfrm>
            <a:prstGeom prst="rect">
              <a:avLst/>
            </a:prstGeom>
          </p:spPr>
        </p:pic>
        <p:sp>
          <p:nvSpPr>
            <p:cNvPr id="28" name="Rectangle 59"/>
            <p:cNvSpPr>
              <a:spLocks noChangeArrowheads="1"/>
            </p:cNvSpPr>
            <p:nvPr/>
          </p:nvSpPr>
          <p:spPr bwMode="auto">
            <a:xfrm>
              <a:off x="4461669" y="5813682"/>
              <a:ext cx="1586376" cy="36036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5773" y="3398945"/>
              <a:ext cx="3100454" cy="2743200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5773" y="3398945"/>
              <a:ext cx="3100454" cy="2743200"/>
            </a:xfrm>
            <a:prstGeom prst="rect">
              <a:avLst/>
            </a:prstGeom>
          </p:spPr>
        </p:pic>
      </p:grp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413319" y="2528158"/>
            <a:ext cx="215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ts val="2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800000"/>
                </a:solidFill>
              </a:rPr>
              <a:t>Intense </a:t>
            </a:r>
          </a:p>
          <a:p>
            <a:pPr algn="ctr" eaLnBrk="1" hangingPunct="1">
              <a:spcBef>
                <a:spcPts val="2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800000"/>
                </a:solidFill>
              </a:rPr>
              <a:t> Laser Pulses</a:t>
            </a:r>
          </a:p>
          <a:p>
            <a:pPr algn="ctr" eaLnBrk="1" hangingPunct="1">
              <a:spcBef>
                <a:spcPts val="2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800000"/>
                </a:solidFill>
              </a:rPr>
              <a:t>  40 J/cm</a:t>
            </a:r>
            <a:r>
              <a:rPr lang="en-US" altLang="en-US" sz="2000" b="1" baseline="30000" dirty="0">
                <a:solidFill>
                  <a:srgbClr val="800000"/>
                </a:solidFill>
              </a:rPr>
              <a:t>2</a:t>
            </a:r>
          </a:p>
        </p:txBody>
      </p:sp>
      <p:pic>
        <p:nvPicPr>
          <p:cNvPr id="24" name="Picture 23" descr="laser-heating.jp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838" y="3747374"/>
            <a:ext cx="2563813" cy="192246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829817" y="5792868"/>
            <a:ext cx="2249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from: </a:t>
            </a:r>
            <a:r>
              <a:rPr lang="en-US" alt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www.sunbeamtech.com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7591198" y="4540830"/>
            <a:ext cx="3091290" cy="757813"/>
          </a:xfrm>
          <a:prstGeom prst="rect">
            <a:avLst/>
          </a:prstGeom>
          <a:solidFill>
            <a:srgbClr val="FF0000">
              <a:alpha val="14902"/>
            </a:srgbClr>
          </a:solidFill>
          <a:ln w="127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600"/>
          </a:p>
        </p:txBody>
      </p:sp>
      <p:sp>
        <p:nvSpPr>
          <p:cNvPr id="37" name="Rectangle 36"/>
          <p:cNvSpPr/>
          <p:nvPr/>
        </p:nvSpPr>
        <p:spPr>
          <a:xfrm>
            <a:off x="7199311" y="4581183"/>
            <a:ext cx="391885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transitions in ZrO</a:t>
            </a:r>
            <a:r>
              <a:rPr lang="en-US" sz="1700" baseline="-25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7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</a:t>
            </a:r>
          </a:p>
          <a:p>
            <a:pPr algn="ctr"/>
            <a:endParaRPr lang="en-US" sz="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intense electronic excitations</a:t>
            </a:r>
            <a:endParaRPr lang="en-US" sz="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915900" y="927117"/>
            <a:ext cx="3993520" cy="3275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225382" y="805006"/>
            <a:ext cx="1628489" cy="237996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F7115FC-B8D0-C4AF-4B0D-7D9D0F690726}"/>
              </a:ext>
            </a:extLst>
          </p:cNvPr>
          <p:cNvSpPr/>
          <p:nvPr/>
        </p:nvSpPr>
        <p:spPr>
          <a:xfrm>
            <a:off x="4519887" y="2867360"/>
            <a:ext cx="3518704" cy="416290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4860489" y="2919285"/>
            <a:ext cx="289039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Ultrafast laser experiments</a:t>
            </a:r>
            <a:endParaRPr lang="en-US" sz="15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5CBFB7-74FC-901B-1C09-7B1097D5EE91}"/>
              </a:ext>
            </a:extLst>
          </p:cNvPr>
          <p:cNvSpPr/>
          <p:nvPr/>
        </p:nvSpPr>
        <p:spPr>
          <a:xfrm>
            <a:off x="8552598" y="1180745"/>
            <a:ext cx="321981" cy="334112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DC3CDB-A088-F19E-72E2-9585B33464C1}"/>
              </a:ext>
            </a:extLst>
          </p:cNvPr>
          <p:cNvSpPr/>
          <p:nvPr/>
        </p:nvSpPr>
        <p:spPr>
          <a:xfrm>
            <a:off x="6378974" y="5374046"/>
            <a:ext cx="1667686" cy="677108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7470774" y="5553750"/>
            <a:ext cx="244188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D.R. Rittman, et al.,</a:t>
            </a:r>
          </a:p>
          <a:p>
            <a:pPr algn="ctr"/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 Letters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(2015)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supported beamtime)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A84E958-C90E-B3F7-785B-8D09544565FB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</p:spTree>
    <p:extLst>
      <p:ext uri="{BB962C8B-B14F-4D97-AF65-F5344CB8AC3E}">
        <p14:creationId xmlns:p14="http://schemas.microsoft.com/office/powerpoint/2010/main" val="239755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2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51FEA-150C-4EAC-79E9-EA205A69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492E112A-2E75-391A-B8EE-067D5B7F5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909E0-89A6-81C5-6CD7-22AEF031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65E235E6-7110-8225-984F-87C1B2C2C5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3E12B00-1E46-5276-921A-366215100C1D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573AD1F0-1A78-666E-C9A7-94D6CAAA143D}"/>
              </a:ext>
            </a:extLst>
          </p:cNvPr>
          <p:cNvSpPr txBox="1">
            <a:spLocks/>
          </p:cNvSpPr>
          <p:nvPr/>
        </p:nvSpPr>
        <p:spPr>
          <a:xfrm>
            <a:off x="-5782" y="136524"/>
            <a:ext cx="9948435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Swift Heavy Ions: Extremely Ionizing Radiation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F055897-F450-A67E-37C2-26AF52A74B40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" name="Rectangle 57">
            <a:extLst>
              <a:ext uri="{FF2B5EF4-FFF2-40B4-BE49-F238E27FC236}">
                <a16:creationId xmlns:a16="http://schemas.microsoft.com/office/drawing/2014/main" id="{BB8CCE41-7B58-158E-3708-A353394DD4B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64261" y="4325510"/>
            <a:ext cx="6027738" cy="1997645"/>
          </a:xfrm>
          <a:prstGeom prst="rect">
            <a:avLst/>
          </a:prstGeom>
          <a:solidFill>
            <a:srgbClr val="0000FF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25" name="Straight Connector 64">
            <a:extLst>
              <a:ext uri="{FF2B5EF4-FFF2-40B4-BE49-F238E27FC236}">
                <a16:creationId xmlns:a16="http://schemas.microsoft.com/office/drawing/2014/main" id="{AE7EA3C7-BFFF-8033-039E-9A2576572AD1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 flipV="1">
            <a:off x="6779046" y="822898"/>
            <a:ext cx="5411333" cy="3172553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73">
            <a:extLst>
              <a:ext uri="{FF2B5EF4-FFF2-40B4-BE49-F238E27FC236}">
                <a16:creationId xmlns:a16="http://schemas.microsoft.com/office/drawing/2014/main" id="{E095901C-5C0A-2F03-F5A0-9BB0C39EBD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64277" y="5005393"/>
            <a:ext cx="0" cy="1324176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60">
            <a:extLst>
              <a:ext uri="{FF2B5EF4-FFF2-40B4-BE49-F238E27FC236}">
                <a16:creationId xmlns:a16="http://schemas.microsoft.com/office/drawing/2014/main" id="{9AB8734C-8630-3783-F251-5ACC8F429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142" y="5329013"/>
            <a:ext cx="1473200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E296E59-1B95-E9DB-EF31-8C272E1CF1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741" y="2897574"/>
            <a:ext cx="3102277" cy="2743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56EA089-CF99-CDA3-4F0B-D9F30871D3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741" y="2900026"/>
            <a:ext cx="3102277" cy="2743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4A71146-A598-37A9-4A0A-580896C8154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741" y="2897574"/>
            <a:ext cx="3102277" cy="2743200"/>
          </a:xfrm>
          <a:prstGeom prst="rect">
            <a:avLst/>
          </a:prstGeom>
        </p:spPr>
      </p:pic>
      <p:sp>
        <p:nvSpPr>
          <p:cNvPr id="51" name="Text Box 14">
            <a:extLst>
              <a:ext uri="{FF2B5EF4-FFF2-40B4-BE49-F238E27FC236}">
                <a16:creationId xmlns:a16="http://schemas.microsoft.com/office/drawing/2014/main" id="{5DB4E83D-3D03-86CA-D7A5-DD2F27C7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808" y="5333942"/>
            <a:ext cx="23764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000066"/>
                </a:solidFill>
              </a:rPr>
              <a:t>Ion Irradiation                </a:t>
            </a:r>
            <a:r>
              <a:rPr lang="en-US" altLang="en-US" sz="2000" b="1" i="1" dirty="0" err="1">
                <a:solidFill>
                  <a:srgbClr val="000066"/>
                </a:solidFill>
              </a:rPr>
              <a:t>ρ</a:t>
            </a:r>
            <a:r>
              <a:rPr lang="en-US" altLang="en-US" sz="2000" b="1" i="1" baseline="-25000" dirty="0" err="1">
                <a:solidFill>
                  <a:srgbClr val="000066"/>
                </a:solidFill>
              </a:rPr>
              <a:t>E</a:t>
            </a:r>
            <a:r>
              <a:rPr lang="en-US" altLang="en-US" sz="2000" b="1" dirty="0">
                <a:solidFill>
                  <a:srgbClr val="000066"/>
                </a:solidFill>
              </a:rPr>
              <a:t> ~ eV/atom </a:t>
            </a:r>
            <a:endParaRPr lang="en-US" altLang="en-US" sz="2000" b="1" baseline="-25000" dirty="0">
              <a:solidFill>
                <a:srgbClr val="000066"/>
              </a:solidFill>
            </a:endParaRPr>
          </a:p>
        </p:txBody>
      </p:sp>
      <p:pic>
        <p:nvPicPr>
          <p:cNvPr id="52" name="Picture 51" descr="www">
            <a:extLst>
              <a:ext uri="{FF2B5EF4-FFF2-40B4-BE49-F238E27FC236}">
                <a16:creationId xmlns:a16="http://schemas.microsoft.com/office/drawing/2014/main" id="{6479280A-81E0-F1E0-92A0-9FE8F711B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7609" y="2839874"/>
            <a:ext cx="2566988" cy="192722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 Box 65">
            <a:extLst>
              <a:ext uri="{FF2B5EF4-FFF2-40B4-BE49-F238E27FC236}">
                <a16:creationId xmlns:a16="http://schemas.microsoft.com/office/drawing/2014/main" id="{660BEB80-DD1B-4F58-97DC-1AB2990CF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2843" y="4882805"/>
            <a:ext cx="26273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from: </a:t>
            </a:r>
            <a:r>
              <a:rPr lang="en-US" altLang="en-US" sz="12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www.simsworkshop.org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236CD-6797-1563-D0D2-C49E9C26C8FC}"/>
              </a:ext>
            </a:extLst>
          </p:cNvPr>
          <p:cNvSpPr/>
          <p:nvPr/>
        </p:nvSpPr>
        <p:spPr>
          <a:xfrm>
            <a:off x="4305782" y="5157442"/>
            <a:ext cx="1790218" cy="676199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90CD55-61D3-DBA3-9738-CB0FDD5581A4}"/>
              </a:ext>
            </a:extLst>
          </p:cNvPr>
          <p:cNvSpPr/>
          <p:nvPr/>
        </p:nvSpPr>
        <p:spPr>
          <a:xfrm>
            <a:off x="4955618" y="2702453"/>
            <a:ext cx="1790218" cy="676199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2479424-F79D-8545-1801-4F206A769FDF}"/>
              </a:ext>
            </a:extLst>
          </p:cNvPr>
          <p:cNvSpPr txBox="1">
            <a:spLocks/>
          </p:cNvSpPr>
          <p:nvPr/>
        </p:nvSpPr>
        <p:spPr>
          <a:xfrm>
            <a:off x="526824" y="1059387"/>
            <a:ext cx="5569176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Multiple transient extremes within ion tracks</a:t>
            </a:r>
            <a:endParaRPr lang="en-US" sz="1800" dirty="0">
              <a:solidFill>
                <a:srgbClr val="000099"/>
              </a:solidFill>
            </a:endParaRPr>
          </a:p>
        </p:txBody>
      </p:sp>
      <p:graphicFrame>
        <p:nvGraphicFramePr>
          <p:cNvPr id="7" name="Object 97">
            <a:extLst>
              <a:ext uri="{FF2B5EF4-FFF2-40B4-BE49-F238E27FC236}">
                <a16:creationId xmlns:a16="http://schemas.microsoft.com/office/drawing/2014/main" id="{1938DF3B-63C5-4CD0-F853-C97B250AA8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796088"/>
              </p:ext>
            </p:extLst>
          </p:nvPr>
        </p:nvGraphicFramePr>
        <p:xfrm>
          <a:off x="777020" y="1611935"/>
          <a:ext cx="1411287" cy="235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4603987" imgH="5473981" progId="MSPhotoEd.3">
                  <p:embed/>
                </p:oleObj>
              </mc:Choice>
              <mc:Fallback>
                <p:oleObj name="Photo Editor Photo" r:id="rId7" imgW="4603987" imgH="5473981" progId="MSPhotoEd.3">
                  <p:embed/>
                  <p:pic>
                    <p:nvPicPr>
                      <p:cNvPr id="40" name="Object 97">
                        <a:extLst>
                          <a:ext uri="{FF2B5EF4-FFF2-40B4-BE49-F238E27FC236}">
                            <a16:creationId xmlns:a16="http://schemas.microsoft.com/office/drawing/2014/main" id="{B2BB3C95-4A8F-4BE3-83A7-E2B9A6E6E1E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560" t="14990" r="25703" b="17197"/>
                      <a:stretch>
                        <a:fillRect/>
                      </a:stretch>
                    </p:blipFill>
                    <p:spPr bwMode="auto">
                      <a:xfrm>
                        <a:off x="777020" y="1611935"/>
                        <a:ext cx="1411287" cy="235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6">
            <a:extLst>
              <a:ext uri="{FF2B5EF4-FFF2-40B4-BE49-F238E27FC236}">
                <a16:creationId xmlns:a16="http://schemas.microsoft.com/office/drawing/2014/main" id="{B0205DCD-ADA5-4E93-69D5-A2E12294C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lum contras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64267" y="1611935"/>
            <a:ext cx="2352146" cy="23521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F6D023FE-692C-9914-CBC9-D47BD9EB4D01}"/>
              </a:ext>
            </a:extLst>
          </p:cNvPr>
          <p:cNvSpPr/>
          <p:nvPr/>
        </p:nvSpPr>
        <p:spPr>
          <a:xfrm>
            <a:off x="2927880" y="2629121"/>
            <a:ext cx="366151" cy="240469"/>
          </a:xfrm>
          <a:prstGeom prst="leftArrow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C843DC2-AEFA-3BBA-978D-00D0FFE0B6E2}"/>
              </a:ext>
            </a:extLst>
          </p:cNvPr>
          <p:cNvSpPr/>
          <p:nvPr/>
        </p:nvSpPr>
        <p:spPr>
          <a:xfrm rot="16200000">
            <a:off x="3488076" y="3215180"/>
            <a:ext cx="366151" cy="240469"/>
          </a:xfrm>
          <a:prstGeom prst="leftArrow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BBC43A6F-7218-C13E-DCA0-A181CF0E78C4}"/>
              </a:ext>
            </a:extLst>
          </p:cNvPr>
          <p:cNvSpPr/>
          <p:nvPr/>
        </p:nvSpPr>
        <p:spPr>
          <a:xfrm flipH="1">
            <a:off x="3997012" y="2629121"/>
            <a:ext cx="366151" cy="240469"/>
          </a:xfrm>
          <a:prstGeom prst="leftArrow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93CB8AED-0AD6-B9DE-2341-2F5A2C4A8F2F}"/>
              </a:ext>
            </a:extLst>
          </p:cNvPr>
          <p:cNvSpPr/>
          <p:nvPr/>
        </p:nvSpPr>
        <p:spPr>
          <a:xfrm rot="5400000">
            <a:off x="3488075" y="2043064"/>
            <a:ext cx="366151" cy="240469"/>
          </a:xfrm>
          <a:prstGeom prst="leftArrow">
            <a:avLst/>
          </a:prstGeom>
          <a:solidFill>
            <a:schemeClr val="bg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82D811-98EB-3675-9C59-8940930952B2}"/>
              </a:ext>
            </a:extLst>
          </p:cNvPr>
          <p:cNvSpPr/>
          <p:nvPr/>
        </p:nvSpPr>
        <p:spPr>
          <a:xfrm>
            <a:off x="3434667" y="2561963"/>
            <a:ext cx="526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T,P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C665236-FE64-9E06-3B83-564FEFEDA286}"/>
              </a:ext>
            </a:extLst>
          </p:cNvPr>
          <p:cNvSpPr txBox="1">
            <a:spLocks/>
          </p:cNvSpPr>
          <p:nvPr/>
        </p:nvSpPr>
        <p:spPr>
          <a:xfrm>
            <a:off x="-50775" y="4468476"/>
            <a:ext cx="6085172" cy="190848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/>
              <a:buChar char="ð"/>
            </a:pPr>
            <a:r>
              <a:rPr lang="en-US" sz="1600" dirty="0">
                <a:solidFill>
                  <a:srgbClr val="000099"/>
                </a:solidFill>
                <a:sym typeface="Wingdings"/>
              </a:rPr>
              <a:t>Transient energy depositions (~10 eV/atomic bond)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600" dirty="0">
                <a:solidFill>
                  <a:srgbClr val="000099"/>
                </a:solidFill>
                <a:sym typeface="Wingdings"/>
              </a:rPr>
              <a:t>Intense electronic excitations and extreme ionizations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600" dirty="0">
                <a:solidFill>
                  <a:srgbClr val="000099"/>
                </a:solidFill>
                <a:sym typeface="Wingdings"/>
              </a:rPr>
              <a:t>Thermal spike with picosecond quenching (~10,000 K)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600" dirty="0">
                <a:solidFill>
                  <a:srgbClr val="000099"/>
                </a:solidFill>
                <a:sym typeface="Wingdings"/>
              </a:rPr>
              <a:t>Formation of dynamic pressure wave (several GPa)</a:t>
            </a: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sp>
        <p:nvSpPr>
          <p:cNvPr id="16" name="Right Triangle 56">
            <a:extLst>
              <a:ext uri="{FF2B5EF4-FFF2-40B4-BE49-F238E27FC236}">
                <a16:creationId xmlns:a16="http://schemas.microsoft.com/office/drawing/2014/main" id="{5E7F3CAF-6362-5D62-5A23-B6EB98899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25504" y="822898"/>
            <a:ext cx="5964875" cy="3502612"/>
          </a:xfrm>
          <a:prstGeom prst="rtTriangle">
            <a:avLst/>
          </a:prstGeom>
          <a:solidFill>
            <a:srgbClr val="0000FF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87A325-E2BD-3E2A-5143-AE975E160330}"/>
              </a:ext>
            </a:extLst>
          </p:cNvPr>
          <p:cNvSpPr txBox="1"/>
          <p:nvPr/>
        </p:nvSpPr>
        <p:spPr>
          <a:xfrm>
            <a:off x="2757034" y="3976547"/>
            <a:ext cx="24799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946 MeV </a:t>
            </a:r>
            <a:r>
              <a:rPr lang="en-US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197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 ions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1165D658-E7EE-62C0-25AD-5EF862055A4A}"/>
              </a:ext>
            </a:extLst>
          </p:cNvPr>
          <p:cNvSpPr txBox="1">
            <a:spLocks/>
          </p:cNvSpPr>
          <p:nvPr/>
        </p:nvSpPr>
        <p:spPr>
          <a:xfrm>
            <a:off x="4575863" y="2878386"/>
            <a:ext cx="3501713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Galactic Cosmic Rays  </a:t>
            </a:r>
            <a:endParaRPr lang="en-US" sz="1600" dirty="0">
              <a:solidFill>
                <a:srgbClr val="000099"/>
              </a:solidFill>
            </a:endParaRPr>
          </a:p>
        </p:txBody>
      </p:sp>
      <p:sp>
        <p:nvSpPr>
          <p:cNvPr id="32" name="Content Placeholder 6">
            <a:extLst>
              <a:ext uri="{FF2B5EF4-FFF2-40B4-BE49-F238E27FC236}">
                <a16:creationId xmlns:a16="http://schemas.microsoft.com/office/drawing/2014/main" id="{5D9C3B67-7205-72B1-B181-1BC154804C14}"/>
              </a:ext>
            </a:extLst>
          </p:cNvPr>
          <p:cNvSpPr txBox="1">
            <a:spLocks/>
          </p:cNvSpPr>
          <p:nvPr/>
        </p:nvSpPr>
        <p:spPr>
          <a:xfrm>
            <a:off x="5549161" y="1994301"/>
            <a:ext cx="3501713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Products from Actinide Fissioning</a:t>
            </a:r>
            <a:endParaRPr lang="en-US" sz="1600" dirty="0">
              <a:solidFill>
                <a:srgbClr val="000099"/>
              </a:solidFill>
            </a:endParaRPr>
          </a:p>
        </p:txBody>
      </p:sp>
      <p:sp>
        <p:nvSpPr>
          <p:cNvPr id="35" name="Content Placeholder 6">
            <a:extLst>
              <a:ext uri="{FF2B5EF4-FFF2-40B4-BE49-F238E27FC236}">
                <a16:creationId xmlns:a16="http://schemas.microsoft.com/office/drawing/2014/main" id="{DCFB2500-6D08-0D33-80A9-C2530635D102}"/>
              </a:ext>
            </a:extLst>
          </p:cNvPr>
          <p:cNvSpPr txBox="1">
            <a:spLocks/>
          </p:cNvSpPr>
          <p:nvPr/>
        </p:nvSpPr>
        <p:spPr>
          <a:xfrm>
            <a:off x="6733487" y="1174901"/>
            <a:ext cx="3638468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Generated by Heavy Ion Accelerators </a:t>
            </a:r>
            <a:endParaRPr lang="en-US" sz="1600" dirty="0">
              <a:solidFill>
                <a:srgbClr val="00009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36EA8-6AEA-2E1A-622A-BACF052EB1E5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E4F1B-2EFC-F4E1-556F-EF2421474110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948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9702C-1102-6C67-B227-AC377749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D04D5BBC-ECAA-D3C4-585D-9654A8D00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DE58AA-6F95-0CC8-4214-154F1DAA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C1459BD6-4325-27F8-4F90-8E8D1ECDD9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97711D-4416-17E1-1CE8-B8A0D2FFD1EE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8453BA70-3A43-FB2E-D9FB-85FD11E52EF4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Rectangle 51">
            <a:extLst>
              <a:ext uri="{FF2B5EF4-FFF2-40B4-BE49-F238E27FC236}">
                <a16:creationId xmlns:a16="http://schemas.microsoft.com/office/drawing/2014/main" id="{1AD0A51C-F664-1507-AD42-ADAD2DACD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09606"/>
            <a:ext cx="6156326" cy="2019963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5B8542EE-CCC5-F65A-4495-BFFD82E07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107" y="5325482"/>
            <a:ext cx="1586376" cy="3603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" name="Right Triangle 56">
            <a:extLst>
              <a:ext uri="{FF2B5EF4-FFF2-40B4-BE49-F238E27FC236}">
                <a16:creationId xmlns:a16="http://schemas.microsoft.com/office/drawing/2014/main" id="{1A4FB121-83EB-0048-22D6-B03A90CC647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27122" y="785399"/>
            <a:ext cx="5964875" cy="3540111"/>
          </a:xfrm>
          <a:prstGeom prst="rtTriangle">
            <a:avLst/>
          </a:prstGeom>
          <a:solidFill>
            <a:srgbClr val="0000FF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" name="Rectangle 57">
            <a:extLst>
              <a:ext uri="{FF2B5EF4-FFF2-40B4-BE49-F238E27FC236}">
                <a16:creationId xmlns:a16="http://schemas.microsoft.com/office/drawing/2014/main" id="{BA92A7ED-98B6-499B-2E57-B5E8D344649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64261" y="4325510"/>
            <a:ext cx="6027738" cy="1997645"/>
          </a:xfrm>
          <a:prstGeom prst="rect">
            <a:avLst/>
          </a:prstGeom>
          <a:solidFill>
            <a:srgbClr val="0000FF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" name="Isosceles Triangle 52">
            <a:extLst>
              <a:ext uri="{FF2B5EF4-FFF2-40B4-BE49-F238E27FC236}">
                <a16:creationId xmlns:a16="http://schemas.microsoft.com/office/drawing/2014/main" id="{62D9D2E5-3111-8C65-718F-8629DB5A436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49306" y="803622"/>
            <a:ext cx="12232339" cy="3517403"/>
          </a:xfrm>
          <a:prstGeom prst="triangle">
            <a:avLst>
              <a:gd name="adj" fmla="val 51640"/>
            </a:avLst>
          </a:prstGeom>
          <a:solidFill>
            <a:srgbClr val="008000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8" name="Rectangle 60">
            <a:extLst>
              <a:ext uri="{FF2B5EF4-FFF2-40B4-BE49-F238E27FC236}">
                <a16:creationId xmlns:a16="http://schemas.microsoft.com/office/drawing/2014/main" id="{163556C1-72B6-4862-A875-56538DFA1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858" y="5327069"/>
            <a:ext cx="1473200" cy="358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10" name="Straight Connector 62">
            <a:extLst>
              <a:ext uri="{FF2B5EF4-FFF2-40B4-BE49-F238E27FC236}">
                <a16:creationId xmlns:a16="http://schemas.microsoft.com/office/drawing/2014/main" id="{185B2FF5-04C8-288E-E115-A73B4DCD483C}"/>
              </a:ext>
            </a:extLst>
          </p:cNvPr>
          <p:cNvCxnSpPr>
            <a:cxnSpLocks noChangeShapeType="1"/>
            <a:stCxn id="13" idx="0"/>
          </p:cNvCxnSpPr>
          <p:nvPr/>
        </p:nvCxnSpPr>
        <p:spPr bwMode="auto">
          <a:xfrm>
            <a:off x="-4" y="832442"/>
            <a:ext cx="5515782" cy="3082218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64">
            <a:extLst>
              <a:ext uri="{FF2B5EF4-FFF2-40B4-BE49-F238E27FC236}">
                <a16:creationId xmlns:a16="http://schemas.microsoft.com/office/drawing/2014/main" id="{6B2A191D-3AC7-39C2-8BD3-0EA05E7B1A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779046" y="808106"/>
            <a:ext cx="5411341" cy="3187345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73">
            <a:extLst>
              <a:ext uri="{FF2B5EF4-FFF2-40B4-BE49-F238E27FC236}">
                <a16:creationId xmlns:a16="http://schemas.microsoft.com/office/drawing/2014/main" id="{F7F83A6A-1AD3-9C9D-EFD5-6385974196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64277" y="5005393"/>
            <a:ext cx="0" cy="1324176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ight Triangle 50">
            <a:extLst>
              <a:ext uri="{FF2B5EF4-FFF2-40B4-BE49-F238E27FC236}">
                <a16:creationId xmlns:a16="http://schemas.microsoft.com/office/drawing/2014/main" id="{4FA186B0-086A-A6BC-D50C-2532E1070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" y="832442"/>
            <a:ext cx="6164281" cy="3477167"/>
          </a:xfrm>
          <a:prstGeom prst="rtTriangle">
            <a:avLst/>
          </a:prstGeom>
          <a:solidFill>
            <a:srgbClr val="FF0000">
              <a:alpha val="1490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" name="Rectangle 58">
            <a:extLst>
              <a:ext uri="{FF2B5EF4-FFF2-40B4-BE49-F238E27FC236}">
                <a16:creationId xmlns:a16="http://schemas.microsoft.com/office/drawing/2014/main" id="{57D7567F-A15D-EB65-CACB-7DB28E5CD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576" y="2766804"/>
            <a:ext cx="1223963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D785C5-69DA-A72F-1A44-A7A47B0869D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741" y="2894166"/>
            <a:ext cx="3100454" cy="2743200"/>
          </a:xfrm>
          <a:prstGeom prst="rect">
            <a:avLst/>
          </a:prstGeom>
        </p:spPr>
      </p:pic>
      <p:sp>
        <p:nvSpPr>
          <p:cNvPr id="16" name="Text Box 14">
            <a:extLst>
              <a:ext uri="{FF2B5EF4-FFF2-40B4-BE49-F238E27FC236}">
                <a16:creationId xmlns:a16="http://schemas.microsoft.com/office/drawing/2014/main" id="{BF4AFAB5-2F53-0BC1-2220-F53960A7D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808" y="5333942"/>
            <a:ext cx="23764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000066"/>
                </a:solidFill>
              </a:rPr>
              <a:t>Ion Irradiation                </a:t>
            </a:r>
            <a:r>
              <a:rPr lang="en-US" altLang="en-US" sz="2000" b="1" i="1" dirty="0" err="1">
                <a:solidFill>
                  <a:srgbClr val="000066"/>
                </a:solidFill>
              </a:rPr>
              <a:t>ρ</a:t>
            </a:r>
            <a:r>
              <a:rPr lang="en-US" altLang="en-US" sz="2000" b="1" i="1" baseline="-25000" dirty="0" err="1">
                <a:solidFill>
                  <a:srgbClr val="000066"/>
                </a:solidFill>
              </a:rPr>
              <a:t>E</a:t>
            </a:r>
            <a:r>
              <a:rPr lang="en-US" altLang="en-US" sz="2000" b="1" dirty="0">
                <a:solidFill>
                  <a:srgbClr val="000066"/>
                </a:solidFill>
              </a:rPr>
              <a:t> ~ eV/atom </a:t>
            </a:r>
            <a:endParaRPr lang="en-US" altLang="en-US" sz="2000" b="1" baseline="-25000" dirty="0">
              <a:solidFill>
                <a:srgbClr val="000066"/>
              </a:solidFill>
            </a:endParaRPr>
          </a:p>
        </p:txBody>
      </p:sp>
      <p:pic>
        <p:nvPicPr>
          <p:cNvPr id="19" name="Picture 18" descr="www">
            <a:extLst>
              <a:ext uri="{FF2B5EF4-FFF2-40B4-BE49-F238E27FC236}">
                <a16:creationId xmlns:a16="http://schemas.microsoft.com/office/drawing/2014/main" id="{2DF34C19-665F-3371-5B6E-CBFD854FB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7609" y="2839874"/>
            <a:ext cx="2566988" cy="192722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65">
            <a:extLst>
              <a:ext uri="{FF2B5EF4-FFF2-40B4-BE49-F238E27FC236}">
                <a16:creationId xmlns:a16="http://schemas.microsoft.com/office/drawing/2014/main" id="{5C73EEB9-F4F5-F640-DAB7-57C88BDAE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2843" y="4882805"/>
            <a:ext cx="26273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from: </a:t>
            </a:r>
            <a:r>
              <a:rPr lang="en-US" altLang="en-US" sz="12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www.simsworkshop.org</a:t>
            </a:r>
          </a:p>
        </p:txBody>
      </p:sp>
      <p:sp>
        <p:nvSpPr>
          <p:cNvPr id="23" name="Text Box 14">
            <a:extLst>
              <a:ext uri="{FF2B5EF4-FFF2-40B4-BE49-F238E27FC236}">
                <a16:creationId xmlns:a16="http://schemas.microsoft.com/office/drawing/2014/main" id="{448AE127-1A49-276E-3D69-DD28E04B9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19" y="2528158"/>
            <a:ext cx="215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ts val="2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800000"/>
                </a:solidFill>
              </a:rPr>
              <a:t>Intense </a:t>
            </a:r>
          </a:p>
          <a:p>
            <a:pPr algn="ctr" eaLnBrk="1" hangingPunct="1">
              <a:spcBef>
                <a:spcPts val="2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800000"/>
                </a:solidFill>
              </a:rPr>
              <a:t> Laser Pulses</a:t>
            </a:r>
          </a:p>
          <a:p>
            <a:pPr algn="ctr" eaLnBrk="1" hangingPunct="1">
              <a:spcBef>
                <a:spcPts val="2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800000"/>
                </a:solidFill>
              </a:rPr>
              <a:t>  40 J/cm</a:t>
            </a:r>
            <a:r>
              <a:rPr lang="en-US" altLang="en-US" sz="2000" b="1" baseline="30000" dirty="0">
                <a:solidFill>
                  <a:srgbClr val="800000"/>
                </a:solidFill>
              </a:rPr>
              <a:t>2</a:t>
            </a:r>
          </a:p>
        </p:txBody>
      </p:sp>
      <p:pic>
        <p:nvPicPr>
          <p:cNvPr id="24" name="Picture 23" descr="laser-heating.jpg">
            <a:extLst>
              <a:ext uri="{FF2B5EF4-FFF2-40B4-BE49-F238E27FC236}">
                <a16:creationId xmlns:a16="http://schemas.microsoft.com/office/drawing/2014/main" id="{A68EEDB0-A216-C634-0CC2-1299E521B7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838" y="3747374"/>
            <a:ext cx="2563813" cy="192246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E3182DBA-DBAA-4E47-2A81-7445C182E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817" y="5792868"/>
            <a:ext cx="2249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from: </a:t>
            </a:r>
            <a:r>
              <a:rPr lang="en-US" alt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www.sunbeamtech.com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84196BA-2120-D194-AEC3-585C5FC8631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3017" y="970607"/>
            <a:ext cx="2314477" cy="1574656"/>
          </a:xfrm>
          <a:prstGeom prst="rect">
            <a:avLst/>
          </a:prstGeom>
        </p:spPr>
      </p:pic>
      <p:sp>
        <p:nvSpPr>
          <p:cNvPr id="29" name="Text Box 14">
            <a:extLst>
              <a:ext uri="{FF2B5EF4-FFF2-40B4-BE49-F238E27FC236}">
                <a16:creationId xmlns:a16="http://schemas.microsoft.com/office/drawing/2014/main" id="{CECDE7BE-310C-3F78-D503-617ACD5DB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8986" y="1386892"/>
            <a:ext cx="264467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ts val="6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dirty="0">
                <a:solidFill>
                  <a:srgbClr val="003300"/>
                </a:solidFill>
              </a:rPr>
              <a:t>High-Pressure Cell </a:t>
            </a:r>
            <a:r>
              <a:rPr lang="en-US" altLang="en-US" sz="2000" b="1" i="1" dirty="0">
                <a:solidFill>
                  <a:srgbClr val="003300"/>
                </a:solidFill>
              </a:rPr>
              <a:t>P</a:t>
            </a:r>
            <a:r>
              <a:rPr lang="en-US" altLang="en-US" sz="2000" b="1" dirty="0">
                <a:solidFill>
                  <a:srgbClr val="003300"/>
                </a:solidFill>
              </a:rPr>
              <a:t> ~ 1 Mbar</a:t>
            </a: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3DEABEDA-8B06-47D0-A9BE-E719C367C78C}"/>
              </a:ext>
            </a:extLst>
          </p:cNvPr>
          <p:cNvSpPr txBox="1">
            <a:spLocks/>
          </p:cNvSpPr>
          <p:nvPr/>
        </p:nvSpPr>
        <p:spPr>
          <a:xfrm>
            <a:off x="0" y="136524"/>
            <a:ext cx="1219200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Coupling of Multiple Extremes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567A4-8610-26EE-8A6D-E8774BF4A193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5192B9-3EA3-B762-0C40-F9635C6026A2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542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3401-0551-91EE-D66A-0FF08ADF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83A881DD-8D87-8DA3-9432-1F26ED885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8DDAF-597C-8834-9D7F-4DF4E47A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736A56E6-CC78-DC44-CC16-CF1DA8400C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FCF4AF-25E8-CA53-D99D-3C3FC508AF57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F7FD9C11-71E2-E019-51CC-8E11A989A868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3" name="Picture 21" descr="Figure3">
            <a:extLst>
              <a:ext uri="{FF2B5EF4-FFF2-40B4-BE49-F238E27FC236}">
                <a16:creationId xmlns:a16="http://schemas.microsoft.com/office/drawing/2014/main" id="{D62D3F3F-FEA0-519B-6D95-88F5F1FB7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703" y="1005219"/>
            <a:ext cx="6776884" cy="5073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Macintosh HD:Users:Raul:Documents:xp_share:Simple_Oxides_HPT:Annealing:article figures:chamber.eps">
            <a:extLst>
              <a:ext uri="{FF2B5EF4-FFF2-40B4-BE49-F238E27FC236}">
                <a16:creationId xmlns:a16="http://schemas.microsoft.com/office/drawing/2014/main" id="{652177AA-FF42-28A1-8850-E3C480293DB8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03"/>
          <a:stretch/>
        </p:blipFill>
        <p:spPr bwMode="auto">
          <a:xfrm>
            <a:off x="7558548" y="1005219"/>
            <a:ext cx="2058569" cy="170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ECAD8327-FF3F-C38F-3649-EC49CF4C97A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971079" y="1005219"/>
            <a:ext cx="1828800" cy="1698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9">
            <a:extLst>
              <a:ext uri="{FF2B5EF4-FFF2-40B4-BE49-F238E27FC236}">
                <a16:creationId xmlns:a16="http://schemas.microsoft.com/office/drawing/2014/main" id="{A6F35394-5992-42D1-B6BE-F1F4B32A2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149" y="2959951"/>
            <a:ext cx="23583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FR" altLang="en-US" sz="1400" dirty="0">
                <a:solidFill>
                  <a:srgbClr val="000000"/>
                </a:solidFill>
                <a:latin typeface="Times New Roman" pitchFamily="18" charset="0"/>
              </a:rPr>
              <a:t>M. Lang, </a:t>
            </a:r>
            <a:r>
              <a:rPr lang="fr-FR" altLang="en-US" sz="1400" i="1" dirty="0">
                <a:solidFill>
                  <a:srgbClr val="000000"/>
                </a:solidFill>
                <a:latin typeface="Times New Roman" pitchFamily="18" charset="0"/>
              </a:rPr>
              <a:t>et al</a:t>
            </a:r>
            <a:r>
              <a:rPr lang="fr-FR" altLang="en-US" sz="1400" dirty="0">
                <a:solidFill>
                  <a:srgbClr val="000000"/>
                </a:solidFill>
                <a:latin typeface="Times New Roman" pitchFamily="18" charset="0"/>
              </a:rPr>
              <a:t>.,                                                                 </a:t>
            </a:r>
            <a:r>
              <a:rPr lang="fr-FR" altLang="en-US" sz="1400" i="1" u="sng" dirty="0">
                <a:solidFill>
                  <a:srgbClr val="000000"/>
                </a:solidFill>
                <a:latin typeface="Times New Roman" pitchFamily="18" charset="0"/>
              </a:rPr>
              <a:t>Synchrotron Radiation.</a:t>
            </a:r>
            <a:r>
              <a:rPr lang="en-US" altLang="en-US" sz="1400" dirty="0">
                <a:solidFill>
                  <a:srgbClr val="000000"/>
                </a:solidFill>
                <a:latin typeface="Times New Roman" pitchFamily="18" charset="0"/>
              </a:rPr>
              <a:t> (2009)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CC249A-EBE3-7F4F-B154-E555D8463E70}"/>
              </a:ext>
            </a:extLst>
          </p:cNvPr>
          <p:cNvSpPr txBox="1">
            <a:spLocks/>
          </p:cNvSpPr>
          <p:nvPr/>
        </p:nvSpPr>
        <p:spPr>
          <a:xfrm>
            <a:off x="7196903" y="3595831"/>
            <a:ext cx="4774821" cy="27605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      </a:t>
            </a:r>
            <a:r>
              <a:rPr lang="en-US" sz="2000" b="1" dirty="0"/>
              <a:t>High-Pressure Irradiations</a:t>
            </a:r>
          </a:p>
          <a:p>
            <a:pPr marL="0" indent="0">
              <a:buNone/>
            </a:pPr>
            <a:endParaRPr lang="en-US" sz="300" b="1" dirty="0"/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Relativistic heavy ions penetrate one diamond anvil of DAC (~2 mm)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Sample is exposed to high pressure (and high-T) when being irradiated</a:t>
            </a:r>
          </a:p>
          <a:p>
            <a:pPr lvl="1">
              <a:buFont typeface="Wingdings"/>
              <a:buChar char="ð"/>
            </a:pPr>
            <a:endParaRPr lang="en-US" sz="6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Successfully applied to 1 Mbar and 10</a:t>
            </a:r>
            <a:r>
              <a:rPr lang="en-US" sz="1900" baseline="30000" dirty="0">
                <a:solidFill>
                  <a:srgbClr val="000099"/>
                </a:solidFill>
                <a:sym typeface="Wingdings"/>
              </a:rPr>
              <a:t>13</a:t>
            </a:r>
            <a:r>
              <a:rPr lang="en-US" sz="1900" dirty="0">
                <a:solidFill>
                  <a:srgbClr val="000099"/>
                </a:solidFill>
                <a:sym typeface="Wingdings"/>
              </a:rPr>
              <a:t> ions/cm</a:t>
            </a:r>
            <a:r>
              <a:rPr lang="en-US" sz="1900" baseline="30000" dirty="0">
                <a:solidFill>
                  <a:srgbClr val="000099"/>
                </a:solidFill>
                <a:sym typeface="Wingdings"/>
              </a:rPr>
              <a:t>2</a:t>
            </a:r>
            <a:r>
              <a:rPr lang="en-US" sz="1900" dirty="0">
                <a:solidFill>
                  <a:srgbClr val="000099"/>
                </a:solidFill>
                <a:sym typeface="Wingdings"/>
              </a:rPr>
              <a:t> 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F3F247BB-C918-7968-9F32-11A31414785D}"/>
              </a:ext>
            </a:extLst>
          </p:cNvPr>
          <p:cNvSpPr txBox="1">
            <a:spLocks/>
          </p:cNvSpPr>
          <p:nvPr/>
        </p:nvSpPr>
        <p:spPr>
          <a:xfrm>
            <a:off x="0" y="136524"/>
            <a:ext cx="1219200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Coupling of Multiple Extremes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6F3B0-7806-0F54-AA40-5595212BA8DA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FCD74-0354-831F-75AF-25191057B7CF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591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8B818-92CF-2A1D-E8B4-4F2747FB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17DF526A-F8E6-B613-6A88-4AB5C9F4A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A9B96A-0845-030B-C156-7B323627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8DF14B50-0A7E-FE41-3E30-66A6C440771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4C5B41-44FB-B34B-3650-2B8F15763A3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B6DA8A9B-F8C1-BE42-8175-A42552A7B59F}"/>
              </a:ext>
            </a:extLst>
          </p:cNvPr>
          <p:cNvSpPr txBox="1">
            <a:spLocks/>
          </p:cNvSpPr>
          <p:nvPr/>
        </p:nvSpPr>
        <p:spPr>
          <a:xfrm>
            <a:off x="719872" y="136524"/>
            <a:ext cx="870997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Material Behavior under Coupled Extremes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2E3DBCA-BD06-D8E9-88A3-E6C6F6DB9890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65" name="Picture 13" descr="test0.png">
            <a:extLst>
              <a:ext uri="{FF2B5EF4-FFF2-40B4-BE49-F238E27FC236}">
                <a16:creationId xmlns:a16="http://schemas.microsoft.com/office/drawing/2014/main" id="{8F9BDC95-AB3F-FB45-21D3-80BD3CD2B08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082" y="2529665"/>
            <a:ext cx="768640" cy="400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65" descr="test1.png">
            <a:extLst>
              <a:ext uri="{FF2B5EF4-FFF2-40B4-BE49-F238E27FC236}">
                <a16:creationId xmlns:a16="http://schemas.microsoft.com/office/drawing/2014/main" id="{A57A4605-D8CD-6AC1-5CA1-8ED402B8E4A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02947" y="2544866"/>
            <a:ext cx="1013788" cy="456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ontent Placeholder 6">
            <a:extLst>
              <a:ext uri="{FF2B5EF4-FFF2-40B4-BE49-F238E27FC236}">
                <a16:creationId xmlns:a16="http://schemas.microsoft.com/office/drawing/2014/main" id="{475E0208-2E0B-202E-2F0E-17A6EA27B6E9}"/>
              </a:ext>
            </a:extLst>
          </p:cNvPr>
          <p:cNvSpPr txBox="1">
            <a:spLocks/>
          </p:cNvSpPr>
          <p:nvPr/>
        </p:nvSpPr>
        <p:spPr>
          <a:xfrm>
            <a:off x="-1063" y="858597"/>
            <a:ext cx="4090421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/>
              <a:t>I. Phase Stabilization</a:t>
            </a:r>
          </a:p>
          <a:p>
            <a:pPr marL="0" indent="0" algn="ctr">
              <a:buNone/>
            </a:pPr>
            <a:r>
              <a:rPr lang="en-US" sz="1500" dirty="0"/>
              <a:t>Gd</a:t>
            </a:r>
            <a:r>
              <a:rPr lang="en-US" sz="1500" baseline="-25000" dirty="0"/>
              <a:t>2</a:t>
            </a:r>
            <a:r>
              <a:rPr lang="en-US" sz="1500" dirty="0"/>
              <a:t>Zr</a:t>
            </a:r>
            <a:r>
              <a:rPr lang="en-US" sz="1500" baseline="-25000" dirty="0"/>
              <a:t>2</a:t>
            </a:r>
            <a:r>
              <a:rPr lang="en-US" sz="1500" dirty="0"/>
              <a:t>O</a:t>
            </a:r>
            <a:r>
              <a:rPr lang="en-US" sz="1500" baseline="-25000" dirty="0"/>
              <a:t>7</a:t>
            </a:r>
            <a:r>
              <a:rPr lang="en-US" sz="1500" dirty="0"/>
              <a:t> + 21.5 GPa + 20 GeV Xe ions 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68" name="Text Box 70">
            <a:extLst>
              <a:ext uri="{FF2B5EF4-FFF2-40B4-BE49-F238E27FC236}">
                <a16:creationId xmlns:a16="http://schemas.microsoft.com/office/drawing/2014/main" id="{55E56BC6-93EE-1D43-B8F0-F1DD99ADF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750" y="5963434"/>
            <a:ext cx="2989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FR" altLang="en-US" sz="1300" dirty="0">
                <a:solidFill>
                  <a:srgbClr val="000000"/>
                </a:solidFill>
                <a:latin typeface="Times New Roman" pitchFamily="18" charset="0"/>
              </a:rPr>
              <a:t>M. Lang, </a:t>
            </a:r>
            <a:r>
              <a:rPr lang="fr-FR" altLang="en-US" sz="1300" i="1" dirty="0">
                <a:solidFill>
                  <a:srgbClr val="000000"/>
                </a:solidFill>
                <a:latin typeface="Times New Roman" pitchFamily="18" charset="0"/>
              </a:rPr>
              <a:t>et al</a:t>
            </a:r>
            <a:r>
              <a:rPr lang="fr-FR" altLang="en-US" sz="1300" dirty="0">
                <a:solidFill>
                  <a:srgbClr val="000000"/>
                </a:solidFill>
                <a:latin typeface="Times New Roman" pitchFamily="18" charset="0"/>
              </a:rPr>
              <a:t>., </a:t>
            </a:r>
            <a:r>
              <a:rPr lang="fr-FR" altLang="en-US" sz="1300" i="1" u="sng" dirty="0">
                <a:solidFill>
                  <a:srgbClr val="000000"/>
                </a:solidFill>
                <a:latin typeface="Times New Roman" pitchFamily="18" charset="0"/>
              </a:rPr>
              <a:t>Nature Materials</a:t>
            </a:r>
            <a:r>
              <a:rPr lang="en-US" altLang="en-US" sz="1300" dirty="0">
                <a:solidFill>
                  <a:srgbClr val="000000"/>
                </a:solidFill>
                <a:latin typeface="Times New Roman" pitchFamily="18" charset="0"/>
              </a:rPr>
              <a:t> (2009)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BDB4F719-69F0-2FB2-CC3D-219448DC494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933"/>
          <a:stretch>
            <a:fillRect/>
          </a:stretch>
        </p:blipFill>
        <p:spPr bwMode="auto">
          <a:xfrm>
            <a:off x="8299484" y="1485909"/>
            <a:ext cx="2013342" cy="1684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909855D-2394-C6FF-CCD0-602261BD3F5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928"/>
          <a:stretch>
            <a:fillRect/>
          </a:stretch>
        </p:blipFill>
        <p:spPr bwMode="auto">
          <a:xfrm>
            <a:off x="10131574" y="2692325"/>
            <a:ext cx="2014643" cy="1684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Content Placeholder 6">
            <a:extLst>
              <a:ext uri="{FF2B5EF4-FFF2-40B4-BE49-F238E27FC236}">
                <a16:creationId xmlns:a16="http://schemas.microsoft.com/office/drawing/2014/main" id="{962E5B9C-012C-6709-7863-2C53C8F9731D}"/>
              </a:ext>
            </a:extLst>
          </p:cNvPr>
          <p:cNvSpPr txBox="1">
            <a:spLocks/>
          </p:cNvSpPr>
          <p:nvPr/>
        </p:nvSpPr>
        <p:spPr>
          <a:xfrm>
            <a:off x="8102643" y="858597"/>
            <a:ext cx="4043573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/>
              <a:t>III. Exotic Molecular Solids</a:t>
            </a:r>
          </a:p>
          <a:p>
            <a:pPr marL="0" indent="0" algn="ctr">
              <a:buNone/>
            </a:pPr>
            <a:r>
              <a:rPr lang="en-US" sz="1500" dirty="0"/>
              <a:t>CO</a:t>
            </a:r>
            <a:r>
              <a:rPr lang="en-US" sz="1500" baseline="-25000" dirty="0"/>
              <a:t>2</a:t>
            </a:r>
            <a:r>
              <a:rPr lang="en-US" sz="1500" dirty="0"/>
              <a:t> + 45 GPa + 6 GeV Au ions 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72" name="Content Placeholder 6">
            <a:extLst>
              <a:ext uri="{FF2B5EF4-FFF2-40B4-BE49-F238E27FC236}">
                <a16:creationId xmlns:a16="http://schemas.microsoft.com/office/drawing/2014/main" id="{450AEB1B-6E0E-6757-3A3B-94552509DF66}"/>
              </a:ext>
            </a:extLst>
          </p:cNvPr>
          <p:cNvSpPr txBox="1">
            <a:spLocks/>
          </p:cNvSpPr>
          <p:nvPr/>
        </p:nvSpPr>
        <p:spPr>
          <a:xfrm>
            <a:off x="4058424" y="854986"/>
            <a:ext cx="4090421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/>
              <a:t>II. Phase Transformation</a:t>
            </a:r>
          </a:p>
          <a:p>
            <a:pPr marL="0" indent="0" algn="ctr">
              <a:buNone/>
            </a:pPr>
            <a:r>
              <a:rPr lang="en-US" sz="1500" dirty="0"/>
              <a:t>Graphite + 47 GPa + 6 GeV U ions </a:t>
            </a:r>
            <a:endParaRPr lang="en-US" sz="1500" dirty="0">
              <a:solidFill>
                <a:srgbClr val="000099"/>
              </a:solidFill>
            </a:endParaRPr>
          </a:p>
        </p:txBody>
      </p:sp>
      <p:pic>
        <p:nvPicPr>
          <p:cNvPr id="73" name="Picture 2" descr="graphite 001">
            <a:extLst>
              <a:ext uri="{FF2B5EF4-FFF2-40B4-BE49-F238E27FC236}">
                <a16:creationId xmlns:a16="http://schemas.microsoft.com/office/drawing/2014/main" id="{EBD86DBF-2541-AF41-58D4-89B402E5E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73797" y="1696862"/>
            <a:ext cx="1223593" cy="123015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16">
            <a:extLst>
              <a:ext uri="{FF2B5EF4-FFF2-40B4-BE49-F238E27FC236}">
                <a16:creationId xmlns:a16="http://schemas.microsoft.com/office/drawing/2014/main" id="{5BA5DC2E-125F-CC45-00EB-C754CFB4A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9195" y="4499971"/>
            <a:ext cx="1645411" cy="164810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Picture 19">
            <a:extLst>
              <a:ext uri="{FF2B5EF4-FFF2-40B4-BE49-F238E27FC236}">
                <a16:creationId xmlns:a16="http://schemas.microsoft.com/office/drawing/2014/main" id="{07AEAE15-2985-8D4D-C706-D2FBEE130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0828" y="5438597"/>
            <a:ext cx="693778" cy="694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Picture 3" descr="cubic SAED 2">
            <a:extLst>
              <a:ext uri="{FF2B5EF4-FFF2-40B4-BE49-F238E27FC236}">
                <a16:creationId xmlns:a16="http://schemas.microsoft.com/office/drawing/2014/main" id="{C1396E7C-5F4C-080D-770C-B350A2D57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5635" y="3686127"/>
            <a:ext cx="1229693" cy="122608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4" descr="hex SAED 1">
            <a:extLst>
              <a:ext uri="{FF2B5EF4-FFF2-40B4-BE49-F238E27FC236}">
                <a16:creationId xmlns:a16="http://schemas.microsoft.com/office/drawing/2014/main" id="{41CE3167-B884-6A36-ADF0-764A7F4D8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5454" y="3689241"/>
            <a:ext cx="1235794" cy="12294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A1E5E38-6D4A-E3AE-9201-A53AA6026F64}"/>
              </a:ext>
            </a:extLst>
          </p:cNvPr>
          <p:cNvCxnSpPr>
            <a:cxnSpLocks/>
          </p:cNvCxnSpPr>
          <p:nvPr/>
        </p:nvCxnSpPr>
        <p:spPr>
          <a:xfrm>
            <a:off x="6116233" y="3288081"/>
            <a:ext cx="0" cy="275573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37305C4-1D13-6BAA-8C81-144DC043EDF2}"/>
              </a:ext>
            </a:extLst>
          </p:cNvPr>
          <p:cNvSpPr txBox="1"/>
          <p:nvPr/>
        </p:nvSpPr>
        <p:spPr>
          <a:xfrm>
            <a:off x="1781372" y="1600906"/>
            <a:ext cx="8364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21.5 GPa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14A7770A-B82D-3B6B-5463-5C325343FADE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45647" y="1600906"/>
            <a:ext cx="1337002" cy="1334023"/>
          </a:xfrm>
          <a:prstGeom prst="rect">
            <a:avLst/>
          </a:prstGeom>
        </p:spPr>
      </p:pic>
      <p:pic>
        <p:nvPicPr>
          <p:cNvPr id="81" name="Picture 13" descr="test0.png">
            <a:extLst>
              <a:ext uri="{FF2B5EF4-FFF2-40B4-BE49-F238E27FC236}">
                <a16:creationId xmlns:a16="http://schemas.microsoft.com/office/drawing/2014/main" id="{32CBF3DE-5011-C2B2-8599-29380A206DA2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4562" y="3089895"/>
            <a:ext cx="1384126" cy="133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Picture 81" descr="test2.png">
            <a:extLst>
              <a:ext uri="{FF2B5EF4-FFF2-40B4-BE49-F238E27FC236}">
                <a16:creationId xmlns:a16="http://schemas.microsoft.com/office/drawing/2014/main" id="{74630742-B052-5546-1D98-976935C75380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707" y="3116427"/>
            <a:ext cx="1324748" cy="133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" name="Picture 82" descr="test3.png">
            <a:extLst>
              <a:ext uri="{FF2B5EF4-FFF2-40B4-BE49-F238E27FC236}">
                <a16:creationId xmlns:a16="http://schemas.microsoft.com/office/drawing/2014/main" id="{70CE9B0D-EBE6-B74E-BE85-F1B7079BF2C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3748" y="4675789"/>
            <a:ext cx="1346670" cy="133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Picture 13" descr="test0.png">
            <a:extLst>
              <a:ext uri="{FF2B5EF4-FFF2-40B4-BE49-F238E27FC236}">
                <a16:creationId xmlns:a16="http://schemas.microsoft.com/office/drawing/2014/main" id="{3A2276D7-96F9-5374-EFA7-0E39C8E7E195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637" y="4649257"/>
            <a:ext cx="1337002" cy="133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DA8455F-8904-19D9-8D32-1FDFCCD0EE1E}"/>
              </a:ext>
            </a:extLst>
          </p:cNvPr>
          <p:cNvCxnSpPr>
            <a:cxnSpLocks/>
          </p:cNvCxnSpPr>
          <p:nvPr/>
        </p:nvCxnSpPr>
        <p:spPr>
          <a:xfrm>
            <a:off x="1027138" y="4456234"/>
            <a:ext cx="0" cy="182880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28891DF-52BA-B6A1-2A1E-81C173E6B12B}"/>
              </a:ext>
            </a:extLst>
          </p:cNvPr>
          <p:cNvCxnSpPr>
            <a:cxnSpLocks/>
          </p:cNvCxnSpPr>
          <p:nvPr/>
        </p:nvCxnSpPr>
        <p:spPr>
          <a:xfrm>
            <a:off x="2895604" y="4452785"/>
            <a:ext cx="0" cy="182880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A2780D6-A3E8-5F8D-9214-FDAFD6064AEF}"/>
              </a:ext>
            </a:extLst>
          </p:cNvPr>
          <p:cNvCxnSpPr>
            <a:cxnSpLocks/>
          </p:cNvCxnSpPr>
          <p:nvPr/>
        </p:nvCxnSpPr>
        <p:spPr>
          <a:xfrm rot="1800000">
            <a:off x="1790268" y="2959508"/>
            <a:ext cx="0" cy="275573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3594FC1-5746-6AA4-CCAE-136EAD083F71}"/>
              </a:ext>
            </a:extLst>
          </p:cNvPr>
          <p:cNvCxnSpPr>
            <a:cxnSpLocks/>
          </p:cNvCxnSpPr>
          <p:nvPr/>
        </p:nvCxnSpPr>
        <p:spPr>
          <a:xfrm rot="-1800000">
            <a:off x="2012564" y="2956526"/>
            <a:ext cx="0" cy="275573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 Box 14">
            <a:extLst>
              <a:ext uri="{FF2B5EF4-FFF2-40B4-BE49-F238E27FC236}">
                <a16:creationId xmlns:a16="http://schemas.microsoft.com/office/drawing/2014/main" id="{864B03B7-6F03-19EC-49BD-A5E75CF79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372" y="1582883"/>
            <a:ext cx="9777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200" dirty="0">
                <a:solidFill>
                  <a:srgbClr val="000099"/>
                </a:solidFill>
              </a:rPr>
              <a:t>cotunnite </a:t>
            </a:r>
            <a:endParaRPr lang="en-US" altLang="en-US" sz="1200" baseline="-25000" dirty="0">
              <a:solidFill>
                <a:srgbClr val="000099"/>
              </a:solidFill>
            </a:endParaRP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id="{AEB9197A-3585-8E17-EF60-2D962574C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053" y="3103198"/>
            <a:ext cx="9777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200" dirty="0">
                <a:solidFill>
                  <a:srgbClr val="000099"/>
                </a:solidFill>
              </a:rPr>
              <a:t>X-Phase</a:t>
            </a:r>
            <a:endParaRPr lang="en-US" altLang="en-US" sz="1200" baseline="-25000" dirty="0">
              <a:solidFill>
                <a:srgbClr val="000099"/>
              </a:solidFill>
            </a:endParaRPr>
          </a:p>
        </p:txBody>
      </p:sp>
      <p:sp>
        <p:nvSpPr>
          <p:cNvPr id="91" name="Text Box 14">
            <a:extLst>
              <a:ext uri="{FF2B5EF4-FFF2-40B4-BE49-F238E27FC236}">
                <a16:creationId xmlns:a16="http://schemas.microsoft.com/office/drawing/2014/main" id="{2DF11328-CFDA-1FCE-1AFC-FD5DF1D62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180" y="3355058"/>
            <a:ext cx="9777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200" dirty="0">
                <a:solidFill>
                  <a:srgbClr val="000099"/>
                </a:solidFill>
              </a:rPr>
              <a:t>X-Phase</a:t>
            </a:r>
            <a:endParaRPr lang="en-US" altLang="en-US" sz="1200" baseline="-25000" dirty="0">
              <a:solidFill>
                <a:srgbClr val="000099"/>
              </a:solidFill>
            </a:endParaRP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9FC206AF-E5B5-83C0-5332-5EF8C0A3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367" y="4685711"/>
            <a:ext cx="9777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200" dirty="0">
                <a:solidFill>
                  <a:srgbClr val="000099"/>
                </a:solidFill>
              </a:rPr>
              <a:t>X-Phase</a:t>
            </a:r>
            <a:endParaRPr lang="en-US" altLang="en-US" sz="1200" baseline="-25000" dirty="0">
              <a:solidFill>
                <a:srgbClr val="000099"/>
              </a:solidFill>
            </a:endParaRPr>
          </a:p>
        </p:txBody>
      </p:sp>
      <p:sp>
        <p:nvSpPr>
          <p:cNvPr id="93" name="Text Box 14">
            <a:extLst>
              <a:ext uri="{FF2B5EF4-FFF2-40B4-BE49-F238E27FC236}">
                <a16:creationId xmlns:a16="http://schemas.microsoft.com/office/drawing/2014/main" id="{212539B0-39E5-B5B2-A528-145A4C496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389" y="4923275"/>
            <a:ext cx="6797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200" dirty="0">
                <a:solidFill>
                  <a:srgbClr val="000099"/>
                </a:solidFill>
              </a:rPr>
              <a:t>fluorite</a:t>
            </a:r>
            <a:endParaRPr lang="en-US" altLang="en-US" sz="1200" baseline="-25000" dirty="0">
              <a:solidFill>
                <a:srgbClr val="000099"/>
              </a:solidFill>
            </a:endParaRPr>
          </a:p>
        </p:txBody>
      </p:sp>
      <p:sp>
        <p:nvSpPr>
          <p:cNvPr id="94" name="Text Box 10">
            <a:extLst>
              <a:ext uri="{FF2B5EF4-FFF2-40B4-BE49-F238E27FC236}">
                <a16:creationId xmlns:a16="http://schemas.microsoft.com/office/drawing/2014/main" id="{8B68AE2C-4889-6AFE-565D-900D2A616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952" y="1658140"/>
            <a:ext cx="1118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US" altLang="en-US" sz="1400" dirty="0">
                <a:solidFill>
                  <a:schemeClr val="bg1"/>
                </a:solidFill>
                <a:sym typeface="Wingdings" pitchFamily="2" charset="2"/>
              </a:rPr>
              <a:t>graphite</a:t>
            </a:r>
          </a:p>
        </p:txBody>
      </p:sp>
      <p:sp>
        <p:nvSpPr>
          <p:cNvPr id="95" name="Text Box 10">
            <a:extLst>
              <a:ext uri="{FF2B5EF4-FFF2-40B4-BE49-F238E27FC236}">
                <a16:creationId xmlns:a16="http://schemas.microsoft.com/office/drawing/2014/main" id="{59810BB7-A226-F1E2-F8CA-25C4E67AA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3468" y="1673346"/>
            <a:ext cx="9777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US" altLang="en-US" sz="1400" dirty="0">
                <a:solidFill>
                  <a:srgbClr val="000099"/>
                </a:solidFill>
                <a:sym typeface="Wingdings" pitchFamily="2" charset="2"/>
              </a:rPr>
              <a:t>Ice-III</a:t>
            </a:r>
          </a:p>
        </p:txBody>
      </p:sp>
      <p:sp>
        <p:nvSpPr>
          <p:cNvPr id="96" name="Text Box 10">
            <a:extLst>
              <a:ext uri="{FF2B5EF4-FFF2-40B4-BE49-F238E27FC236}">
                <a16:creationId xmlns:a16="http://schemas.microsoft.com/office/drawing/2014/main" id="{A0319620-B17A-6544-CF07-39AEF4CE6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3696" y="2858008"/>
            <a:ext cx="16849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US" altLang="en-US" sz="1400" dirty="0">
                <a:solidFill>
                  <a:srgbClr val="000099"/>
                </a:solidFill>
                <a:sym typeface="Wingdings" pitchFamily="2" charset="2"/>
              </a:rPr>
              <a:t>amorphous</a:t>
            </a:r>
            <a:endParaRPr lang="en-US" altLang="en-US" sz="1400" baseline="-25000" dirty="0">
              <a:solidFill>
                <a:srgbClr val="000099"/>
              </a:solidFill>
              <a:sym typeface="Wingdings" pitchFamily="2" charset="2"/>
            </a:endParaRPr>
          </a:p>
        </p:txBody>
      </p:sp>
      <p:pic>
        <p:nvPicPr>
          <p:cNvPr id="97" name="Picture 96" descr="test1.png">
            <a:extLst>
              <a:ext uri="{FF2B5EF4-FFF2-40B4-BE49-F238E27FC236}">
                <a16:creationId xmlns:a16="http://schemas.microsoft.com/office/drawing/2014/main" id="{554AD2AC-326B-F689-F81F-84CA9E5BF4BE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5231" y="3905232"/>
            <a:ext cx="1000724" cy="45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97" descr="test1.png">
            <a:extLst>
              <a:ext uri="{FF2B5EF4-FFF2-40B4-BE49-F238E27FC236}">
                <a16:creationId xmlns:a16="http://schemas.microsoft.com/office/drawing/2014/main" id="{E2A9088C-D088-23CE-06B6-EABC461B10A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96210" y="3610225"/>
            <a:ext cx="1015470" cy="457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Picture 13" descr="test0.png">
            <a:extLst>
              <a:ext uri="{FF2B5EF4-FFF2-40B4-BE49-F238E27FC236}">
                <a16:creationId xmlns:a16="http://schemas.microsoft.com/office/drawing/2014/main" id="{78EF213C-EB1D-5D9D-E20D-4FB7D6856548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00565" y="2428064"/>
            <a:ext cx="779025" cy="406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Text Box 10">
            <a:extLst>
              <a:ext uri="{FF2B5EF4-FFF2-40B4-BE49-F238E27FC236}">
                <a16:creationId xmlns:a16="http://schemas.microsoft.com/office/drawing/2014/main" id="{50FBC618-A0A7-F448-A0C2-A5C038075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975" y="4606393"/>
            <a:ext cx="18555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US" altLang="en-US" sz="1400" dirty="0">
                <a:solidFill>
                  <a:schemeClr val="bg1"/>
                </a:solidFill>
                <a:sym typeface="Wingdings" pitchFamily="2" charset="2"/>
              </a:rPr>
              <a:t>cubic diamond </a:t>
            </a:r>
          </a:p>
        </p:txBody>
      </p:sp>
      <p:sp>
        <p:nvSpPr>
          <p:cNvPr id="101" name="Text Box 10">
            <a:extLst>
              <a:ext uri="{FF2B5EF4-FFF2-40B4-BE49-F238E27FC236}">
                <a16:creationId xmlns:a16="http://schemas.microsoft.com/office/drawing/2014/main" id="{A5A94C55-0C72-4927-DBC1-E6E8A11E7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839" y="4640667"/>
            <a:ext cx="16254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US" altLang="en-US" sz="1400" dirty="0">
                <a:solidFill>
                  <a:schemeClr val="bg1"/>
                </a:solidFill>
                <a:sym typeface="Wingdings" pitchFamily="2" charset="2"/>
              </a:rPr>
              <a:t>hex. diamond 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443C47E-0577-66DE-367F-B9D883AA5812}"/>
              </a:ext>
            </a:extLst>
          </p:cNvPr>
          <p:cNvCxnSpPr>
            <a:cxnSpLocks/>
          </p:cNvCxnSpPr>
          <p:nvPr/>
        </p:nvCxnSpPr>
        <p:spPr>
          <a:xfrm>
            <a:off x="3931787" y="989556"/>
            <a:ext cx="0" cy="5220922"/>
          </a:xfrm>
          <a:prstGeom prst="line">
            <a:avLst/>
          </a:prstGeom>
          <a:ln w="38100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069BC73-EA4E-2FAA-57B7-AFABEF25A42E}"/>
              </a:ext>
            </a:extLst>
          </p:cNvPr>
          <p:cNvCxnSpPr>
            <a:cxnSpLocks/>
          </p:cNvCxnSpPr>
          <p:nvPr/>
        </p:nvCxnSpPr>
        <p:spPr>
          <a:xfrm>
            <a:off x="8170165" y="989556"/>
            <a:ext cx="0" cy="5221224"/>
          </a:xfrm>
          <a:prstGeom prst="line">
            <a:avLst/>
          </a:prstGeom>
          <a:ln w="38100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http://www.esrf.eu/news/spotlight/spotlight101/spotlight101-fig1.gif">
            <a:extLst>
              <a:ext uri="{FF2B5EF4-FFF2-40B4-BE49-F238E27FC236}">
                <a16:creationId xmlns:a16="http://schemas.microsoft.com/office/drawing/2014/main" id="{0D3E0CA5-DC93-F26A-0532-7E312C50B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63452" y="4291285"/>
            <a:ext cx="2386359" cy="20135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871D716-BA5F-F2C6-0548-0DD7AB1846E2}"/>
              </a:ext>
            </a:extLst>
          </p:cNvPr>
          <p:cNvCxnSpPr>
            <a:cxnSpLocks/>
          </p:cNvCxnSpPr>
          <p:nvPr/>
        </p:nvCxnSpPr>
        <p:spPr>
          <a:xfrm>
            <a:off x="10411466" y="2193351"/>
            <a:ext cx="287603" cy="448302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" name="Picture 2" descr="Carbon Dioxide (CO2)">
            <a:extLst>
              <a:ext uri="{FF2B5EF4-FFF2-40B4-BE49-F238E27FC236}">
                <a16:creationId xmlns:a16="http://schemas.microsoft.com/office/drawing/2014/main" id="{06913403-ADFB-4713-748F-CA4928A9D6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3601" y="3671910"/>
            <a:ext cx="616964" cy="49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DBF8B22-BFAB-19E1-432A-32402238476A}"/>
              </a:ext>
            </a:extLst>
          </p:cNvPr>
          <p:cNvGrpSpPr/>
          <p:nvPr/>
        </p:nvGrpSpPr>
        <p:grpSpPr>
          <a:xfrm>
            <a:off x="10111747" y="3763298"/>
            <a:ext cx="185871" cy="491546"/>
            <a:chOff x="9476196" y="3493557"/>
            <a:chExt cx="185871" cy="491546"/>
          </a:xfrm>
          <a:solidFill>
            <a:srgbClr val="F9F2E7"/>
          </a:solidFill>
        </p:grpSpPr>
        <p:pic>
          <p:nvPicPr>
            <p:cNvPr id="108" name="Picture 2" descr="Carbon Dioxide (CO2)">
              <a:extLst>
                <a:ext uri="{FF2B5EF4-FFF2-40B4-BE49-F238E27FC236}">
                  <a16:creationId xmlns:a16="http://schemas.microsoft.com/office/drawing/2014/main" id="{02841B5B-3D75-2ACC-CB7C-06BC37D711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4267" y="3493557"/>
              <a:ext cx="177800" cy="491546"/>
            </a:xfrm>
            <a:prstGeom prst="rect">
              <a:avLst/>
            </a:prstGeom>
            <a:grpFill/>
            <a:ln>
              <a:solidFill>
                <a:srgbClr val="F9F2E7"/>
              </a:solidFill>
            </a:ln>
          </p:spPr>
        </p:pic>
        <p:sp>
          <p:nvSpPr>
            <p:cNvPr id="109" name="Block Arc 108">
              <a:extLst>
                <a:ext uri="{FF2B5EF4-FFF2-40B4-BE49-F238E27FC236}">
                  <a16:creationId xmlns:a16="http://schemas.microsoft.com/office/drawing/2014/main" id="{77B5E763-7F45-1DBC-7994-5ECDA5126022}"/>
                </a:ext>
              </a:extLst>
            </p:cNvPr>
            <p:cNvSpPr/>
            <p:nvPr/>
          </p:nvSpPr>
          <p:spPr>
            <a:xfrm rot="13703015">
              <a:off x="9428250" y="3629572"/>
              <a:ext cx="237977" cy="142085"/>
            </a:xfrm>
            <a:prstGeom prst="blockArc">
              <a:avLst/>
            </a:prstGeom>
            <a:grpFill/>
            <a:ln>
              <a:solidFill>
                <a:srgbClr val="F9F2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B0637A2-4767-DFB5-EBB6-094A3205E6CF}"/>
              </a:ext>
            </a:extLst>
          </p:cNvPr>
          <p:cNvGrpSpPr/>
          <p:nvPr/>
        </p:nvGrpSpPr>
        <p:grpSpPr>
          <a:xfrm>
            <a:off x="9774618" y="3763298"/>
            <a:ext cx="230835" cy="491546"/>
            <a:chOff x="9692168" y="3969734"/>
            <a:chExt cx="230835" cy="491546"/>
          </a:xfrm>
          <a:solidFill>
            <a:srgbClr val="F9F2E7"/>
          </a:solidFill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5913196-6A1D-24A1-BB7A-E28B6A89FF52}"/>
                </a:ext>
              </a:extLst>
            </p:cNvPr>
            <p:cNvGrpSpPr/>
            <p:nvPr/>
          </p:nvGrpSpPr>
          <p:grpSpPr>
            <a:xfrm>
              <a:off x="9711924" y="3969734"/>
              <a:ext cx="211079" cy="491546"/>
              <a:chOff x="9663493" y="3976896"/>
              <a:chExt cx="211079" cy="491546"/>
            </a:xfrm>
            <a:grpFill/>
          </p:grpSpPr>
          <p:pic>
            <p:nvPicPr>
              <p:cNvPr id="113" name="Picture 2" descr="Carbon Dioxide (CO2)">
                <a:extLst>
                  <a:ext uri="{FF2B5EF4-FFF2-40B4-BE49-F238E27FC236}">
                    <a16:creationId xmlns:a16="http://schemas.microsoft.com/office/drawing/2014/main" id="{C9F3D956-1DD1-444D-2C19-0C855A8355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4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63493" y="3976896"/>
                <a:ext cx="186267" cy="491546"/>
              </a:xfrm>
              <a:prstGeom prst="rect">
                <a:avLst/>
              </a:prstGeom>
              <a:grpFill/>
              <a:ln>
                <a:solidFill>
                  <a:srgbClr val="F9F2E7"/>
                </a:solidFill>
              </a:ln>
            </p:spPr>
          </p:pic>
          <p:sp>
            <p:nvSpPr>
              <p:cNvPr id="114" name="Block Arc 113">
                <a:extLst>
                  <a:ext uri="{FF2B5EF4-FFF2-40B4-BE49-F238E27FC236}">
                    <a16:creationId xmlns:a16="http://schemas.microsoft.com/office/drawing/2014/main" id="{7F887533-07DB-CDBB-0613-EE93B9DD7716}"/>
                  </a:ext>
                </a:extLst>
              </p:cNvPr>
              <p:cNvSpPr/>
              <p:nvPr/>
            </p:nvSpPr>
            <p:spPr>
              <a:xfrm rot="4386215">
                <a:off x="9684541" y="4177513"/>
                <a:ext cx="237977" cy="142085"/>
              </a:xfrm>
              <a:prstGeom prst="blockArc">
                <a:avLst/>
              </a:prstGeom>
              <a:grpFill/>
              <a:ln>
                <a:solidFill>
                  <a:srgbClr val="F9F2E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" name="Block Arc 111">
              <a:extLst>
                <a:ext uri="{FF2B5EF4-FFF2-40B4-BE49-F238E27FC236}">
                  <a16:creationId xmlns:a16="http://schemas.microsoft.com/office/drawing/2014/main" id="{38574420-84E3-B430-5D5E-9CC79EBD6F06}"/>
                </a:ext>
              </a:extLst>
            </p:cNvPr>
            <p:cNvSpPr/>
            <p:nvPr/>
          </p:nvSpPr>
          <p:spPr>
            <a:xfrm rot="14560610">
              <a:off x="9644222" y="4191399"/>
              <a:ext cx="237977" cy="142085"/>
            </a:xfrm>
            <a:prstGeom prst="blockArc">
              <a:avLst/>
            </a:prstGeom>
            <a:grpFill/>
            <a:ln>
              <a:solidFill>
                <a:srgbClr val="F9F2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154EC48-7BE7-8FB1-7CA3-C034BB8A4C97}"/>
              </a:ext>
            </a:extLst>
          </p:cNvPr>
          <p:cNvGrpSpPr/>
          <p:nvPr/>
        </p:nvGrpSpPr>
        <p:grpSpPr>
          <a:xfrm>
            <a:off x="9852332" y="3487267"/>
            <a:ext cx="185871" cy="327031"/>
            <a:chOff x="9476196" y="3493557"/>
            <a:chExt cx="185871" cy="327031"/>
          </a:xfrm>
          <a:solidFill>
            <a:srgbClr val="F9F2E7"/>
          </a:solidFill>
        </p:grpSpPr>
        <p:pic>
          <p:nvPicPr>
            <p:cNvPr id="116" name="Picture 2" descr="Carbon Dioxide (CO2)">
              <a:extLst>
                <a:ext uri="{FF2B5EF4-FFF2-40B4-BE49-F238E27FC236}">
                  <a16:creationId xmlns:a16="http://schemas.microsoft.com/office/drawing/2014/main" id="{992B0D8A-ED08-2D69-D1A6-2B95924C52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4267" y="3493557"/>
              <a:ext cx="177800" cy="327031"/>
            </a:xfrm>
            <a:prstGeom prst="rect">
              <a:avLst/>
            </a:prstGeom>
            <a:grpFill/>
            <a:ln>
              <a:solidFill>
                <a:srgbClr val="F9F2E7"/>
              </a:solidFill>
            </a:ln>
          </p:spPr>
        </p:pic>
        <p:sp>
          <p:nvSpPr>
            <p:cNvPr id="117" name="Block Arc 116">
              <a:extLst>
                <a:ext uri="{FF2B5EF4-FFF2-40B4-BE49-F238E27FC236}">
                  <a16:creationId xmlns:a16="http://schemas.microsoft.com/office/drawing/2014/main" id="{3B350108-FC18-AE04-EF84-C35893DE021F}"/>
                </a:ext>
              </a:extLst>
            </p:cNvPr>
            <p:cNvSpPr/>
            <p:nvPr/>
          </p:nvSpPr>
          <p:spPr>
            <a:xfrm rot="13703015">
              <a:off x="9428250" y="3629572"/>
              <a:ext cx="237977" cy="142085"/>
            </a:xfrm>
            <a:prstGeom prst="blockArc">
              <a:avLst/>
            </a:prstGeom>
            <a:grpFill/>
            <a:ln>
              <a:solidFill>
                <a:srgbClr val="F9F2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8" name="Picture 17" descr="http://www.arizonaiceman.com/images/Design/dryice.gif">
            <a:extLst>
              <a:ext uri="{FF2B5EF4-FFF2-40B4-BE49-F238E27FC236}">
                <a16:creationId xmlns:a16="http://schemas.microsoft.com/office/drawing/2014/main" id="{1AEC9853-6EF3-CFC4-7AC4-58F246290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47674" y="1862516"/>
            <a:ext cx="518271" cy="570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4" descr="Page 9 | Simple diamond Images - Free Download on Freepik">
            <a:extLst>
              <a:ext uri="{FF2B5EF4-FFF2-40B4-BE49-F238E27FC236}">
                <a16:creationId xmlns:a16="http://schemas.microsoft.com/office/drawing/2014/main" id="{9F3389F8-2F48-B283-83D2-49F6EBD4F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1735" y="5340872"/>
            <a:ext cx="660906" cy="66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6" descr="HOPG SPI Supplies Brand Grade SPI-2 10x10x1 mm Thick, Package of 1 Piece |  436HP-AB | SPI Supplies">
            <a:extLst>
              <a:ext uri="{FF2B5EF4-FFF2-40B4-BE49-F238E27FC236}">
                <a16:creationId xmlns:a16="http://schemas.microsoft.com/office/drawing/2014/main" id="{97E32920-4D85-BA8B-DD02-C846B35FA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4098" y="1986138"/>
            <a:ext cx="787739" cy="59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 Box 70">
            <a:extLst>
              <a:ext uri="{FF2B5EF4-FFF2-40B4-BE49-F238E27FC236}">
                <a16:creationId xmlns:a16="http://schemas.microsoft.com/office/drawing/2014/main" id="{C4303DAC-5E9C-19B2-DE23-E390F8D15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6570" y="5357544"/>
            <a:ext cx="136037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FR" altLang="en-US" sz="1300" dirty="0">
                <a:solidFill>
                  <a:srgbClr val="000000"/>
                </a:solidFill>
                <a:latin typeface="Times New Roman" pitchFamily="18" charset="0"/>
              </a:rPr>
              <a:t>J.M. Hirtz, </a:t>
            </a:r>
            <a:r>
              <a:rPr lang="fr-FR" altLang="en-US" sz="1300" i="1" dirty="0">
                <a:solidFill>
                  <a:srgbClr val="000000"/>
                </a:solidFill>
                <a:latin typeface="Times New Roman" pitchFamily="18" charset="0"/>
              </a:rPr>
              <a:t>et al</a:t>
            </a:r>
            <a:r>
              <a:rPr lang="fr-FR" altLang="en-US" sz="1300" dirty="0">
                <a:solidFill>
                  <a:srgbClr val="000000"/>
                </a:solidFill>
                <a:latin typeface="Times New Roman" pitchFamily="18" charset="0"/>
              </a:rPr>
              <a:t>., in </a:t>
            </a:r>
            <a:r>
              <a:rPr lang="fr-FR" altLang="en-US" sz="1300" dirty="0" err="1">
                <a:solidFill>
                  <a:srgbClr val="000000"/>
                </a:solidFill>
                <a:latin typeface="Times New Roman" pitchFamily="18" charset="0"/>
              </a:rPr>
              <a:t>preparation</a:t>
            </a:r>
            <a:endParaRPr lang="en-US" altLang="en-US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0" name="Text Box 70">
            <a:extLst>
              <a:ext uri="{FF2B5EF4-FFF2-40B4-BE49-F238E27FC236}">
                <a16:creationId xmlns:a16="http://schemas.microsoft.com/office/drawing/2014/main" id="{3D91F916-CA77-81EE-EB6A-2B9C0229E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369" y="6133002"/>
            <a:ext cx="1360377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FR" altLang="en-US" sz="1300" dirty="0" err="1">
                <a:solidFill>
                  <a:srgbClr val="000000"/>
                </a:solidFill>
                <a:latin typeface="Times New Roman" pitchFamily="18" charset="0"/>
              </a:rPr>
              <a:t>unpublished</a:t>
            </a:r>
            <a:r>
              <a:rPr lang="fr-FR" altLang="en-US" sz="1300" dirty="0">
                <a:solidFill>
                  <a:srgbClr val="000000"/>
                </a:solidFill>
                <a:latin typeface="Times New Roman" pitchFamily="18" charset="0"/>
              </a:rPr>
              <a:t> data  </a:t>
            </a:r>
            <a:endParaRPr lang="en-US" altLang="en-US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15C1D-C2DB-D138-FEE7-A60CAAAF7F41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7BA72-EA46-D437-04E8-3AF218A6B205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24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94" grpId="0"/>
      <p:bldP spid="95" grpId="0"/>
      <p:bldP spid="96" grpId="0"/>
      <p:bldP spid="100" grpId="0"/>
      <p:bldP spid="101" grpId="0"/>
      <p:bldP spid="121" grpId="0"/>
      <p:bldP spid="1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7852-094F-49DD-1690-D156AC5C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23A305C1-47DB-BEDB-880A-95A885E16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3CD7BB-5698-F58A-4471-EFF16512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49A7B789-5ABD-1BCE-9DBF-190A285447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120D84-3DAF-0AFA-5257-25AB766585B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495BE157-8228-9472-191E-FB8EAD65E1F2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Subsequent </a:t>
            </a:r>
            <a:r>
              <a:rPr lang="en-US" sz="3200" b="1" i="1" dirty="0">
                <a:solidFill>
                  <a:srgbClr val="661303"/>
                </a:solidFill>
                <a:latin typeface="Arial"/>
                <a:cs typeface="Arial"/>
              </a:rPr>
              <a:t>vs.</a:t>
            </a:r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 Simultaneous Coupled Extremes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4971A6-8A58-57F8-A3E9-CCA7F7C2106E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BEE1BEC-2CC9-ADB5-A3D9-2AFEA3FAFC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05447" y="3287458"/>
            <a:ext cx="1492250" cy="110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32">
            <a:extLst>
              <a:ext uri="{FF2B5EF4-FFF2-40B4-BE49-F238E27FC236}">
                <a16:creationId xmlns:a16="http://schemas.microsoft.com/office/drawing/2014/main" id="{DEEAAF6E-FE97-EDAC-8587-06160C821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796" y="4400049"/>
            <a:ext cx="1404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400" dirty="0"/>
              <a:t>undamaged (cubic)</a:t>
            </a:r>
          </a:p>
        </p:txBody>
      </p:sp>
      <p:pic>
        <p:nvPicPr>
          <p:cNvPr id="68" name="Picture 11">
            <a:extLst>
              <a:ext uri="{FF2B5EF4-FFF2-40B4-BE49-F238E27FC236}">
                <a16:creationId xmlns:a16="http://schemas.microsoft.com/office/drawing/2014/main" id="{7022FDC7-7D49-A699-9FE8-309B6499594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22997" y="3843083"/>
            <a:ext cx="774700" cy="549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 Box 14">
            <a:extLst>
              <a:ext uri="{FF2B5EF4-FFF2-40B4-BE49-F238E27FC236}">
                <a16:creationId xmlns:a16="http://schemas.microsoft.com/office/drawing/2014/main" id="{5120DB92-32EC-7CEA-5502-C883DEDA1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47" y="2923757"/>
            <a:ext cx="658812" cy="322262"/>
          </a:xfrm>
          <a:prstGeom prst="rect">
            <a:avLst/>
          </a:prstGeom>
          <a:solidFill>
            <a:srgbClr val="33CC33">
              <a:alpha val="4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5400000" algn="t" rotWithShape="0">
              <a:srgbClr val="808080">
                <a:alpha val="39998"/>
              </a:srgbClr>
            </a:outerShdw>
          </a:effec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Arial" charset="0"/>
              <a:buNone/>
              <a:defRPr/>
            </a:pPr>
            <a:r>
              <a:rPr lang="en-US" sz="1500" dirty="0"/>
              <a:t>CeO</a:t>
            </a:r>
            <a:r>
              <a:rPr lang="en-US" sz="1500" baseline="-25000" dirty="0"/>
              <a:t>2</a:t>
            </a:r>
            <a:endParaRPr lang="en-US" sz="15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C396DCF-3A7C-BD33-572A-13A850DDFCFB}"/>
              </a:ext>
            </a:extLst>
          </p:cNvPr>
          <p:cNvCxnSpPr>
            <a:cxnSpLocks/>
          </p:cNvCxnSpPr>
          <p:nvPr/>
        </p:nvCxnSpPr>
        <p:spPr>
          <a:xfrm flipV="1">
            <a:off x="6144921" y="2610635"/>
            <a:ext cx="0" cy="603504"/>
          </a:xfrm>
          <a:prstGeom prst="straightConnector1">
            <a:avLst/>
          </a:prstGeom>
          <a:ln w="28575">
            <a:round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4100CA07-A815-26A6-C7D8-ADABB1A3AD2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26721" y="1438513"/>
            <a:ext cx="1454150" cy="1106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0">
            <a:extLst>
              <a:ext uri="{FF2B5EF4-FFF2-40B4-BE49-F238E27FC236}">
                <a16:creationId xmlns:a16="http://schemas.microsoft.com/office/drawing/2014/main" id="{944D796E-0EC0-52A0-144F-569142080A9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07759" y="1997312"/>
            <a:ext cx="774700" cy="549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TextBox 32">
            <a:extLst>
              <a:ext uri="{FF2B5EF4-FFF2-40B4-BE49-F238E27FC236}">
                <a16:creationId xmlns:a16="http://schemas.microsoft.com/office/drawing/2014/main" id="{1D40735B-15BD-7326-8E3A-4EB1BFE86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763" y="3287458"/>
            <a:ext cx="5533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dirty="0"/>
              <a:t>+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BC6C08F-39B3-F270-8E7A-9A647EC183C3}"/>
              </a:ext>
            </a:extLst>
          </p:cNvPr>
          <p:cNvCxnSpPr>
            <a:cxnSpLocks/>
          </p:cNvCxnSpPr>
          <p:nvPr/>
        </p:nvCxnSpPr>
        <p:spPr>
          <a:xfrm>
            <a:off x="6141651" y="4484066"/>
            <a:ext cx="0" cy="603504"/>
          </a:xfrm>
          <a:prstGeom prst="straightConnector1">
            <a:avLst/>
          </a:prstGeom>
          <a:ln w="28575">
            <a:round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8CE3C10-F624-4DCD-695F-8D701FA032D6}"/>
              </a:ext>
            </a:extLst>
          </p:cNvPr>
          <p:cNvGrpSpPr/>
          <p:nvPr/>
        </p:nvGrpSpPr>
        <p:grpSpPr>
          <a:xfrm>
            <a:off x="6946349" y="1533163"/>
            <a:ext cx="774700" cy="763956"/>
            <a:chOff x="7257907" y="1211955"/>
            <a:chExt cx="513664" cy="506540"/>
          </a:xfrm>
        </p:grpSpPr>
        <p:pic>
          <p:nvPicPr>
            <p:cNvPr id="76" name="Picture 75" descr="test1.png">
              <a:extLst>
                <a:ext uri="{FF2B5EF4-FFF2-40B4-BE49-F238E27FC236}">
                  <a16:creationId xmlns:a16="http://schemas.microsoft.com/office/drawing/2014/main" id="{5E031F61-4941-E7DF-33AA-A8D720F622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"/>
            <a:stretch>
              <a:fillRect/>
            </a:stretch>
          </p:blipFill>
          <p:spPr bwMode="auto">
            <a:xfrm>
              <a:off x="7257907" y="1211955"/>
              <a:ext cx="513664" cy="408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" name="Picture 76" descr="test1.png">
              <a:extLst>
                <a:ext uri="{FF2B5EF4-FFF2-40B4-BE49-F238E27FC236}">
                  <a16:creationId xmlns:a16="http://schemas.microsoft.com/office/drawing/2014/main" id="{32DFA58E-398C-1D4C-0D43-6E75CE938C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6206" y="1610997"/>
              <a:ext cx="447486" cy="10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8" name="TextBox 32">
            <a:extLst>
              <a:ext uri="{FF2B5EF4-FFF2-40B4-BE49-F238E27FC236}">
                <a16:creationId xmlns:a16="http://schemas.microsoft.com/office/drawing/2014/main" id="{EDAB5232-0C63-2D97-86A1-142846855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485" y="2723702"/>
            <a:ext cx="399510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l-GR" altLang="en-US" sz="2000" i="1" dirty="0"/>
              <a:t>Φ</a:t>
            </a:r>
            <a:endParaRPr lang="en-US" altLang="en-US" sz="2000" i="1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7DD6BB94-15E6-029A-2F12-CFA6817583A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29666" y="5155487"/>
            <a:ext cx="1439863" cy="110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5">
            <a:extLst>
              <a:ext uri="{FF2B5EF4-FFF2-40B4-BE49-F238E27FC236}">
                <a16:creationId xmlns:a16="http://schemas.microsoft.com/office/drawing/2014/main" id="{FE5A1787-893B-F46C-14EC-38AD171F647A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4829" y="5711275"/>
            <a:ext cx="774700" cy="5475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32">
            <a:extLst>
              <a:ext uri="{FF2B5EF4-FFF2-40B4-BE49-F238E27FC236}">
                <a16:creationId xmlns:a16="http://schemas.microsoft.com/office/drawing/2014/main" id="{E5007568-73EB-DA85-D50D-4AD58C52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940" y="6253751"/>
            <a:ext cx="18653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400" dirty="0"/>
              <a:t>defective (cubic)</a:t>
            </a:r>
          </a:p>
        </p:txBody>
      </p:sp>
      <p:pic>
        <p:nvPicPr>
          <p:cNvPr id="83" name="Picture 13" descr="test0.png">
            <a:extLst>
              <a:ext uri="{FF2B5EF4-FFF2-40B4-BE49-F238E27FC236}">
                <a16:creationId xmlns:a16="http://schemas.microsoft.com/office/drawing/2014/main" id="{3D3FEA0F-36D5-4009-7BF8-B7DCA26A3D59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36712" y="5466400"/>
            <a:ext cx="1114874" cy="58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56ACA628-67E6-3470-22E6-0BDA986BEE24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802354" y="3287458"/>
            <a:ext cx="1441450" cy="110490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6" name="Picture 12">
            <a:extLst>
              <a:ext uri="{FF2B5EF4-FFF2-40B4-BE49-F238E27FC236}">
                <a16:creationId xmlns:a16="http://schemas.microsoft.com/office/drawing/2014/main" id="{F7CCA140-A7C4-975D-9FD0-DB5C81A3CC0E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69104" y="3844231"/>
            <a:ext cx="774700" cy="5488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FD6B1ACB-D12D-0C0B-ADCB-528C57F0895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8915033" y="3287458"/>
            <a:ext cx="1462087" cy="110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13">
            <a:extLst>
              <a:ext uri="{FF2B5EF4-FFF2-40B4-BE49-F238E27FC236}">
                <a16:creationId xmlns:a16="http://schemas.microsoft.com/office/drawing/2014/main" id="{93529FBC-5648-EA03-A214-10F6340B3D18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2420" y="3844671"/>
            <a:ext cx="774700" cy="547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32">
            <a:extLst>
              <a:ext uri="{FF2B5EF4-FFF2-40B4-BE49-F238E27FC236}">
                <a16:creationId xmlns:a16="http://schemas.microsoft.com/office/drawing/2014/main" id="{0C87E9DF-3F08-C802-BD52-76E667F12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3986" y="4547873"/>
            <a:ext cx="399510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i="1" dirty="0"/>
              <a:t>P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B4260B8-BCD8-7559-E733-15CC80D8122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309671" y="3062770"/>
            <a:ext cx="0" cy="1618488"/>
          </a:xfrm>
          <a:prstGeom prst="straightConnector1">
            <a:avLst/>
          </a:prstGeom>
          <a:ln w="28575">
            <a:round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32">
            <a:extLst>
              <a:ext uri="{FF2B5EF4-FFF2-40B4-BE49-F238E27FC236}">
                <a16:creationId xmlns:a16="http://schemas.microsoft.com/office/drawing/2014/main" id="{D0B21240-98ED-287C-C843-3CBD44E40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786" y="3290202"/>
            <a:ext cx="399510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l-GR" altLang="en-US" sz="2000" i="1" dirty="0"/>
              <a:t>Φ</a:t>
            </a:r>
            <a:endParaRPr lang="en-US" altLang="en-US" sz="2000" i="1" dirty="0"/>
          </a:p>
        </p:txBody>
      </p:sp>
      <p:sp>
        <p:nvSpPr>
          <p:cNvPr id="93" name="TextBox 32">
            <a:extLst>
              <a:ext uri="{FF2B5EF4-FFF2-40B4-BE49-F238E27FC236}">
                <a16:creationId xmlns:a16="http://schemas.microsoft.com/office/drawing/2014/main" id="{8CE8BF21-DE4C-ECA1-6057-91811F15F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628" y="3287458"/>
            <a:ext cx="399510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i="1" dirty="0"/>
              <a:t>P</a:t>
            </a:r>
          </a:p>
        </p:txBody>
      </p:sp>
      <p:sp>
        <p:nvSpPr>
          <p:cNvPr id="94" name="TextBox 32">
            <a:extLst>
              <a:ext uri="{FF2B5EF4-FFF2-40B4-BE49-F238E27FC236}">
                <a16:creationId xmlns:a16="http://schemas.microsoft.com/office/drawing/2014/main" id="{9C41C859-6277-4C32-FD3D-0EE303405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405" y="1116322"/>
            <a:ext cx="18653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400" dirty="0"/>
              <a:t>defective (cubic)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9FA1FB7-0BCA-5666-60EB-E517000A518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98230" y="3064038"/>
            <a:ext cx="0" cy="1618488"/>
          </a:xfrm>
          <a:prstGeom prst="straightConnector1">
            <a:avLst/>
          </a:prstGeom>
          <a:ln w="28575">
            <a:round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32">
            <a:extLst>
              <a:ext uri="{FF2B5EF4-FFF2-40B4-BE49-F238E27FC236}">
                <a16:creationId xmlns:a16="http://schemas.microsoft.com/office/drawing/2014/main" id="{CD33F483-CBA1-AB28-6C99-4753EA7AC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422" y="4393984"/>
            <a:ext cx="18653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400" dirty="0"/>
              <a:t>defective (cubic)</a:t>
            </a:r>
          </a:p>
        </p:txBody>
      </p:sp>
      <p:sp>
        <p:nvSpPr>
          <p:cNvPr id="97" name="TextBox 32">
            <a:extLst>
              <a:ext uri="{FF2B5EF4-FFF2-40B4-BE49-F238E27FC236}">
                <a16:creationId xmlns:a16="http://schemas.microsoft.com/office/drawing/2014/main" id="{FC7D1394-45D3-5474-C981-3A7A9819A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419" y="4400049"/>
            <a:ext cx="18653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400" dirty="0"/>
              <a:t>high-P phase (orthorhombic)</a:t>
            </a:r>
          </a:p>
        </p:txBody>
      </p:sp>
      <p:sp>
        <p:nvSpPr>
          <p:cNvPr id="98" name="TextBox 32">
            <a:extLst>
              <a:ext uri="{FF2B5EF4-FFF2-40B4-BE49-F238E27FC236}">
                <a16:creationId xmlns:a16="http://schemas.microsoft.com/office/drawing/2014/main" id="{68FCDA96-A18A-B2EA-8317-16CF516CD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844" y="3290202"/>
            <a:ext cx="864074" cy="40011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l-GR" altLang="en-US" sz="2000" i="1" dirty="0"/>
              <a:t>Φ</a:t>
            </a:r>
            <a:r>
              <a:rPr lang="en-US" altLang="en-US" sz="2000" i="1" dirty="0"/>
              <a:t> + P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4CC643C-1A02-0036-B4D8-4FF6B3BCE3D1}"/>
              </a:ext>
            </a:extLst>
          </p:cNvPr>
          <p:cNvGrpSpPr/>
          <p:nvPr/>
        </p:nvGrpSpPr>
        <p:grpSpPr>
          <a:xfrm>
            <a:off x="875750" y="2957770"/>
            <a:ext cx="774700" cy="763956"/>
            <a:chOff x="7257907" y="1211955"/>
            <a:chExt cx="513664" cy="506540"/>
          </a:xfrm>
        </p:grpSpPr>
        <p:pic>
          <p:nvPicPr>
            <p:cNvPr id="100" name="Picture 99" descr="test1.png">
              <a:extLst>
                <a:ext uri="{FF2B5EF4-FFF2-40B4-BE49-F238E27FC236}">
                  <a16:creationId xmlns:a16="http://schemas.microsoft.com/office/drawing/2014/main" id="{404D6A11-FEAD-5539-DB83-3675AE4C9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"/>
            <a:stretch>
              <a:fillRect/>
            </a:stretch>
          </p:blipFill>
          <p:spPr bwMode="auto">
            <a:xfrm>
              <a:off x="7257907" y="1211955"/>
              <a:ext cx="513664" cy="408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100" descr="test1.png">
              <a:extLst>
                <a:ext uri="{FF2B5EF4-FFF2-40B4-BE49-F238E27FC236}">
                  <a16:creationId xmlns:a16="http://schemas.microsoft.com/office/drawing/2014/main" id="{7B16DCD5-7C74-7ECE-87EE-515CD78D6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6206" y="1610997"/>
              <a:ext cx="447486" cy="10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" name="Picture 13" descr="test0.png">
            <a:extLst>
              <a:ext uri="{FF2B5EF4-FFF2-40B4-BE49-F238E27FC236}">
                <a16:creationId xmlns:a16="http://schemas.microsoft.com/office/drawing/2014/main" id="{47402FDA-6627-1162-2CE3-14A062B239BC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596" y="3844671"/>
            <a:ext cx="1114874" cy="58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Picture 102" descr="test1.png">
            <a:extLst>
              <a:ext uri="{FF2B5EF4-FFF2-40B4-BE49-F238E27FC236}">
                <a16:creationId xmlns:a16="http://schemas.microsoft.com/office/drawing/2014/main" id="{F62F797E-5563-DEE0-6622-F95A51BE8E6C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78732" y="3534713"/>
            <a:ext cx="1497215" cy="674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Content Placeholder 6">
            <a:extLst>
              <a:ext uri="{FF2B5EF4-FFF2-40B4-BE49-F238E27FC236}">
                <a16:creationId xmlns:a16="http://schemas.microsoft.com/office/drawing/2014/main" id="{AEB91E81-6FD4-DE44-E25A-5CE6BDC24C67}"/>
              </a:ext>
            </a:extLst>
          </p:cNvPr>
          <p:cNvSpPr txBox="1">
            <a:spLocks/>
          </p:cNvSpPr>
          <p:nvPr/>
        </p:nvSpPr>
        <p:spPr>
          <a:xfrm>
            <a:off x="292473" y="1070314"/>
            <a:ext cx="4511323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/>
              <a:t>Subsequent Coupling of Extremes </a:t>
            </a:r>
          </a:p>
          <a:p>
            <a:pPr marL="0" indent="0" algn="ctr">
              <a:buNone/>
            </a:pPr>
            <a:r>
              <a:rPr lang="en-US" sz="1500" dirty="0"/>
              <a:t>CeO</a:t>
            </a:r>
            <a:r>
              <a:rPr lang="en-US" sz="1500" baseline="-25000" dirty="0"/>
              <a:t>2</a:t>
            </a:r>
            <a:r>
              <a:rPr lang="en-US" sz="1500" dirty="0"/>
              <a:t> + 35 GPa + 1.7 GeV </a:t>
            </a:r>
            <a:r>
              <a:rPr lang="en-US" sz="1500" baseline="30000" dirty="0"/>
              <a:t>197</a:t>
            </a:r>
            <a:r>
              <a:rPr lang="en-US" sz="1500" dirty="0"/>
              <a:t>Au ions 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105" name="Content Placeholder 6">
            <a:extLst>
              <a:ext uri="{FF2B5EF4-FFF2-40B4-BE49-F238E27FC236}">
                <a16:creationId xmlns:a16="http://schemas.microsoft.com/office/drawing/2014/main" id="{5859FF4B-D629-CB95-6A8D-898936A30991}"/>
              </a:ext>
            </a:extLst>
          </p:cNvPr>
          <p:cNvSpPr txBox="1">
            <a:spLocks/>
          </p:cNvSpPr>
          <p:nvPr/>
        </p:nvSpPr>
        <p:spPr>
          <a:xfrm>
            <a:off x="7663441" y="1071476"/>
            <a:ext cx="4511323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/>
              <a:t>Simultaneous Coupling of Extremes </a:t>
            </a:r>
          </a:p>
          <a:p>
            <a:pPr marL="0" indent="0" algn="ctr">
              <a:buNone/>
            </a:pPr>
            <a:r>
              <a:rPr lang="en-US" sz="1500" dirty="0"/>
              <a:t>CeO</a:t>
            </a:r>
            <a:r>
              <a:rPr lang="en-US" sz="1500" baseline="-25000" dirty="0"/>
              <a:t>2</a:t>
            </a:r>
            <a:r>
              <a:rPr lang="en-US" sz="1500" dirty="0"/>
              <a:t> + 20 GPa + 7 GeV </a:t>
            </a:r>
            <a:r>
              <a:rPr lang="en-US" sz="1500" baseline="30000" dirty="0"/>
              <a:t>238</a:t>
            </a:r>
            <a:r>
              <a:rPr lang="en-US" sz="1500" dirty="0"/>
              <a:t>U ions 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A2281-5707-913A-2121-9619A6E80FBE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92F62-254A-AC83-D8C7-07CAC4849009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466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8" grpId="0" animBg="1"/>
      <p:bldP spid="82" grpId="0"/>
      <p:bldP spid="89" grpId="0" animBg="1"/>
      <p:bldP spid="92" grpId="0" animBg="1"/>
      <p:bldP spid="93" grpId="0" animBg="1"/>
      <p:bldP spid="94" grpId="0"/>
      <p:bldP spid="96" grpId="0"/>
      <p:bldP spid="97" grpId="0"/>
      <p:bldP spid="98" grpId="0" animBg="1"/>
      <p:bldP spid="104" grpId="0"/>
      <p:bldP spid="10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34C4-02F5-CEC5-4AE6-BC249052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A5595366-A5F0-D8CA-9267-185E4C12F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7B0C82-7843-7D4A-5CDF-ADCEDFD6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86AF190F-CCE9-E31C-A591-715C69E2BB7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A3684AD-E29E-DEEC-1C04-8C3D0C62D8B4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0DCD1137-1751-E129-2ABD-CE20A11AFA51}"/>
              </a:ext>
            </a:extLst>
          </p:cNvPr>
          <p:cNvSpPr txBox="1">
            <a:spLocks/>
          </p:cNvSpPr>
          <p:nvPr/>
        </p:nvSpPr>
        <p:spPr>
          <a:xfrm>
            <a:off x="121545" y="136524"/>
            <a:ext cx="9892813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Synergistic Effects of Coupled Extremes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83CD280-F102-59FC-692A-D9F976CAD087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7951C-C401-C90F-695E-985149A3169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2606" y="3457934"/>
            <a:ext cx="2385962" cy="3290966"/>
          </a:xfrm>
          <a:prstGeom prst="rect">
            <a:avLst/>
          </a:prstGeom>
        </p:spPr>
      </p:pic>
      <p:pic>
        <p:nvPicPr>
          <p:cNvPr id="4" name="Imagen 11">
            <a:extLst>
              <a:ext uri="{FF2B5EF4-FFF2-40B4-BE49-F238E27FC236}">
                <a16:creationId xmlns:a16="http://schemas.microsoft.com/office/drawing/2014/main" id="{76C5489E-E4F4-1664-8152-4BF6B7F6564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507" y="1138428"/>
            <a:ext cx="2134467" cy="204573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AF3AB7-336C-76BD-D85D-ACB2E61D2BE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4123" y="1672968"/>
            <a:ext cx="1669617" cy="17364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44265D-8E5B-2E10-1EA1-356589C5B1B4}"/>
              </a:ext>
            </a:extLst>
          </p:cNvPr>
          <p:cNvSpPr/>
          <p:nvPr/>
        </p:nvSpPr>
        <p:spPr>
          <a:xfrm>
            <a:off x="3194123" y="1129067"/>
            <a:ext cx="2134467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RBS/C @ TIBML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6753B9-7F3B-5E7B-AC93-3C5E5A167104}"/>
              </a:ext>
            </a:extLst>
          </p:cNvPr>
          <p:cNvSpPr txBox="1">
            <a:spLocks/>
          </p:cNvSpPr>
          <p:nvPr/>
        </p:nvSpPr>
        <p:spPr>
          <a:xfrm>
            <a:off x="5092312" y="950165"/>
            <a:ext cx="5417781" cy="17364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    Rutherford Backscattering (RBS)</a:t>
            </a:r>
          </a:p>
          <a:p>
            <a:pPr marL="0" indent="0">
              <a:buNone/>
            </a:pPr>
            <a:endParaRPr lang="en-US" sz="300" b="1" dirty="0"/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000099"/>
                </a:solidFill>
                <a:sym typeface="Wingdings"/>
              </a:rPr>
              <a:t>Unique tool for defect analysis </a:t>
            </a: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000099"/>
                </a:solidFill>
                <a:sym typeface="Wingdings"/>
              </a:rPr>
              <a:t>Depth dependent and highly sensitive</a:t>
            </a: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000099"/>
                </a:solidFill>
                <a:sym typeface="Wingdings"/>
              </a:rPr>
              <a:t>Ideal for surface and near surface damage 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C904D4-16B4-E849-008B-8B21F9CE9C1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2578" y="3017417"/>
            <a:ext cx="867023" cy="24781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4C4BA3-4B80-CDB2-B47E-6FD8803FE00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7428" y="2600743"/>
            <a:ext cx="4391103" cy="39032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7451E8D-85EE-EC11-AC31-F41A781CB0C7}"/>
              </a:ext>
            </a:extLst>
          </p:cNvPr>
          <p:cNvSpPr/>
          <p:nvPr/>
        </p:nvSpPr>
        <p:spPr>
          <a:xfrm>
            <a:off x="5328590" y="3457934"/>
            <a:ext cx="3706500" cy="1274633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0E3E7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51F8A-2DC9-A920-BD48-EA41EE52F09A}"/>
              </a:ext>
            </a:extLst>
          </p:cNvPr>
          <p:cNvSpPr/>
          <p:nvPr/>
        </p:nvSpPr>
        <p:spPr>
          <a:xfrm>
            <a:off x="5504826" y="4038542"/>
            <a:ext cx="728507" cy="1155015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0E3E7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F8FE9F-0AB5-046F-4D15-97A0A1148EBA}"/>
              </a:ext>
            </a:extLst>
          </p:cNvPr>
          <p:cNvSpPr/>
          <p:nvPr/>
        </p:nvSpPr>
        <p:spPr>
          <a:xfrm>
            <a:off x="8852519" y="3736342"/>
            <a:ext cx="172758" cy="1155015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0E3E7"/>
              </a:highligh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522EE-A118-8889-870D-D7BC2D6043D8}"/>
              </a:ext>
            </a:extLst>
          </p:cNvPr>
          <p:cNvSpPr/>
          <p:nvPr/>
        </p:nvSpPr>
        <p:spPr>
          <a:xfrm>
            <a:off x="8759588" y="2686567"/>
            <a:ext cx="172758" cy="1155015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0E3E7"/>
              </a:highligh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E2344-5EA0-103D-EB42-97CDF4596C06}"/>
              </a:ext>
            </a:extLst>
          </p:cNvPr>
          <p:cNvSpPr/>
          <p:nvPr/>
        </p:nvSpPr>
        <p:spPr>
          <a:xfrm>
            <a:off x="8759319" y="4337145"/>
            <a:ext cx="288818" cy="1155015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0E3E7"/>
              </a:highligh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3B2C8A-F33E-082B-85FF-C31E6EA478B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7427" y="2600743"/>
            <a:ext cx="4391103" cy="390320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DEC1F3F-2D75-085F-82F0-6D23DD172D6F}"/>
              </a:ext>
            </a:extLst>
          </p:cNvPr>
          <p:cNvSpPr/>
          <p:nvPr/>
        </p:nvSpPr>
        <p:spPr>
          <a:xfrm>
            <a:off x="5343830" y="2720604"/>
            <a:ext cx="2783319" cy="569774"/>
          </a:xfrm>
          <a:prstGeom prst="rect">
            <a:avLst/>
          </a:prstGeom>
          <a:solidFill>
            <a:srgbClr val="F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5A91DB-F317-3ADD-ABDE-13929371B41E}"/>
              </a:ext>
            </a:extLst>
          </p:cNvPr>
          <p:cNvSpPr txBox="1"/>
          <p:nvPr/>
        </p:nvSpPr>
        <p:spPr>
          <a:xfrm>
            <a:off x="7318395" y="5574391"/>
            <a:ext cx="1440924" cy="369332"/>
          </a:xfrm>
          <a:prstGeom prst="rect">
            <a:avLst/>
          </a:prstGeom>
          <a:solidFill>
            <a:srgbClr val="F9F2E7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pristine GaN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1BF2D5-331F-17E5-C8AD-837CAECDD3AA}"/>
              </a:ext>
            </a:extLst>
          </p:cNvPr>
          <p:cNvSpPr txBox="1"/>
          <p:nvPr/>
        </p:nvSpPr>
        <p:spPr>
          <a:xfrm>
            <a:off x="5504826" y="3399725"/>
            <a:ext cx="1709058" cy="369332"/>
          </a:xfrm>
          <a:prstGeom prst="rect">
            <a:avLst/>
          </a:prstGeom>
          <a:solidFill>
            <a:srgbClr val="F9F2E7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irradiated GaN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A1BD33-EF7E-BAEC-C930-3EA0AD137255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84CF5D-7F4C-97E8-5796-43BE0AE08226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833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2E16-0F15-3532-79BE-34F185D7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171380F5-2234-D8E4-966F-2E0B33D09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348F5-2668-BB4F-2330-A54D729C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120ABCF6-9F0E-D504-429F-B38172DED26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476DCA-E1ED-086B-1861-9BF318656989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39F0424B-6ADB-4ADE-2C17-250D334B6C0B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Modeling Swift, Heavy Ion Irradiation Effects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60BA9CC-3548-DB73-0405-49CA8E44CB87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9B37C-AE6B-AA7C-94F5-02D597A1B83D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9E885-4E49-3F7A-8CD8-231118DF86AE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392FB51-702A-8D41-1BAA-008F95BCBF47}"/>
              </a:ext>
            </a:extLst>
          </p:cNvPr>
          <p:cNvSpPr txBox="1">
            <a:spLocks/>
          </p:cNvSpPr>
          <p:nvPr/>
        </p:nvSpPr>
        <p:spPr>
          <a:xfrm>
            <a:off x="176859" y="915381"/>
            <a:ext cx="11615748" cy="27605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      </a:t>
            </a:r>
            <a:r>
              <a:rPr lang="en-US" sz="2000" b="1" dirty="0"/>
              <a:t>Computational challenge: ion-matter interactions</a:t>
            </a:r>
          </a:p>
          <a:p>
            <a:pPr marL="0" indent="0">
              <a:buNone/>
            </a:pPr>
            <a:endParaRPr lang="en-US" sz="300" b="1" dirty="0"/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Span ~15 orders of magnitude in time (femtoseconds to seconds) and ~8 orders of </a:t>
            </a:r>
            <a:r>
              <a:rPr lang="en-US" sz="1900" dirty="0" err="1">
                <a:solidFill>
                  <a:srgbClr val="000099"/>
                </a:solidFill>
                <a:sym typeface="Wingdings"/>
              </a:rPr>
              <a:t>manitude</a:t>
            </a:r>
            <a:r>
              <a:rPr lang="en-US" sz="1900" dirty="0">
                <a:solidFill>
                  <a:srgbClr val="000099"/>
                </a:solidFill>
                <a:sym typeface="Wingdings"/>
              </a:rPr>
              <a:t> in length (Angstrom to mm)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Involves electronic and atomic degrees of freedom that are deeply coupled</a:t>
            </a:r>
          </a:p>
          <a:p>
            <a:pPr lvl="1">
              <a:buFont typeface="Wingdings"/>
              <a:buChar char="ð"/>
            </a:pPr>
            <a:endParaRPr lang="en-US" sz="6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Experiment captures the final state while computation has to reconstruct the pathway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graphicFrame>
        <p:nvGraphicFramePr>
          <p:cNvPr id="6" name="Object 97">
            <a:extLst>
              <a:ext uri="{FF2B5EF4-FFF2-40B4-BE49-F238E27FC236}">
                <a16:creationId xmlns:a16="http://schemas.microsoft.com/office/drawing/2014/main" id="{F67D7BFE-DE96-E59A-445E-58818BEB4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2861" y="3287244"/>
          <a:ext cx="1581860" cy="2635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4603987" imgH="5473981" progId="MSPhotoEd.3">
                  <p:embed/>
                </p:oleObj>
              </mc:Choice>
              <mc:Fallback>
                <p:oleObj name="Photo Editor Photo" r:id="rId5" imgW="4603987" imgH="5473981" progId="MSPhotoEd.3">
                  <p:embed/>
                  <p:pic>
                    <p:nvPicPr>
                      <p:cNvPr id="6" name="Object 97">
                        <a:extLst>
                          <a:ext uri="{FF2B5EF4-FFF2-40B4-BE49-F238E27FC236}">
                            <a16:creationId xmlns:a16="http://schemas.microsoft.com/office/drawing/2014/main" id="{F67D7BFE-DE96-E59A-445E-58818BEB445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560" t="14990" r="25703" b="17197"/>
                      <a:stretch>
                        <a:fillRect/>
                      </a:stretch>
                    </p:blipFill>
                    <p:spPr bwMode="auto">
                      <a:xfrm>
                        <a:off x="1212861" y="3287244"/>
                        <a:ext cx="1581860" cy="2635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6">
            <a:extLst>
              <a:ext uri="{FF2B5EF4-FFF2-40B4-BE49-F238E27FC236}">
                <a16:creationId xmlns:a16="http://schemas.microsoft.com/office/drawing/2014/main" id="{75AAE1A2-C2FE-D2E4-8B60-6324CA0E7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contras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0107" y="3287245"/>
            <a:ext cx="2636435" cy="2636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940E1E-EC11-23F7-DC04-B28F871713FD}"/>
              </a:ext>
            </a:extLst>
          </p:cNvPr>
          <p:cNvSpPr txBox="1"/>
          <p:nvPr/>
        </p:nvSpPr>
        <p:spPr>
          <a:xfrm>
            <a:off x="3237479" y="5986046"/>
            <a:ext cx="24799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946 MeV </a:t>
            </a:r>
            <a:r>
              <a:rPr lang="en-US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197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 ions</a:t>
            </a:r>
          </a:p>
        </p:txBody>
      </p:sp>
      <p:pic>
        <p:nvPicPr>
          <p:cNvPr id="10" name="image9.png" descr="Diagram&#10;&#10;Description automatically generated">
            <a:extLst>
              <a:ext uri="{FF2B5EF4-FFF2-40B4-BE49-F238E27FC236}">
                <a16:creationId xmlns:a16="http://schemas.microsoft.com/office/drawing/2014/main" id="{ED407429-DFD9-F62D-204F-5B80E9F8EEEC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98327" y="3036354"/>
            <a:ext cx="5678546" cy="35307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8888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F23B-C106-49AA-E2EC-19EE6F2E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41660083-CA55-93AA-BBD8-1369EB078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27151-E363-9BAF-AB42-07783499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B56B36-A3E3-781D-5FBB-814DCEE387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A4D76DC-3D0A-4F36-3FBB-A1032BD45F9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A9189489-67FF-EE85-C56A-B05BFD4BB6F8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Molecular Dynamics Approach to SHI Irradiation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72A28D5-DB05-52E6-E5CF-6EF7D4093C3C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5F71F-5EDA-B9F4-EDE1-4818BEB803DF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0E028-FC1F-6954-F420-CC9537F6C0D5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C80B9A2-65C2-34E8-9197-2A0DABCE7EF7}"/>
              </a:ext>
            </a:extLst>
          </p:cNvPr>
          <p:cNvSpPr txBox="1">
            <a:spLocks/>
          </p:cNvSpPr>
          <p:nvPr/>
        </p:nvSpPr>
        <p:spPr>
          <a:xfrm>
            <a:off x="6377869" y="1141011"/>
            <a:ext cx="5580993" cy="540789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Bridging electronic energy deposition to atomic dynamics</a:t>
            </a:r>
          </a:p>
          <a:p>
            <a:pPr marL="0" indent="0">
              <a:buNone/>
            </a:pPr>
            <a:endParaRPr lang="en-US" sz="300" b="1" dirty="0"/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SHI deposit enormous energy densities `10s of keV/nm via dense electronic excitation and ionization; classical MD alone insufficient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Electronic energy coupled to atomic dynamics via electron-phonon coupling, Langevin thermostat, and empirical dose distributions</a:t>
            </a: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Model system: CeO2 where redox effects play a unique role in defect distribution strain evolution, and phase transformation behavior</a:t>
            </a: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A first comprehensive handshake between computation/experiment</a:t>
            </a:r>
          </a:p>
          <a:p>
            <a:pPr lvl="1">
              <a:buFont typeface="Wingdings"/>
              <a:buChar char="ð"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1BFAB-36BA-4788-2248-B70D9C94808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365" y="1029475"/>
            <a:ext cx="5840688" cy="18431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4DCA3C-9AFF-013D-F0BD-7BF9D94DDA2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875" y="3464625"/>
            <a:ext cx="2912961" cy="2480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34F3F3-1B83-7898-8CB6-A4436B9FD91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5510" y="3576198"/>
            <a:ext cx="2986103" cy="22574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E497A5-103B-E5AF-272C-3FFB8585D10E}"/>
              </a:ext>
            </a:extLst>
          </p:cNvPr>
          <p:cNvSpPr txBox="1"/>
          <p:nvPr/>
        </p:nvSpPr>
        <p:spPr>
          <a:xfrm>
            <a:off x="3094710" y="5819361"/>
            <a:ext cx="349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CeO</a:t>
            </a:r>
            <a:r>
              <a:rPr lang="en-US" baseline="-25000" dirty="0">
                <a:latin typeface="Avenir Book" panose="02000503020000020003" pitchFamily="2" charset="0"/>
              </a:rPr>
              <a:t>2</a:t>
            </a:r>
            <a:r>
              <a:rPr lang="en-US" dirty="0">
                <a:latin typeface="Avenir Book" panose="02000503020000020003" pitchFamily="2" charset="0"/>
              </a:rPr>
              <a:t> - G. Clopton (ongoing)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C416DD-AF1C-E467-5F1A-50DC041CDEB4}"/>
              </a:ext>
            </a:extLst>
          </p:cNvPr>
          <p:cNvSpPr txBox="1"/>
          <p:nvPr/>
        </p:nvSpPr>
        <p:spPr>
          <a:xfrm>
            <a:off x="-118693" y="5873512"/>
            <a:ext cx="349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SiO</a:t>
            </a:r>
            <a:r>
              <a:rPr lang="en-US" baseline="-25000" dirty="0">
                <a:latin typeface="Avenir Book" panose="02000503020000020003" pitchFamily="2" charset="0"/>
              </a:rPr>
              <a:t>2</a:t>
            </a:r>
            <a:r>
              <a:rPr lang="en-US" dirty="0">
                <a:latin typeface="Avenir Book" panose="02000503020000020003" pitchFamily="2" charset="0"/>
              </a:rPr>
              <a:t> – Leino et al. (2015)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39C0AD-0259-EFB0-1500-2DD9971D604A}"/>
              </a:ext>
            </a:extLst>
          </p:cNvPr>
          <p:cNvSpPr txBox="1"/>
          <p:nvPr/>
        </p:nvSpPr>
        <p:spPr>
          <a:xfrm>
            <a:off x="292473" y="2841961"/>
            <a:ext cx="591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Electronic energy deposition to lattice via two-temp molecular dynamics (Darkins et al. 2018)</a:t>
            </a:r>
          </a:p>
        </p:txBody>
      </p:sp>
    </p:spTree>
    <p:extLst>
      <p:ext uri="{BB962C8B-B14F-4D97-AF65-F5344CB8AC3E}">
        <p14:creationId xmlns:p14="http://schemas.microsoft.com/office/powerpoint/2010/main" val="75194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8B26-83A8-2107-C71C-8BDEB9E3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159CE604-282F-4566-DAE5-8D0DE9A4A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901415-1BD6-F594-5735-A7F9DE1D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DB7656D8-AA71-19C3-C0ED-9EB3ED8C881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73B0BF-B545-9F8B-A207-FFB16B96D37A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F6EA929C-FCA1-5843-9E3B-FC33FC94B19B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Defect Structures and Phase Diagrams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1E53789-1D4E-7B41-CBF0-2A70F673B858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AF72C-DAE6-7658-3319-63854C114965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214E1-3036-C1C3-19BB-22CD2E15107C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3081BADB-FFBC-DE6C-9A20-3BBFF9498F54}"/>
              </a:ext>
            </a:extLst>
          </p:cNvPr>
          <p:cNvSpPr txBox="1">
            <a:spLocks/>
          </p:cNvSpPr>
          <p:nvPr/>
        </p:nvSpPr>
        <p:spPr>
          <a:xfrm>
            <a:off x="6264867" y="1164661"/>
            <a:ext cx="5815602" cy="526704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      From track formation to equilibrium and </a:t>
            </a:r>
          </a:p>
          <a:p>
            <a:pPr marL="0" indent="0">
              <a:buNone/>
            </a:pPr>
            <a:r>
              <a:rPr lang="en-US" sz="2000" b="1" dirty="0"/>
              <a:t>      metastable defect landscapes</a:t>
            </a:r>
          </a:p>
          <a:p>
            <a:pPr marL="0" indent="0">
              <a:buNone/>
            </a:pPr>
            <a:endParaRPr lang="en-US" sz="300" b="1" dirty="0"/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Molecular dynamics simulations predict the full diversity of defect structures across irradiation conditions: energy density (</a:t>
            </a:r>
            <a:r>
              <a:rPr lang="en-US" sz="1900" dirty="0" err="1">
                <a:solidFill>
                  <a:srgbClr val="000099"/>
                </a:solidFill>
                <a:sym typeface="Wingdings"/>
              </a:rPr>
              <a:t>dE</a:t>
            </a:r>
            <a:r>
              <a:rPr lang="en-US" sz="1900" dirty="0">
                <a:solidFill>
                  <a:srgbClr val="000099"/>
                </a:solidFill>
                <a:sym typeface="Wingdings"/>
              </a:rPr>
              <a:t>/dx), grain size, pre-existing damage, and dopant concentration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Defect zoo in irradiated CeO</a:t>
            </a:r>
            <a:r>
              <a:rPr lang="en-US" sz="1900" baseline="-25000" dirty="0">
                <a:solidFill>
                  <a:srgbClr val="000099"/>
                </a:solidFill>
                <a:sym typeface="Wingdings"/>
              </a:rPr>
              <a:t>2</a:t>
            </a:r>
            <a:r>
              <a:rPr lang="en-US" sz="1900" dirty="0">
                <a:solidFill>
                  <a:srgbClr val="000099"/>
                </a:solidFill>
                <a:sym typeface="Wingdings"/>
              </a:rPr>
              <a:t>: Frenkel/Schottky pairs, point defect clusters, dislocation cores, stacking faults, twin boundaries</a:t>
            </a:r>
          </a:p>
          <a:p>
            <a:pPr lvl="1">
              <a:buFont typeface="Wingdings"/>
              <a:buChar char="ð"/>
            </a:pPr>
            <a:endParaRPr lang="en-US" sz="6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Core/shell track morphology: intense plasma-condition </a:t>
            </a:r>
            <a:r>
              <a:rPr lang="en-US" sz="1900" dirty="0" err="1">
                <a:solidFill>
                  <a:srgbClr val="000099"/>
                </a:solidFill>
                <a:sym typeface="Wingdings"/>
              </a:rPr>
              <a:t>core+dilute</a:t>
            </a:r>
            <a:r>
              <a:rPr lang="en-US" sz="1900" dirty="0">
                <a:solidFill>
                  <a:srgbClr val="000099"/>
                </a:solidFill>
                <a:sym typeface="Wingdings"/>
              </a:rPr>
              <a:t> outer halo; grain size controls competition between oxygen expulsion and grain boundary trapping </a:t>
            </a: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99"/>
                </a:solidFill>
                <a:sym typeface="Wingdings"/>
              </a:rPr>
              <a:t>Defect phase diagrams in P-T-m space: map equilibrium and metastable defect phases, identify how coupled extremes shift stability boundaries</a:t>
            </a:r>
          </a:p>
          <a:p>
            <a:pPr marL="457200" lvl="1" indent="0">
              <a:buNone/>
            </a:pPr>
            <a:endParaRPr lang="en-US" sz="500" dirty="0">
              <a:solidFill>
                <a:srgbClr val="000099"/>
              </a:solidFill>
              <a:sym typeface="Wingdings"/>
            </a:endParaRP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6B661C-8D75-8234-B4CB-535B99E42BB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500" y="1630485"/>
            <a:ext cx="4154966" cy="3327691"/>
          </a:xfrm>
          <a:prstGeom prst="rect">
            <a:avLst/>
          </a:prstGeom>
        </p:spPr>
      </p:pic>
      <p:pic>
        <p:nvPicPr>
          <p:cNvPr id="8" name="Picture 7" descr="A diagram of a molecule&#10;&#10;AI-generated content may be incorrect.">
            <a:extLst>
              <a:ext uri="{FF2B5EF4-FFF2-40B4-BE49-F238E27FC236}">
                <a16:creationId xmlns:a16="http://schemas.microsoft.com/office/drawing/2014/main" id="{6272D094-0249-68C1-9439-E2E54BDEC86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3671" y="1171422"/>
            <a:ext cx="1541196" cy="1537693"/>
          </a:xfrm>
          <a:prstGeom prst="rect">
            <a:avLst/>
          </a:prstGeom>
        </p:spPr>
      </p:pic>
      <p:pic>
        <p:nvPicPr>
          <p:cNvPr id="10" name="Picture 9" descr="A green and red molecular structure&#10;&#10;AI-generated content may be incorrect.">
            <a:extLst>
              <a:ext uri="{FF2B5EF4-FFF2-40B4-BE49-F238E27FC236}">
                <a16:creationId xmlns:a16="http://schemas.microsoft.com/office/drawing/2014/main" id="{B60EED06-B9BD-8A0E-6F1E-67FBC40C0E9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3171" y="3886366"/>
            <a:ext cx="2045398" cy="14332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3DD489-BCD9-6903-925F-070E24B3902C}"/>
              </a:ext>
            </a:extLst>
          </p:cNvPr>
          <p:cNvSpPr txBox="1"/>
          <p:nvPr/>
        </p:nvSpPr>
        <p:spPr>
          <a:xfrm>
            <a:off x="4909055" y="2723218"/>
            <a:ext cx="1116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Ce</a:t>
            </a:r>
            <a:r>
              <a:rPr lang="en-US" baseline="-25000" dirty="0">
                <a:latin typeface="Avenir Book" panose="02000503020000020003" pitchFamily="2" charset="0"/>
              </a:rPr>
              <a:t>2</a:t>
            </a:r>
            <a:r>
              <a:rPr lang="en-US" dirty="0">
                <a:latin typeface="Avenir Book" panose="02000503020000020003" pitchFamily="2" charset="0"/>
              </a:rPr>
              <a:t>O</a:t>
            </a:r>
            <a:r>
              <a:rPr lang="en-US" baseline="-25000" dirty="0">
                <a:latin typeface="Avenir Book" panose="02000503020000020003" pitchFamily="2" charset="0"/>
              </a:rPr>
              <a:t>3</a:t>
            </a:r>
          </a:p>
          <a:p>
            <a:pPr algn="ctr"/>
            <a:r>
              <a:rPr lang="en-US" dirty="0">
                <a:latin typeface="Avenir Book" panose="02000503020000020003" pitchFamily="2" charset="0"/>
              </a:rPr>
              <a:t>Ia3</a:t>
            </a:r>
          </a:p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69FBC-CA61-D653-7270-C54B4A6FA8D0}"/>
              </a:ext>
            </a:extLst>
          </p:cNvPr>
          <p:cNvSpPr txBox="1"/>
          <p:nvPr/>
        </p:nvSpPr>
        <p:spPr>
          <a:xfrm>
            <a:off x="4723671" y="5289333"/>
            <a:ext cx="1594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Ce</a:t>
            </a:r>
            <a:r>
              <a:rPr lang="en-US" baseline="-25000" dirty="0">
                <a:latin typeface="Avenir Book" panose="02000503020000020003" pitchFamily="2" charset="0"/>
              </a:rPr>
              <a:t>7</a:t>
            </a:r>
            <a:r>
              <a:rPr lang="en-US" dirty="0">
                <a:latin typeface="Avenir Book" panose="02000503020000020003" pitchFamily="2" charset="0"/>
              </a:rPr>
              <a:t>O</a:t>
            </a:r>
            <a:r>
              <a:rPr lang="en-US" baseline="-25000" dirty="0">
                <a:latin typeface="Avenir Book" panose="02000503020000020003" pitchFamily="2" charset="0"/>
              </a:rPr>
              <a:t>12</a:t>
            </a:r>
          </a:p>
          <a:p>
            <a:pPr algn="ctr"/>
            <a:r>
              <a:rPr lang="en-US" dirty="0">
                <a:latin typeface="Avenir Book" panose="02000503020000020003" pitchFamily="2" charset="0"/>
              </a:rPr>
              <a:t>R3</a:t>
            </a:r>
          </a:p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45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7894-DE8D-604C-7BC5-4C5FD1DAE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EE11B665-21E1-C75E-A504-3A7903AE7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C0469E-05A5-66E4-0A4D-45270243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91595AEE-7454-EF2E-A22E-35200AD317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17C56A-89B2-94D5-7FF1-F589C538C7E6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7097700F-09ED-6629-9FBC-831D8331A3BF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From Defects to Mechanical Properties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03C675B-F22F-25FE-46DA-76773B57A93A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B0825-5E90-46C7-CC4F-CB68238756B1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0CD63-E096-895C-B28B-25BE1AB87278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6">
                <a:extLst>
                  <a:ext uri="{FF2B5EF4-FFF2-40B4-BE49-F238E27FC236}">
                    <a16:creationId xmlns:a16="http://schemas.microsoft.com/office/drawing/2014/main" id="{C5CE8D60-8A4E-E2FF-002C-A911AC4073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2473" y="3933302"/>
                <a:ext cx="11887250" cy="552889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Closing the loop from atomic-scale damage to macroscopic behavior</a:t>
                </a:r>
              </a:p>
              <a:p>
                <a:pPr marL="0" indent="0">
                  <a:buNone/>
                </a:pPr>
                <a:endParaRPr lang="en-US" sz="300" b="1" dirty="0"/>
              </a:p>
              <a:p>
                <a:pPr lvl="1">
                  <a:buFont typeface="Wingdings"/>
                  <a:buChar char="ð"/>
                </a:pPr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MD defect configurations </a:t>
                </a:r>
                <a14:m>
                  <m:oMath xmlns:m="http://schemas.openxmlformats.org/officeDocument/2006/math">
                    <m:r>
                      <a:rPr lang="en-US" sz="19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/>
                      </a:rPr>
                      <m:t>→</m:t>
                    </m:r>
                  </m:oMath>
                </a14:m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 predictions of elastic moduli, yield strength, deformation mechanisms</a:t>
                </a:r>
              </a:p>
              <a:p>
                <a:pPr marL="457200" lvl="1" indent="0">
                  <a:buNone/>
                </a:pPr>
                <a:endParaRPr lang="en-US" sz="500" dirty="0">
                  <a:solidFill>
                    <a:srgbClr val="000099"/>
                  </a:solidFill>
                  <a:sym typeface="Wingdings"/>
                </a:endParaRPr>
              </a:p>
              <a:p>
                <a:pPr lvl="1">
                  <a:buFont typeface="Wingdings"/>
                  <a:buChar char="ð"/>
                </a:pPr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Ex: irradiated CeO2 exhibits a 30% strength increase; MD provides the atomistic explanation</a:t>
                </a:r>
              </a:p>
              <a:p>
                <a:pPr lvl="1">
                  <a:buFont typeface="Wingdings"/>
                  <a:buChar char="ð"/>
                </a:pPr>
                <a:endParaRPr lang="en-US" sz="600" dirty="0">
                  <a:solidFill>
                    <a:srgbClr val="000099"/>
                  </a:solidFill>
                  <a:sym typeface="Wingdings"/>
                </a:endParaRPr>
              </a:p>
              <a:p>
                <a:pPr lvl="1">
                  <a:buFont typeface="Wingdings"/>
                  <a:buChar char="ð"/>
                </a:pPr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Deformation maps across P-T to ~100 </a:t>
                </a:r>
                <a:r>
                  <a:rPr lang="en-US" sz="1900" dirty="0" err="1">
                    <a:solidFill>
                      <a:srgbClr val="000099"/>
                    </a:solidFill>
                    <a:sym typeface="Wingdings"/>
                  </a:rPr>
                  <a:t>Gpa</a:t>
                </a:r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, 2000 K and strain rates (10-6 </a:t>
                </a:r>
                <a:r>
                  <a:rPr lang="en-US" sz="1900" dirty="0" err="1">
                    <a:solidFill>
                      <a:srgbClr val="000099"/>
                    </a:solidFill>
                    <a:sym typeface="Wingdings"/>
                  </a:rPr>
                  <a:t>yo</a:t>
                </a:r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 102 s-1)</a:t>
                </a:r>
              </a:p>
              <a:p>
                <a:pPr lvl="1">
                  <a:buFont typeface="Wingdings"/>
                  <a:buChar char="ð"/>
                </a:pPr>
                <a:r>
                  <a:rPr lang="en-US" sz="1900" dirty="0">
                    <a:solidFill>
                      <a:srgbClr val="000099"/>
                    </a:solidFill>
                    <a:sym typeface="Wingdings"/>
                  </a:rPr>
                  <a:t>Framework extended across oxides, carbides. Further: nitrides, amorphous materials, metals ad to P-H, P-E space for hidden phases</a:t>
                </a:r>
              </a:p>
              <a:p>
                <a:pPr marL="457200" lvl="1" indent="0">
                  <a:buNone/>
                </a:pPr>
                <a:endParaRPr lang="en-US" sz="500" dirty="0">
                  <a:solidFill>
                    <a:srgbClr val="000099"/>
                  </a:solidFill>
                  <a:sym typeface="Wingdings"/>
                </a:endParaRPr>
              </a:p>
              <a:p>
                <a:pPr marL="457200" lvl="1" indent="0">
                  <a:buNone/>
                </a:pPr>
                <a:endParaRPr lang="en-US" sz="300" dirty="0">
                  <a:solidFill>
                    <a:srgbClr val="000099"/>
                  </a:solidFill>
                  <a:sym typeface="Wingdings"/>
                </a:endParaRPr>
              </a:p>
            </p:txBody>
          </p:sp>
        </mc:Choice>
        <mc:Fallback xmlns="">
          <p:sp>
            <p:nvSpPr>
              <p:cNvPr id="6" name="Content Placeholder 6">
                <a:extLst>
                  <a:ext uri="{FF2B5EF4-FFF2-40B4-BE49-F238E27FC236}">
                    <a16:creationId xmlns:a16="http://schemas.microsoft.com/office/drawing/2014/main" id="{C5CE8D60-8A4E-E2FF-002C-A911AC407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73" y="3933302"/>
                <a:ext cx="11887250" cy="5528890"/>
              </a:xfrm>
              <a:prstGeom prst="rect">
                <a:avLst/>
              </a:prstGeom>
              <a:blipFill>
                <a:blip r:embed="rId5"/>
                <a:stretch>
                  <a:fillRect l="-640" t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1FE254-2C98-35F7-1772-3D077257CD4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346" y="960653"/>
            <a:ext cx="3560670" cy="2582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EEDF6-0FE5-54AB-54FC-6D1AC061108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2753" y="960653"/>
            <a:ext cx="4659908" cy="2582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61B8D6-CF75-4494-8E62-7E532099BFB6}"/>
              </a:ext>
            </a:extLst>
          </p:cNvPr>
          <p:cNvSpPr txBox="1"/>
          <p:nvPr/>
        </p:nvSpPr>
        <p:spPr>
          <a:xfrm>
            <a:off x="971138" y="3478195"/>
            <a:ext cx="776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SHI effect on strength and texture of CeO</a:t>
            </a:r>
            <a:r>
              <a:rPr lang="en-US" baseline="-25000" dirty="0">
                <a:latin typeface="Avenir Book" panose="02000503020000020003" pitchFamily="2" charset="0"/>
              </a:rPr>
              <a:t>2</a:t>
            </a:r>
            <a:r>
              <a:rPr lang="en-US" dirty="0">
                <a:latin typeface="Avenir Book" panose="02000503020000020003" pitchFamily="2" charset="0"/>
              </a:rPr>
              <a:t>. Courtesy: Lowell Miyagi.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0CDF87-B1A9-021D-BCA8-556D69881BB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9364" y="1176910"/>
            <a:ext cx="1894264" cy="1302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629D5D-D59C-FFD3-8B5E-EC840C51E06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8882" y="1905326"/>
            <a:ext cx="1798782" cy="15236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9A6894-369B-CD0A-4D0F-FD82C7612160}"/>
              </a:ext>
            </a:extLst>
          </p:cNvPr>
          <p:cNvSpPr txBox="1"/>
          <p:nvPr/>
        </p:nvSpPr>
        <p:spPr>
          <a:xfrm>
            <a:off x="9408630" y="3496485"/>
            <a:ext cx="201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grain size effects</a:t>
            </a:r>
          </a:p>
        </p:txBody>
      </p:sp>
    </p:spTree>
    <p:extLst>
      <p:ext uri="{BB962C8B-B14F-4D97-AF65-F5344CB8AC3E}">
        <p14:creationId xmlns:p14="http://schemas.microsoft.com/office/powerpoint/2010/main" val="3234887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D0D9-F32E-8FB1-4CEC-84394CF2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E8006AF-1045-3D4B-83E3-357E5BB97436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8D220CE3-8E90-C6C5-948F-45C7CCBD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F31FD3A5-905B-4E4E-5F68-F45C90B44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6215C9BE-7204-9F8F-38DA-E8DC96098D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C6DE7D-C21A-4C6E-1046-34C3A155EC1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0764" y="3261682"/>
            <a:ext cx="1501733" cy="1005631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FC210E5-2F08-33A6-4516-3DC89CF19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420901"/>
            <a:ext cx="10553700" cy="1226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Radiation Experiments and Defect Characterization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John Hirtz, University of Tennessee, 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jhirtz@utk.edu</a:t>
            </a:r>
            <a:endParaRPr lang="en-US" sz="25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022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573AE-3C73-2DAD-E8C6-6D2549C9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D8A61C27-5D3A-E002-40C8-0D0CA2589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9664E-E689-F8BB-87C2-199675D5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01C75188-2567-4B0D-4669-FCC5F6F3F0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B15DA8-B5C4-86C0-7662-BF7EF1AFAABB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469B7460-D955-A3F3-8AC9-9A0FD1102F32}"/>
              </a:ext>
            </a:extLst>
          </p:cNvPr>
          <p:cNvSpPr txBox="1">
            <a:spLocks/>
          </p:cNvSpPr>
          <p:nvPr/>
        </p:nvSpPr>
        <p:spPr>
          <a:xfrm>
            <a:off x="376194" y="136524"/>
            <a:ext cx="911152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Radiation Experiments using Swift Heavy Ions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8215074-57F6-2589-E86A-7CA1561EF742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" name="Slide Number Placeholder 1"/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3620B80-FD2E-4E6B-B62C-0A6EF8FD76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893" y="1420319"/>
            <a:ext cx="4171125" cy="2502675"/>
          </a:xfrm>
          <a:prstGeom prst="rect">
            <a:avLst/>
          </a:prstGeom>
        </p:spPr>
      </p:pic>
      <p:sp>
        <p:nvSpPr>
          <p:cNvPr id="35" name="Content Placeholder 6">
            <a:extLst>
              <a:ext uri="{FF2B5EF4-FFF2-40B4-BE49-F238E27FC236}">
                <a16:creationId xmlns:a16="http://schemas.microsoft.com/office/drawing/2014/main" id="{DC22BF4C-3FBB-4BF0-BA04-C9BFCCB9F729}"/>
              </a:ext>
            </a:extLst>
          </p:cNvPr>
          <p:cNvSpPr txBox="1">
            <a:spLocks/>
          </p:cNvSpPr>
          <p:nvPr/>
        </p:nvSpPr>
        <p:spPr>
          <a:xfrm>
            <a:off x="543666" y="1093798"/>
            <a:ext cx="6432402" cy="55791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/>
              <a:t>FAIR – GSI Helmholtz Center (Darmstadt, Germany)</a:t>
            </a:r>
          </a:p>
        </p:txBody>
      </p:sp>
      <p:pic>
        <p:nvPicPr>
          <p:cNvPr id="36" name="Picture 35" descr="Diagram&#10;&#10;Description automatically generated">
            <a:extLst>
              <a:ext uri="{FF2B5EF4-FFF2-40B4-BE49-F238E27FC236}">
                <a16:creationId xmlns:a16="http://schemas.microsoft.com/office/drawing/2014/main" id="{725FF559-8064-4F39-838B-6EEFEEB4881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7662" y="1083491"/>
            <a:ext cx="3361704" cy="29680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E7FA5A-E1B4-4366-B48E-F46CF09FA50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8232" y="1320334"/>
            <a:ext cx="647334" cy="6458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F9365FE-3536-4A2C-A0FC-0631BF9F2EC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7627019" y="2943486"/>
            <a:ext cx="640563" cy="645817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66CB33A-2BA5-4C60-B5F1-E43EDACAD8D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7626798" y="2132302"/>
            <a:ext cx="647525" cy="64465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41" name="Object 97">
            <a:extLst>
              <a:ext uri="{FF2B5EF4-FFF2-40B4-BE49-F238E27FC236}">
                <a16:creationId xmlns:a16="http://schemas.microsoft.com/office/drawing/2014/main" id="{2A5E005C-B7E5-4098-811D-D20FC3393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5890"/>
              </p:ext>
            </p:extLst>
          </p:nvPr>
        </p:nvGraphicFramePr>
        <p:xfrm>
          <a:off x="4397404" y="1774066"/>
          <a:ext cx="1000894" cy="1666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0" imgW="4603987" imgH="5473981" progId="MSPhotoEd.3">
                  <p:embed/>
                </p:oleObj>
              </mc:Choice>
              <mc:Fallback>
                <p:oleObj name="Photo Editor Photo" r:id="rId10" imgW="4603987" imgH="5473981" progId="MSPhotoEd.3">
                  <p:embed/>
                  <p:pic>
                    <p:nvPicPr>
                      <p:cNvPr id="41" name="Object 97">
                        <a:extLst>
                          <a:ext uri="{FF2B5EF4-FFF2-40B4-BE49-F238E27FC236}">
                            <a16:creationId xmlns:a16="http://schemas.microsoft.com/office/drawing/2014/main" id="{2A5E005C-B7E5-4098-811D-D20FC3393BC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560" t="14990" r="25703" b="17197"/>
                      <a:stretch>
                        <a:fillRect/>
                      </a:stretch>
                    </p:blipFill>
                    <p:spPr bwMode="auto">
                      <a:xfrm>
                        <a:off x="4397404" y="1774066"/>
                        <a:ext cx="1000894" cy="1666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7EE8A642-FE10-4F54-9AEF-3B29FD21F6C4}"/>
              </a:ext>
            </a:extLst>
          </p:cNvPr>
          <p:cNvSpPr txBox="1">
            <a:spLocks/>
          </p:cNvSpPr>
          <p:nvPr/>
        </p:nvSpPr>
        <p:spPr>
          <a:xfrm>
            <a:off x="7220064" y="4048648"/>
            <a:ext cx="4638207" cy="45147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000066"/>
                </a:solidFill>
              </a:rPr>
              <a:t>II. Bulk-Irradiation Experiments (Neutron Probes)</a:t>
            </a:r>
            <a:endParaRPr lang="en-US" sz="1800" dirty="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2B8E122-C229-477E-803C-B2FDCF13B8BD}"/>
              </a:ext>
            </a:extLst>
          </p:cNvPr>
          <p:cNvPicPr/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03345" y="4750901"/>
            <a:ext cx="2634343" cy="191075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FF727D5-56CD-4993-99D8-2E1CE791CB6E}"/>
              </a:ext>
            </a:extLst>
          </p:cNvPr>
          <p:cNvSpPr/>
          <p:nvPr/>
        </p:nvSpPr>
        <p:spPr>
          <a:xfrm>
            <a:off x="8613359" y="2379351"/>
            <a:ext cx="8851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~100 mg</a:t>
            </a:r>
          </a:p>
        </p:txBody>
      </p:sp>
      <p:pic>
        <p:nvPicPr>
          <p:cNvPr id="45" name="Picture 63" descr="high Tc-full image">
            <a:extLst>
              <a:ext uri="{FF2B5EF4-FFF2-40B4-BE49-F238E27FC236}">
                <a16:creationId xmlns:a16="http://schemas.microsoft.com/office/drawing/2014/main" id="{45FD9515-4A7F-4CF1-9E10-47FF08C0B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lum bright="18000"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330141" y="1989249"/>
            <a:ext cx="1667306" cy="12093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B46C5F-F504-60A0-7C4B-EC37B64346A9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6270" y="5128890"/>
            <a:ext cx="1098164" cy="70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829040-17B1-320E-677A-51E82D0BA90F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9563" y="4636011"/>
            <a:ext cx="2312495" cy="12022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EAFB56-D23D-9EF7-9D1C-BF54D4A19D50}"/>
              </a:ext>
            </a:extLst>
          </p:cNvPr>
          <p:cNvSpPr/>
          <p:nvPr/>
        </p:nvSpPr>
        <p:spPr>
          <a:xfrm>
            <a:off x="2457520" y="5965897"/>
            <a:ext cx="223082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cs typeface="Arial" panose="020B0604020202020204" pitchFamily="34" charset="0"/>
              </a:rPr>
              <a:t>M. Lang, </a:t>
            </a:r>
            <a:r>
              <a:rPr lang="en-US" sz="1300" i="1" dirty="0">
                <a:cs typeface="Arial" panose="020B0604020202020204" pitchFamily="34" charset="0"/>
              </a:rPr>
              <a:t>et al</a:t>
            </a:r>
            <a:r>
              <a:rPr lang="en-US" sz="1300" dirty="0">
                <a:cs typeface="Arial" panose="020B0604020202020204" pitchFamily="34" charset="0"/>
              </a:rPr>
              <a:t>., </a:t>
            </a:r>
            <a:r>
              <a:rPr lang="en-US" sz="1300" i="1" u="sng" dirty="0">
                <a:cs typeface="Arial" panose="020B0604020202020204" pitchFamily="34" charset="0"/>
              </a:rPr>
              <a:t>Journal of Materials Research</a:t>
            </a:r>
            <a:r>
              <a:rPr lang="en-US" sz="1300" dirty="0">
                <a:cs typeface="Arial" panose="020B0604020202020204" pitchFamily="34" charset="0"/>
              </a:rPr>
              <a:t> (2015)</a:t>
            </a:r>
          </a:p>
          <a:p>
            <a:pPr algn="ctr"/>
            <a:endParaRPr lang="en-US" sz="300" dirty="0"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cs typeface="Arial" panose="020B0604020202020204" pitchFamily="34" charset="0"/>
              </a:rPr>
              <a:t>(CDAC supported)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3DA735-1C2B-E922-49EA-F89E001F4AA6}"/>
              </a:ext>
            </a:extLst>
          </p:cNvPr>
          <p:cNvGrpSpPr/>
          <p:nvPr/>
        </p:nvGrpSpPr>
        <p:grpSpPr>
          <a:xfrm>
            <a:off x="2154371" y="5066022"/>
            <a:ext cx="146928" cy="678521"/>
            <a:chOff x="1875777" y="2700667"/>
            <a:chExt cx="184150" cy="787400"/>
          </a:xfrm>
          <a:noFill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C72E19-480F-0E64-4EE3-64B29E717EB0}"/>
                </a:ext>
              </a:extLst>
            </p:cNvPr>
            <p:cNvSpPr/>
            <p:nvPr/>
          </p:nvSpPr>
          <p:spPr bwMode="auto">
            <a:xfrm>
              <a:off x="1875777" y="2700667"/>
              <a:ext cx="184150" cy="7874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grpSp>
          <p:nvGrpSpPr>
            <p:cNvPr id="10" name="Group 105">
              <a:extLst>
                <a:ext uri="{FF2B5EF4-FFF2-40B4-BE49-F238E27FC236}">
                  <a16:creationId xmlns:a16="http://schemas.microsoft.com/office/drawing/2014/main" id="{51A4930A-7D2E-BEE6-4B43-98AFABC29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749" y="2745561"/>
              <a:ext cx="130453" cy="112429"/>
              <a:chOff x="9487" y="6269"/>
              <a:chExt cx="646" cy="557"/>
            </a:xfrm>
            <a:grpFill/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0481239-6299-443A-42F3-53CE24A35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0" y="6471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E70C3A9-891E-8DE0-2110-6550EA6E1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8" y="6471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B5A8842-959B-35B1-3087-64048570C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87" y="6471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7A0DCC7-A701-AE8D-0AEB-9E91A36191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" y="6269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B1508F6-3A60-F727-449B-AA4C822F4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3" y="6269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CF27564-0516-856C-38AA-270AA6D75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5" y="6711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5E44DB5-8786-F0AD-F667-3715B38AD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3" y="6711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1" name="Group 113">
              <a:extLst>
                <a:ext uri="{FF2B5EF4-FFF2-40B4-BE49-F238E27FC236}">
                  <a16:creationId xmlns:a16="http://schemas.microsoft.com/office/drawing/2014/main" id="{DF489663-AF55-C1C7-5C73-8D0D0CAA7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749" y="3312230"/>
              <a:ext cx="149585" cy="128918"/>
              <a:chOff x="9497" y="8704"/>
              <a:chExt cx="646" cy="557"/>
            </a:xfrm>
            <a:grpFill/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9AE0D73-4175-24A3-4113-B90936778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0" y="8906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B93534-A9E3-1D52-1549-638318A9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28" y="8906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02884BE-5C32-15C1-4667-F4B1F6B44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7" y="8906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E1B4F1-00C0-8450-BCA9-6FC7123B3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5" y="8704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F979E06-19C8-B6C0-6C9A-242345C87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3" y="8704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FD26DF4-27DD-2B73-76F4-DCC69ABCC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5" y="9146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3482903-39DA-5CF0-21B5-6133F7EF1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3" y="9146"/>
                <a:ext cx="115" cy="11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upright="1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8" name="Text Box 10">
            <a:extLst>
              <a:ext uri="{FF2B5EF4-FFF2-40B4-BE49-F238E27FC236}">
                <a16:creationId xmlns:a16="http://schemas.microsoft.com/office/drawing/2014/main" id="{A3729173-1135-1C1A-E765-0235F2B1D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614" y="4821638"/>
            <a:ext cx="1908175" cy="7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sz="1350" b="1" dirty="0">
                <a:latin typeface="+mn-lt"/>
                <a:sym typeface="Wingdings" pitchFamily="2" charset="2"/>
              </a:rPr>
              <a:t>Sample chambers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diameter:  100 </a:t>
            </a:r>
            <a:r>
              <a:rPr lang="el-GR" sz="1300" dirty="0">
                <a:latin typeface="+mn-lt"/>
                <a:sym typeface="Wingdings" pitchFamily="2" charset="2"/>
              </a:rPr>
              <a:t>μ</a:t>
            </a:r>
            <a:r>
              <a:rPr lang="en-US" sz="1300" dirty="0">
                <a:latin typeface="+mn-lt"/>
                <a:sym typeface="Wingdings" pitchFamily="2" charset="2"/>
              </a:rPr>
              <a:t>m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thickness:   25 </a:t>
            </a:r>
            <a:r>
              <a:rPr lang="el-GR" sz="1300" dirty="0">
                <a:latin typeface="+mn-lt"/>
                <a:sym typeface="Wingdings" pitchFamily="2" charset="2"/>
              </a:rPr>
              <a:t>μ</a:t>
            </a:r>
            <a:r>
              <a:rPr lang="en-US" sz="1300" dirty="0">
                <a:latin typeface="+mn-lt"/>
                <a:sym typeface="Wingdings" pitchFamily="2" charset="2"/>
              </a:rPr>
              <a:t>m</a:t>
            </a:r>
          </a:p>
        </p:txBody>
      </p:sp>
      <p:sp>
        <p:nvSpPr>
          <p:cNvPr id="30" name="Content Placeholder 6">
            <a:extLst>
              <a:ext uri="{FF2B5EF4-FFF2-40B4-BE49-F238E27FC236}">
                <a16:creationId xmlns:a16="http://schemas.microsoft.com/office/drawing/2014/main" id="{57A4A961-E5C9-F601-571E-C6AE519D026B}"/>
              </a:ext>
            </a:extLst>
          </p:cNvPr>
          <p:cNvSpPr txBox="1">
            <a:spLocks/>
          </p:cNvSpPr>
          <p:nvPr/>
        </p:nvSpPr>
        <p:spPr>
          <a:xfrm>
            <a:off x="424440" y="4195960"/>
            <a:ext cx="6419293" cy="60832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000066"/>
                </a:solidFill>
              </a:rPr>
              <a:t>I. Microscopic Sample Irradiation Experiments (X-ray Probes)</a:t>
            </a:r>
            <a:endParaRPr lang="en-US" sz="1800" dirty="0">
              <a:solidFill>
                <a:srgbClr val="000066"/>
              </a:solidFill>
            </a:endParaRP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E9F21E-3169-E509-9890-BB3219E3067C}"/>
              </a:ext>
            </a:extLst>
          </p:cNvPr>
          <p:cNvSpPr/>
          <p:nvPr/>
        </p:nvSpPr>
        <p:spPr>
          <a:xfrm>
            <a:off x="7179434" y="943219"/>
            <a:ext cx="4840880" cy="3570839"/>
          </a:xfrm>
          <a:prstGeom prst="rect">
            <a:avLst/>
          </a:prstGeom>
          <a:noFill/>
          <a:ln w="127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F94B0E-C1AD-65B0-6251-1E9D58DA50B5}"/>
              </a:ext>
            </a:extLst>
          </p:cNvPr>
          <p:cNvSpPr/>
          <p:nvPr/>
        </p:nvSpPr>
        <p:spPr>
          <a:xfrm>
            <a:off x="297831" y="4153966"/>
            <a:ext cx="6432402" cy="1782229"/>
          </a:xfrm>
          <a:prstGeom prst="rect">
            <a:avLst/>
          </a:prstGeom>
          <a:noFill/>
          <a:ln w="127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65FD30-E508-85CF-ADC2-A10C83F1B297}"/>
              </a:ext>
            </a:extLst>
          </p:cNvPr>
          <p:cNvSpPr/>
          <p:nvPr/>
        </p:nvSpPr>
        <p:spPr>
          <a:xfrm>
            <a:off x="9682437" y="4545809"/>
            <a:ext cx="24356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cs typeface="Arial" panose="020B0604020202020204" pitchFamily="34" charset="0"/>
              </a:rPr>
              <a:t>E.C. O’Quinn, </a:t>
            </a:r>
            <a:r>
              <a:rPr lang="en-US" sz="1300" i="1" dirty="0">
                <a:cs typeface="Arial" panose="020B0604020202020204" pitchFamily="34" charset="0"/>
              </a:rPr>
              <a:t>et al</a:t>
            </a:r>
            <a:r>
              <a:rPr lang="en-US" sz="1300" dirty="0">
                <a:cs typeface="Arial" panose="020B0604020202020204" pitchFamily="34" charset="0"/>
              </a:rPr>
              <a:t>., </a:t>
            </a:r>
            <a:r>
              <a:rPr lang="en-US" sz="1300" i="1" u="sng" dirty="0">
                <a:cs typeface="Arial" panose="020B0604020202020204" pitchFamily="34" charset="0"/>
              </a:rPr>
              <a:t>Nuclear Science and Engineering</a:t>
            </a:r>
            <a:r>
              <a:rPr lang="en-US" sz="1300" dirty="0">
                <a:cs typeface="Arial" panose="020B0604020202020204" pitchFamily="34" charset="0"/>
              </a:rPr>
              <a:t> (2025)</a:t>
            </a:r>
          </a:p>
          <a:p>
            <a:pPr algn="ctr"/>
            <a:endParaRPr lang="en-US" sz="300" dirty="0"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cs typeface="Arial" panose="020B0604020202020204" pitchFamily="34" charset="0"/>
              </a:rPr>
              <a:t>(CDAC supported)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204559-2C6A-80D6-010D-4DC8BE0831F2}"/>
              </a:ext>
            </a:extLst>
          </p:cNvPr>
          <p:cNvSpPr txBox="1"/>
          <p:nvPr/>
        </p:nvSpPr>
        <p:spPr>
          <a:xfrm>
            <a:off x="424440" y="4495032"/>
            <a:ext cx="2112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950 MeV Au ions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10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609580-98C2-6D3B-FFDE-B87ADA333F79}"/>
              </a:ext>
            </a:extLst>
          </p:cNvPr>
          <p:cNvSpPr txBox="1"/>
          <p:nvPr/>
        </p:nvSpPr>
        <p:spPr>
          <a:xfrm>
            <a:off x="10416968" y="1779980"/>
            <a:ext cx="1603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 GeV Au ions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EAD008-9B5B-7B72-1968-2796545DAF61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41F0AE-4E3A-5EBA-7708-27E6B8045AA7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063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  <p:bldP spid="6" grpId="0"/>
      <p:bldP spid="28" grpId="0"/>
      <p:bldP spid="30" grpId="0"/>
      <p:bldP spid="31" grpId="0" animBg="1"/>
      <p:bldP spid="40" grpId="0" animBg="1"/>
      <p:bldP spid="46" grpId="0"/>
      <p:bldP spid="47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116B-CDFE-1892-1100-B09C24E5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5A460960-7F97-9E96-20C2-976BC933D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812D57-0BF0-83E4-E355-AABB305D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B237E8AC-74F7-D5A1-5A91-8AF72E70E71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E91C62-5A6E-ABF9-828D-0B9226B92EFE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EC05FD4A-367A-DB3F-52E8-65F0917A3C91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669034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Defect Characterization at Large User Facilities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424B303-4864-16C3-B1CA-E9EE885EEAF4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ED1094C1-0BC9-AB47-2407-C77A98209BD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4638FE-951F-4255-6C49-1511299F040F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921" y="2895764"/>
            <a:ext cx="2583209" cy="1216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87976-2C54-9035-E59F-701557F313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221" y="1511110"/>
            <a:ext cx="3132620" cy="12161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4986BA-D350-4EBC-F765-4985E7A18F57}"/>
              </a:ext>
            </a:extLst>
          </p:cNvPr>
          <p:cNvSpPr/>
          <p:nvPr/>
        </p:nvSpPr>
        <p:spPr>
          <a:xfrm>
            <a:off x="318722" y="1257732"/>
            <a:ext cx="1050878" cy="488037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4B25E-9EDC-36C1-4DCA-4D7B9256267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52" y="1295676"/>
            <a:ext cx="1227151" cy="430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94567A-3F6B-4176-AB84-2D08D6CD13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5178" y="1395688"/>
            <a:ext cx="1083208" cy="459702"/>
          </a:xfrm>
          <a:prstGeom prst="rect">
            <a:avLst/>
          </a:prstGeom>
          <a:solidFill>
            <a:srgbClr val="F9F2E7"/>
          </a:solidFill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E4FF961D-9750-ACB6-DD48-44C3A5450485}"/>
              </a:ext>
            </a:extLst>
          </p:cNvPr>
          <p:cNvSpPr txBox="1">
            <a:spLocks/>
          </p:cNvSpPr>
          <p:nvPr/>
        </p:nvSpPr>
        <p:spPr>
          <a:xfrm>
            <a:off x="229952" y="4295293"/>
            <a:ext cx="5584508" cy="196469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" b="1" dirty="0">
              <a:solidFill>
                <a:srgbClr val="000066"/>
              </a:solidFill>
            </a:endParaRPr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000066"/>
                </a:solidFill>
                <a:sym typeface="Wingdings"/>
              </a:rPr>
              <a:t>analysis of large fluence series using 3D-printed customized holder (~1 µg per sample)</a:t>
            </a:r>
          </a:p>
          <a:p>
            <a:pPr marL="457200" lvl="1" indent="0">
              <a:buNone/>
            </a:pPr>
            <a:endParaRPr lang="en-US" sz="400" dirty="0">
              <a:solidFill>
                <a:srgbClr val="000066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000066"/>
                </a:solidFill>
                <a:sym typeface="Wingdings"/>
              </a:rPr>
              <a:t>coupled diffraction (XRD) and spectroscopy (EXAFS) measurements </a:t>
            </a:r>
          </a:p>
          <a:p>
            <a:pPr marL="457200" lvl="1" indent="0">
              <a:buNone/>
            </a:pPr>
            <a:endParaRPr lang="en-US" sz="300" dirty="0">
              <a:solidFill>
                <a:srgbClr val="000066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000066"/>
                </a:solidFill>
                <a:sym typeface="Wingdings"/>
              </a:rPr>
              <a:t>swelling, strain/grain size, and oxidation state</a:t>
            </a: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700" dirty="0">
                <a:solidFill>
                  <a:srgbClr val="C00000"/>
                </a:solidFill>
                <a:sym typeface="Wingdings"/>
              </a:rPr>
              <a:t>developed high-throughput measurement  approach, including for actinide materials</a:t>
            </a:r>
          </a:p>
        </p:txBody>
      </p:sp>
      <p:pic>
        <p:nvPicPr>
          <p:cNvPr id="12" name="image7.png" title="Image">
            <a:extLst>
              <a:ext uri="{FF2B5EF4-FFF2-40B4-BE49-F238E27FC236}">
                <a16:creationId xmlns:a16="http://schemas.microsoft.com/office/drawing/2014/main" id="{09511359-8684-8CA0-E6EE-6037EA4C5BBB}"/>
              </a:ext>
            </a:extLst>
          </p:cNvPr>
          <p:cNvPicPr/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07" y="2526796"/>
            <a:ext cx="1079396" cy="163367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F92486-DABE-FCE6-BDA3-E11878008A35}"/>
              </a:ext>
            </a:extLst>
          </p:cNvPr>
          <p:cNvCxnSpPr>
            <a:cxnSpLocks/>
          </p:cNvCxnSpPr>
          <p:nvPr/>
        </p:nvCxnSpPr>
        <p:spPr>
          <a:xfrm>
            <a:off x="5697507" y="1139979"/>
            <a:ext cx="0" cy="5342797"/>
          </a:xfrm>
          <a:prstGeom prst="line">
            <a:avLst/>
          </a:prstGeom>
          <a:ln w="38100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5284F9C-36B7-DF5D-E4A9-14AC4559AB8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9096" y="1583040"/>
            <a:ext cx="489610" cy="728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D34B3C90-A58E-9D3B-6FE7-02983106D3A3}"/>
              </a:ext>
            </a:extLst>
          </p:cNvPr>
          <p:cNvSpPr txBox="1">
            <a:spLocks/>
          </p:cNvSpPr>
          <p:nvPr/>
        </p:nvSpPr>
        <p:spPr>
          <a:xfrm>
            <a:off x="1659887" y="929732"/>
            <a:ext cx="3352997" cy="55791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X-Ray Analysis at HPCAT</a:t>
            </a:r>
          </a:p>
        </p:txBody>
      </p:sp>
      <p:pic>
        <p:nvPicPr>
          <p:cNvPr id="19" name="scattering schematic_v3.jpg" descr="scattering schematic_v3.jpg">
            <a:extLst>
              <a:ext uri="{FF2B5EF4-FFF2-40B4-BE49-F238E27FC236}">
                <a16:creationId xmlns:a16="http://schemas.microsoft.com/office/drawing/2014/main" id="{0FCC68E5-6F40-722F-D5FB-09477C7F0A4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0879" y="1534435"/>
            <a:ext cx="2931236" cy="1480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E4B705-B43E-49FC-D5BD-7D1456C4FE04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2442" y="1497917"/>
            <a:ext cx="2298514" cy="12161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DC89FD-95BB-D69A-301F-A6294ECDC4DB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5855" y="1402555"/>
            <a:ext cx="914856" cy="675788"/>
          </a:xfrm>
          <a:prstGeom prst="rect">
            <a:avLst/>
          </a:prstGeom>
          <a:solidFill>
            <a:srgbClr val="F9F2E7"/>
          </a:solidFill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8ADAD37-5AC5-8110-8AF6-26BF20B79A2E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609" y="1193208"/>
            <a:ext cx="1466339" cy="779665"/>
          </a:xfrm>
          <a:prstGeom prst="rect">
            <a:avLst/>
          </a:prstGeom>
        </p:spPr>
      </p:pic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4A964255-4DDB-C818-E154-9AA60C165635}"/>
              </a:ext>
            </a:extLst>
          </p:cNvPr>
          <p:cNvSpPr txBox="1">
            <a:spLocks/>
          </p:cNvSpPr>
          <p:nvPr/>
        </p:nvSpPr>
        <p:spPr>
          <a:xfrm>
            <a:off x="5339545" y="4921145"/>
            <a:ext cx="6861299" cy="177837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" b="1" dirty="0"/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66"/>
                </a:solidFill>
                <a:sym typeface="Wingdings"/>
              </a:rPr>
              <a:t>neutron diffraction &amp; pair distribution function (PDF) analysis</a:t>
            </a:r>
          </a:p>
          <a:p>
            <a:pPr marL="457200" lvl="1" indent="0">
              <a:buNone/>
            </a:pPr>
            <a:endParaRPr lang="en-US" sz="300" dirty="0">
              <a:solidFill>
                <a:srgbClr val="000066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000066"/>
                </a:solidFill>
                <a:sym typeface="Wingdings"/>
              </a:rPr>
              <a:t>short- &amp; long-range structural information (cations + anions)</a:t>
            </a:r>
          </a:p>
          <a:p>
            <a:pPr marL="457200" lvl="1" indent="0">
              <a:buNone/>
            </a:pPr>
            <a:endParaRPr lang="en-US" sz="300" dirty="0">
              <a:solidFill>
                <a:srgbClr val="000099"/>
              </a:solidFill>
              <a:sym typeface="Wingdings"/>
            </a:endParaRPr>
          </a:p>
          <a:p>
            <a:pPr lvl="1">
              <a:buFont typeface="Wingdings"/>
              <a:buChar char="ð"/>
            </a:pPr>
            <a:r>
              <a:rPr lang="en-US" sz="1900" dirty="0">
                <a:solidFill>
                  <a:srgbClr val="C00000"/>
                </a:solidFill>
                <a:sym typeface="Wingdings"/>
              </a:rPr>
              <a:t>developing PDF analysis at SNAP: (</a:t>
            </a:r>
            <a:r>
              <a:rPr lang="en-US" sz="1900" i="1" dirty="0">
                <a:solidFill>
                  <a:srgbClr val="C00000"/>
                </a:solidFill>
                <a:sym typeface="Wingdings"/>
              </a:rPr>
              <a:t>i</a:t>
            </a:r>
            <a:r>
              <a:rPr lang="en-US" sz="1900" dirty="0">
                <a:solidFill>
                  <a:srgbClr val="C00000"/>
                </a:solidFill>
                <a:sym typeface="Wingdings"/>
              </a:rPr>
              <a:t>) short-range order at high-P      (</a:t>
            </a:r>
            <a:r>
              <a:rPr lang="en-US" sz="1900" i="1" dirty="0">
                <a:solidFill>
                  <a:srgbClr val="C00000"/>
                </a:solidFill>
                <a:sym typeface="Wingdings"/>
              </a:rPr>
              <a:t>ii</a:t>
            </a:r>
            <a:r>
              <a:rPr lang="en-US" sz="1900" dirty="0">
                <a:solidFill>
                  <a:srgbClr val="C00000"/>
                </a:solidFill>
                <a:sym typeface="Wingdings"/>
              </a:rPr>
              <a:t>) analysis of irradiated samples with reduced mass (~5 mg)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E5D2CA-00E0-445B-3A76-D061B40AEEE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5855" y="3082890"/>
            <a:ext cx="2395400" cy="176308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F6570AB-6758-0557-743A-F2C8C9B77922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6932" y="3001618"/>
            <a:ext cx="2451201" cy="1875749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3F169F-1312-9921-65F6-997E5D706983}"/>
              </a:ext>
            </a:extLst>
          </p:cNvPr>
          <p:cNvSpPr/>
          <p:nvPr/>
        </p:nvSpPr>
        <p:spPr>
          <a:xfrm>
            <a:off x="8749255" y="3899820"/>
            <a:ext cx="447848" cy="194131"/>
          </a:xfrm>
          <a:prstGeom prst="right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7F643C-2874-67A1-AC48-729BCF3E5B63}"/>
              </a:ext>
            </a:extLst>
          </p:cNvPr>
          <p:cNvSpPr/>
          <p:nvPr/>
        </p:nvSpPr>
        <p:spPr>
          <a:xfrm>
            <a:off x="8531641" y="3258118"/>
            <a:ext cx="939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Fourier</a:t>
            </a:r>
          </a:p>
          <a:p>
            <a:r>
              <a:rPr lang="en-US" sz="1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transform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EBDB4711-FDB9-F2E2-1C0C-684B6292E990}"/>
              </a:ext>
            </a:extLst>
          </p:cNvPr>
          <p:cNvSpPr txBox="1">
            <a:spLocks/>
          </p:cNvSpPr>
          <p:nvPr/>
        </p:nvSpPr>
        <p:spPr>
          <a:xfrm>
            <a:off x="6956930" y="932590"/>
            <a:ext cx="4668349" cy="55791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Neutron Total Scattering at NOMAD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53A91-6DFB-3F22-4BE4-4B0C9D1CFC2F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C793C-9166-3B9C-231C-4B87F29FA408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Graphic 4">
            <a:extLst>
              <a:ext uri="{FF2B5EF4-FFF2-40B4-BE49-F238E27FC236}">
                <a16:creationId xmlns:a16="http://schemas.microsoft.com/office/drawing/2014/main" id="{0EBABF30-3BD0-3553-D8AE-BEB298AB1B89}"/>
              </a:ext>
            </a:extLst>
          </p:cNvPr>
          <p:cNvPicPr/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33850" t="44581" r="37270" b="4404"/>
          <a:stretch/>
        </p:blipFill>
        <p:spPr>
          <a:xfrm>
            <a:off x="3909778" y="1448494"/>
            <a:ext cx="1058310" cy="97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56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 animBg="1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0671A-28B6-FB54-5F1C-A626A2C4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DA34FDC5-EF99-C1BB-4EAC-9A4D0243C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49F5C1-AFA7-8343-2D8E-88581298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19AD8C2B-36F5-D3D5-1116-81CA602A28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0A67EF-DF35-4FF3-5202-338145E6D470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0DD07C0E-503B-594C-5467-721ED639A861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339155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Defect Formation in Simple Oxide Fluorites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139772E-1102-045A-F4D8-E258193ECA1A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B3FCE-D09A-EA6B-85DB-4DFBE53C32F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473" y="1102068"/>
            <a:ext cx="5698383" cy="5228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00D764-97F4-499E-BFF2-AF1E5AE5E36A}"/>
              </a:ext>
            </a:extLst>
          </p:cNvPr>
          <p:cNvSpPr txBox="1"/>
          <p:nvPr/>
        </p:nvSpPr>
        <p:spPr>
          <a:xfrm>
            <a:off x="6448022" y="1102461"/>
            <a:ext cx="569838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Redox changes induced by ionizing radiation </a:t>
            </a:r>
          </a:p>
          <a:p>
            <a:endParaRPr lang="en-US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            ⇨ 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reduction of Ce</a:t>
            </a:r>
            <a:r>
              <a:rPr lang="en-US" sz="1900" baseline="30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Ce</a:t>
            </a:r>
            <a:r>
              <a:rPr lang="en-US" sz="1900" baseline="30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determines radiation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62BFB-0C0C-9F9F-9F9E-AABAAE1AA40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6882" y="5072087"/>
            <a:ext cx="1688924" cy="478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F06CB7-FF88-D07C-E90B-22626C86A7E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369" y="2036703"/>
            <a:ext cx="4560824" cy="4034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4365CA-9D34-A7D9-4304-24CB5B7940BC}"/>
              </a:ext>
            </a:extLst>
          </p:cNvPr>
          <p:cNvSpPr txBox="1"/>
          <p:nvPr/>
        </p:nvSpPr>
        <p:spPr>
          <a:xfrm>
            <a:off x="5306480" y="1157253"/>
            <a:ext cx="684376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XRD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2A2FE9-61F4-7A66-3A6D-04CC59F5249A}"/>
              </a:ext>
            </a:extLst>
          </p:cNvPr>
          <p:cNvGrpSpPr/>
          <p:nvPr/>
        </p:nvGrpSpPr>
        <p:grpSpPr>
          <a:xfrm>
            <a:off x="8392594" y="2536952"/>
            <a:ext cx="3219743" cy="2060449"/>
            <a:chOff x="5622870" y="3059502"/>
            <a:chExt cx="2765377" cy="1767523"/>
          </a:xfrm>
          <a:solidFill>
            <a:srgbClr val="F9F2E7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E96FC8-E13A-B0E6-7A19-8E0AD841AC38}"/>
                </a:ext>
              </a:extLst>
            </p:cNvPr>
            <p:cNvSpPr/>
            <p:nvPr/>
          </p:nvSpPr>
          <p:spPr>
            <a:xfrm>
              <a:off x="5676578" y="3059502"/>
              <a:ext cx="2711669" cy="8693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F6F774-E65E-010A-8BCE-E783BD60FBF5}"/>
                </a:ext>
              </a:extLst>
            </p:cNvPr>
            <p:cNvSpPr/>
            <p:nvPr/>
          </p:nvSpPr>
          <p:spPr>
            <a:xfrm>
              <a:off x="5622870" y="3957641"/>
              <a:ext cx="814370" cy="8693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FD6C0E-634D-1E44-2D26-1ABCC25041BE}"/>
                </a:ext>
              </a:extLst>
            </p:cNvPr>
            <p:cNvSpPr/>
            <p:nvPr/>
          </p:nvSpPr>
          <p:spPr>
            <a:xfrm>
              <a:off x="5829859" y="3522949"/>
              <a:ext cx="766428" cy="8693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1AA969-082A-2B82-D34E-497F5D27A1BD}"/>
              </a:ext>
            </a:extLst>
          </p:cNvPr>
          <p:cNvSpPr txBox="1"/>
          <p:nvPr/>
        </p:nvSpPr>
        <p:spPr>
          <a:xfrm>
            <a:off x="10306289" y="2608371"/>
            <a:ext cx="1261585" cy="369332"/>
          </a:xfrm>
          <a:prstGeom prst="rect">
            <a:avLst/>
          </a:prstGeom>
          <a:solidFill>
            <a:srgbClr val="F9F2E7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 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-edge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9E0ED-B8E6-92B1-FF98-B898AB5359EE}"/>
              </a:ext>
            </a:extLst>
          </p:cNvPr>
          <p:cNvSpPr/>
          <p:nvPr/>
        </p:nvSpPr>
        <p:spPr>
          <a:xfrm>
            <a:off x="5199620" y="1573972"/>
            <a:ext cx="184354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5.8 ± 0.6 nm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99118-E331-2D56-5AD8-C783F67A80BC}"/>
              </a:ext>
            </a:extLst>
          </p:cNvPr>
          <p:cNvSpPr txBox="1"/>
          <p:nvPr/>
        </p:nvSpPr>
        <p:spPr>
          <a:xfrm>
            <a:off x="8472879" y="2576811"/>
            <a:ext cx="684376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XAS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EF0F2-541F-2C7D-BC75-BEF9A72985B0}"/>
              </a:ext>
            </a:extLst>
          </p:cNvPr>
          <p:cNvSpPr/>
          <p:nvPr/>
        </p:nvSpPr>
        <p:spPr>
          <a:xfrm>
            <a:off x="5199620" y="1942520"/>
            <a:ext cx="184354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5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6.1 ± 0.1 nm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C0D8D3-DC52-C2D8-21DC-B38ED839958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472" y="3238563"/>
            <a:ext cx="1465814" cy="151842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6C6AAC-F681-F3DD-BECF-67172213A8DC}"/>
              </a:ext>
            </a:extLst>
          </p:cNvPr>
          <p:cNvCxnSpPr/>
          <p:nvPr/>
        </p:nvCxnSpPr>
        <p:spPr>
          <a:xfrm>
            <a:off x="1305686" y="1732701"/>
            <a:ext cx="235741" cy="0"/>
          </a:xfrm>
          <a:prstGeom prst="line">
            <a:avLst/>
          </a:prstGeom>
          <a:ln w="3175">
            <a:solidFill>
              <a:srgbClr val="FF0000">
                <a:alpha val="74902"/>
              </a:srgbClr>
            </a:solidFill>
            <a:prstDash val="sysDash"/>
            <a:headEnd type="arrow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84A7F01-9946-A04D-7F01-7E6E6AADAD59}"/>
              </a:ext>
            </a:extLst>
          </p:cNvPr>
          <p:cNvCxnSpPr/>
          <p:nvPr/>
        </p:nvCxnSpPr>
        <p:spPr>
          <a:xfrm>
            <a:off x="1318835" y="2112178"/>
            <a:ext cx="222040" cy="0"/>
          </a:xfrm>
          <a:prstGeom prst="line">
            <a:avLst/>
          </a:prstGeom>
          <a:ln w="3175">
            <a:solidFill>
              <a:srgbClr val="0000FF">
                <a:alpha val="74902"/>
              </a:srgbClr>
            </a:solidFill>
            <a:prstDash val="sysDash"/>
            <a:headEnd type="arrow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565505F-6D4B-329C-EABB-D0EA2CBB781C}"/>
              </a:ext>
            </a:extLst>
          </p:cNvPr>
          <p:cNvSpPr txBox="1"/>
          <p:nvPr/>
        </p:nvSpPr>
        <p:spPr>
          <a:xfrm>
            <a:off x="5668005" y="2628417"/>
            <a:ext cx="1852164" cy="34928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950 MeV Au ions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38B0C8-C87E-3F55-C8AB-9C582EFC8434}"/>
              </a:ext>
            </a:extLst>
          </p:cNvPr>
          <p:cNvSpPr/>
          <p:nvPr/>
        </p:nvSpPr>
        <p:spPr>
          <a:xfrm>
            <a:off x="5287532" y="5273583"/>
            <a:ext cx="2844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cs typeface="Times New Roman" panose="02020603050405020304" pitchFamily="18" charset="0"/>
              </a:rPr>
              <a:t>C.L. Tracy, </a:t>
            </a:r>
            <a:r>
              <a:rPr lang="en-US" sz="1300" i="1" dirty="0">
                <a:cs typeface="Times New Roman" panose="02020603050405020304" pitchFamily="18" charset="0"/>
              </a:rPr>
              <a:t>et al</a:t>
            </a:r>
            <a:r>
              <a:rPr lang="en-US" sz="1300" dirty="0">
                <a:cs typeface="Times New Roman" panose="02020603050405020304" pitchFamily="18" charset="0"/>
              </a:rPr>
              <a:t>., </a:t>
            </a:r>
            <a:r>
              <a:rPr lang="en-US" sz="1300" i="1" u="sng" dirty="0">
                <a:cs typeface="Times New Roman" panose="02020603050405020304" pitchFamily="18" charset="0"/>
              </a:rPr>
              <a:t>Nature Communications</a:t>
            </a:r>
            <a:r>
              <a:rPr lang="en-US" sz="1300" i="1" dirty="0">
                <a:cs typeface="Times New Roman" panose="02020603050405020304" pitchFamily="18" charset="0"/>
              </a:rPr>
              <a:t> </a:t>
            </a:r>
            <a:r>
              <a:rPr lang="en-US" sz="1300" b="1" dirty="0">
                <a:cs typeface="Times New Roman" panose="02020603050405020304" pitchFamily="18" charset="0"/>
              </a:rPr>
              <a:t>6,</a:t>
            </a:r>
            <a:r>
              <a:rPr lang="en-US" sz="1300" dirty="0">
                <a:cs typeface="Times New Roman" panose="02020603050405020304" pitchFamily="18" charset="0"/>
              </a:rPr>
              <a:t> 6133 (2015)</a:t>
            </a:r>
          </a:p>
          <a:p>
            <a:pPr algn="ctr"/>
            <a:endParaRPr lang="en-US" sz="300" dirty="0">
              <a:cs typeface="Times New Roman" panose="02020603050405020304" pitchFamily="18" charset="0"/>
            </a:endParaRPr>
          </a:p>
          <a:p>
            <a:pPr algn="ctr"/>
            <a:r>
              <a:rPr lang="en-US" sz="1300" dirty="0">
                <a:cs typeface="Times New Roman" panose="02020603050405020304" pitchFamily="18" charset="0"/>
              </a:rPr>
              <a:t>(CDAC-supported beamtime)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9620736-15DD-F58C-0D48-E411063F6B4D}"/>
                  </a:ext>
                </a:extLst>
              </p:cNvPr>
              <p:cNvSpPr/>
              <p:nvPr/>
            </p:nvSpPr>
            <p:spPr>
              <a:xfrm>
                <a:off x="1302876" y="2748219"/>
                <a:ext cx="3256936" cy="48205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𝜎𝜙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9620736-15DD-F58C-0D48-E411063F6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876" y="2748219"/>
                <a:ext cx="3256936" cy="4820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EF0424A-89C6-D04E-D400-6FF82A261530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1F4026-9D08-7835-692F-081B95D50E02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376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5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51BB-0CE2-F3CD-E77D-2E6733D6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BFA723B4-6F73-3C5E-161F-04C9D8316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30B4F3-A104-81BA-F0C1-92F92819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FA902946-5116-EC5D-B7CB-1454834A777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B2C36C-A5DF-3756-9D92-A05331D3390E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84A25830-D32C-DE81-4380-778FFF889652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A7B3F-26BD-9AAA-91C6-68125B215DE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8339" y="1208069"/>
            <a:ext cx="3808244" cy="291420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09FBC63-51F8-F436-E7E0-A9E1AEF8CB2A}"/>
              </a:ext>
            </a:extLst>
          </p:cNvPr>
          <p:cNvSpPr/>
          <p:nvPr/>
        </p:nvSpPr>
        <p:spPr>
          <a:xfrm>
            <a:off x="8752403" y="2630455"/>
            <a:ext cx="752603" cy="12629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967A56-247C-0E98-26CC-6D618619CE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802265" y="4236533"/>
            <a:ext cx="3222625" cy="1128713"/>
            <a:chOff x="374" y="670"/>
            <a:chExt cx="2030" cy="711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BA046258-5D23-C64C-64AA-81DBDE9C5A9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" y="670"/>
              <a:ext cx="2030" cy="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4E7BA1A-DCB4-B287-01B7-A7A9AB2FB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" y="692"/>
              <a:ext cx="1992" cy="650"/>
            </a:xfrm>
            <a:custGeom>
              <a:avLst/>
              <a:gdLst>
                <a:gd name="T0" fmla="*/ 0 w 4360"/>
                <a:gd name="T1" fmla="*/ 0 h 1413"/>
                <a:gd name="T2" fmla="*/ 0 w 4360"/>
                <a:gd name="T3" fmla="*/ 0 h 1413"/>
                <a:gd name="T4" fmla="*/ 4360 w 4360"/>
                <a:gd name="T5" fmla="*/ 0 h 1413"/>
                <a:gd name="T6" fmla="*/ 4360 w 4360"/>
                <a:gd name="T7" fmla="*/ 1413 h 1413"/>
                <a:gd name="T8" fmla="*/ 0 w 4360"/>
                <a:gd name="T9" fmla="*/ 1413 h 1413"/>
                <a:gd name="T10" fmla="*/ 0 w 4360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0" h="1413">
                  <a:moveTo>
                    <a:pt x="0" y="0"/>
                  </a:moveTo>
                  <a:lnTo>
                    <a:pt x="0" y="0"/>
                  </a:lnTo>
                  <a:lnTo>
                    <a:pt x="4360" y="0"/>
                  </a:lnTo>
                  <a:lnTo>
                    <a:pt x="4360" y="1413"/>
                  </a:lnTo>
                  <a:lnTo>
                    <a:pt x="0" y="1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AADE9D0-9294-76D3-7A3F-B9F797EE6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" y="692"/>
              <a:ext cx="1992" cy="650"/>
            </a:xfrm>
            <a:custGeom>
              <a:avLst/>
              <a:gdLst>
                <a:gd name="T0" fmla="*/ 0 w 4361"/>
                <a:gd name="T1" fmla="*/ 0 h 1413"/>
                <a:gd name="T2" fmla="*/ 0 w 4361"/>
                <a:gd name="T3" fmla="*/ 0 h 1413"/>
                <a:gd name="T4" fmla="*/ 4361 w 4361"/>
                <a:gd name="T5" fmla="*/ 0 h 1413"/>
                <a:gd name="T6" fmla="*/ 4361 w 4361"/>
                <a:gd name="T7" fmla="*/ 1413 h 1413"/>
                <a:gd name="T8" fmla="*/ 0 w 4361"/>
                <a:gd name="T9" fmla="*/ 1413 h 1413"/>
                <a:gd name="T10" fmla="*/ 0 w 4361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1" h="1413">
                  <a:moveTo>
                    <a:pt x="0" y="0"/>
                  </a:moveTo>
                  <a:lnTo>
                    <a:pt x="0" y="0"/>
                  </a:lnTo>
                  <a:lnTo>
                    <a:pt x="4361" y="0"/>
                  </a:lnTo>
                  <a:lnTo>
                    <a:pt x="4361" y="1413"/>
                  </a:lnTo>
                  <a:lnTo>
                    <a:pt x="0" y="141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>
              <a:solidFill>
                <a:srgbClr val="1F497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7A5C7C3C-639A-1185-2DDE-B3BE8D3E4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 dirty="0">
                  <a:solidFill>
                    <a:srgbClr val="000000"/>
                  </a:solidFill>
                </a:rPr>
                <a:t>p</a:t>
              </a:r>
              <a:endParaRPr lang="en-US" altLang="en-US" dirty="0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3749D82A-67ED-DE93-E499-E39354E15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F8EED512-979D-B489-474B-417DEF2CC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723"/>
              <a:ext cx="4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 dirty="0">
                  <a:solidFill>
                    <a:srgbClr val="000000"/>
                  </a:solidFill>
                </a:rPr>
                <a:t>r</a:t>
              </a:r>
              <a:endParaRPr lang="en-US" altLang="en-US" dirty="0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D756CAB1-C4F6-92DF-ED62-15C82B699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o</a:t>
              </a:r>
              <a:endParaRPr lang="en-US" altLang="en-US"/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E88A0F6C-0987-1763-F836-0AAF8641A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" y="723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x</a:t>
              </a:r>
              <a:endParaRPr lang="en-US" alt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52EC2B69-0E96-1558-0336-836E02BA3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723"/>
              <a:ext cx="27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i</a:t>
              </a:r>
              <a:endParaRPr lang="en-US" altLang="en-US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50E19FA2-8780-03F7-F4EA-53542B434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d</a:t>
              </a:r>
              <a:endParaRPr lang="en-US" altLang="en-US"/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85F4562E-CCC6-1988-E715-6DB667E56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AFD3F4BF-69C4-B198-82C7-37CD6DCE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71A0DA95-75F6-2006-5E6E-5B5BF14CC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 dirty="0">
                  <a:solidFill>
                    <a:srgbClr val="000000"/>
                  </a:solidFill>
                </a:rPr>
                <a:t>d</a:t>
              </a:r>
              <a:endParaRPr lang="en-US" altLang="en-US" dirty="0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23E6B737-489A-6B33-FA9C-F4953B334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BA104EEB-BBC2-22E9-7C4D-38A0D5A9E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f</a:t>
              </a:r>
              <a:endParaRPr lang="en-US" altLang="en-US"/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308899DD-EF14-E54E-C07A-967C02965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5FA5AD2E-90F0-1D26-227E-7D504E4A2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" y="723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c</a:t>
              </a:r>
              <a:endParaRPr lang="en-US" altLang="en-US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982334E8-812C-E808-D75A-B87E14876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t</a:t>
              </a:r>
              <a:endParaRPr lang="en-US" altLang="en-US"/>
            </a:p>
          </p:txBody>
        </p:sp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05AD6BE8-F61D-E786-AAD7-607196A3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11FB753F-AE84-0C2E-32DE-38DFF5160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 dirty="0">
                  <a:solidFill>
                    <a:srgbClr val="000000"/>
                  </a:solidFill>
                </a:rPr>
                <a:t>f</a:t>
              </a:r>
              <a:endParaRPr lang="en-US" altLang="en-US" dirty="0"/>
            </a:p>
          </p:txBody>
        </p:sp>
        <p:sp>
          <p:nvSpPr>
            <p:cNvPr id="29" name="Rectangle 24">
              <a:extLst>
                <a:ext uri="{FF2B5EF4-FFF2-40B4-BE49-F238E27FC236}">
                  <a16:creationId xmlns:a16="http://schemas.microsoft.com/office/drawing/2014/main" id="{581F4FE7-EB54-114C-78BB-739F2D232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o</a:t>
              </a:r>
              <a:endParaRPr lang="en-US" alt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B0726D41-0CBE-6E14-D46D-DAC73AF79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" y="723"/>
              <a:ext cx="4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r</a:t>
              </a:r>
              <a:endParaRPr lang="en-US" altLang="en-US"/>
            </a:p>
          </p:txBody>
        </p:sp>
        <p:sp>
          <p:nvSpPr>
            <p:cNvPr id="31" name="Rectangle 26">
              <a:extLst>
                <a:ext uri="{FF2B5EF4-FFF2-40B4-BE49-F238E27FC236}">
                  <a16:creationId xmlns:a16="http://schemas.microsoft.com/office/drawing/2014/main" id="{ABE82E64-1B46-4E61-8045-1F3BFA8B2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723"/>
              <a:ext cx="10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m</a:t>
              </a:r>
              <a:endParaRPr lang="en-US" alt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3F7199F4-7797-8830-B846-4E44FAAE7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a</a:t>
              </a:r>
              <a:endParaRPr lang="en-US" altLang="en-US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DA3EEF13-8B7E-1348-20CC-F18E00FE1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t</a:t>
              </a:r>
              <a:endParaRPr lang="en-US" altLang="en-US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05D48A6A-D427-CD07-C26E-AAE724426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723"/>
              <a:ext cx="27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i</a:t>
              </a:r>
              <a:endParaRPr lang="en-US" altLang="en-US"/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id="{9D4D2A49-69E7-EF30-E788-2C15B3409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o</a:t>
              </a:r>
              <a:endParaRPr lang="en-US" altLang="en-US"/>
            </a:p>
          </p:txBody>
        </p:sp>
        <p:sp>
          <p:nvSpPr>
            <p:cNvPr id="38" name="Rectangle 31">
              <a:extLst>
                <a:ext uri="{FF2B5EF4-FFF2-40B4-BE49-F238E27FC236}">
                  <a16:creationId xmlns:a16="http://schemas.microsoft.com/office/drawing/2014/main" id="{52F96C04-F83F-6046-5014-5F2D24BA1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 dirty="0">
                  <a:solidFill>
                    <a:srgbClr val="000000"/>
                  </a:solidFill>
                </a:rPr>
                <a:t>n</a:t>
              </a:r>
              <a:endParaRPr lang="en-US" altLang="en-US" dirty="0"/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5D7EDD5B-2944-168E-94ED-E2D74CB79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7EF49C80-0059-892C-49ED-6D8A7E10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723"/>
              <a:ext cx="27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i</a:t>
              </a:r>
              <a:endParaRPr lang="en-US" altLang="en-US"/>
            </a:p>
          </p:txBody>
        </p:sp>
        <p:sp>
          <p:nvSpPr>
            <p:cNvPr id="41" name="Rectangle 34">
              <a:extLst>
                <a:ext uri="{FF2B5EF4-FFF2-40B4-BE49-F238E27FC236}">
                  <a16:creationId xmlns:a16="http://schemas.microsoft.com/office/drawing/2014/main" id="{12648D43-8396-D857-C012-88FD56F2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n</a:t>
              </a:r>
              <a:endParaRPr lang="en-US" altLang="en-US"/>
            </a:p>
          </p:txBody>
        </p:sp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id="{14570691-6FBB-ADE8-90FF-F1A3B82CB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723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43" name="Rectangle 36">
              <a:extLst>
                <a:ext uri="{FF2B5EF4-FFF2-40B4-BE49-F238E27FC236}">
                  <a16:creationId xmlns:a16="http://schemas.microsoft.com/office/drawing/2014/main" id="{3A19F092-69FC-1DB9-746A-B4E364355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723"/>
              <a:ext cx="8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C</a:t>
              </a:r>
              <a:endParaRPr lang="en-US" altLang="en-US"/>
            </a:p>
          </p:txBody>
        </p:sp>
        <p:sp>
          <p:nvSpPr>
            <p:cNvPr id="44" name="Rectangle 37">
              <a:extLst>
                <a:ext uri="{FF2B5EF4-FFF2-40B4-BE49-F238E27FC236}">
                  <a16:creationId xmlns:a16="http://schemas.microsoft.com/office/drawing/2014/main" id="{5E1E7500-81E2-BA93-BB07-324DBF366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723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45" name="Rectangle 38">
              <a:extLst>
                <a:ext uri="{FF2B5EF4-FFF2-40B4-BE49-F238E27FC236}">
                  <a16:creationId xmlns:a16="http://schemas.microsoft.com/office/drawing/2014/main" id="{0EB2AF27-4B43-F151-CC7D-94F5F7FBA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6" y="723"/>
              <a:ext cx="9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O</a:t>
              </a:r>
              <a:endParaRPr lang="en-US" altLang="en-US"/>
            </a:p>
          </p:txBody>
        </p:sp>
        <p:sp>
          <p:nvSpPr>
            <p:cNvPr id="46" name="Rectangle 39">
              <a:extLst>
                <a:ext uri="{FF2B5EF4-FFF2-40B4-BE49-F238E27FC236}">
                  <a16:creationId xmlns:a16="http://schemas.microsoft.com/office/drawing/2014/main" id="{92787037-49F5-F514-B9B6-DF7FAE1DD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786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000">
                  <a:solidFill>
                    <a:srgbClr val="000000"/>
                  </a:solidFill>
                </a:rPr>
                <a:t>2</a:t>
              </a:r>
              <a:endParaRPr lang="en-US" altLang="en-US"/>
            </a:p>
          </p:txBody>
        </p:sp>
        <p:sp>
          <p:nvSpPr>
            <p:cNvPr id="47" name="Rectangle 40">
              <a:extLst>
                <a:ext uri="{FF2B5EF4-FFF2-40B4-BE49-F238E27FC236}">
                  <a16:creationId xmlns:a16="http://schemas.microsoft.com/office/drawing/2014/main" id="{9A9F7416-C2E5-3E85-19A6-B4564522D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" y="943"/>
              <a:ext cx="4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b="1">
                  <a:solidFill>
                    <a:srgbClr val="000000"/>
                  </a:solidFill>
                  <a:latin typeface="Arial Bold" panose="020B0704020202020204" pitchFamily="34" charset="0"/>
                </a:rPr>
                <a:t>[</a:t>
              </a:r>
              <a:endParaRPr lang="en-US" altLang="en-US"/>
            </a:p>
          </p:txBody>
        </p:sp>
        <p:sp>
          <p:nvSpPr>
            <p:cNvPr id="48" name="Rectangle 41">
              <a:extLst>
                <a:ext uri="{FF2B5EF4-FFF2-40B4-BE49-F238E27FC236}">
                  <a16:creationId xmlns:a16="http://schemas.microsoft.com/office/drawing/2014/main" id="{3E532491-FD11-23A5-33A5-0776ADF93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943"/>
              <a:ext cx="11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b="1">
                  <a:solidFill>
                    <a:srgbClr val="000000"/>
                  </a:solidFill>
                  <a:latin typeface="Arial Bold" panose="020B0704020202020204" pitchFamily="34" charset="0"/>
                </a:rPr>
                <a:t>O</a:t>
              </a:r>
              <a:endParaRPr lang="en-US" altLang="en-US"/>
            </a:p>
          </p:txBody>
        </p:sp>
        <p:sp>
          <p:nvSpPr>
            <p:cNvPr id="49" name="Rectangle 42">
              <a:extLst>
                <a:ext uri="{FF2B5EF4-FFF2-40B4-BE49-F238E27FC236}">
                  <a16:creationId xmlns:a16="http://schemas.microsoft.com/office/drawing/2014/main" id="{424A70EF-3781-BEDD-DFB5-B78964676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943"/>
              <a:ext cx="14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b="1">
                  <a:solidFill>
                    <a:srgbClr val="000000"/>
                  </a:solidFill>
                  <a:latin typeface="Arial Bold" panose="020B0704020202020204" pitchFamily="34" charset="0"/>
                </a:rPr>
                <a:t>—</a:t>
              </a:r>
              <a:endParaRPr lang="en-US" altLang="en-US"/>
            </a:p>
          </p:txBody>
        </p:sp>
        <p:sp>
          <p:nvSpPr>
            <p:cNvPr id="50" name="Rectangle 43">
              <a:extLst>
                <a:ext uri="{FF2B5EF4-FFF2-40B4-BE49-F238E27FC236}">
                  <a16:creationId xmlns:a16="http://schemas.microsoft.com/office/drawing/2014/main" id="{DA776303-072B-2B49-12E5-2771F8C45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943"/>
              <a:ext cx="11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b="1">
                  <a:solidFill>
                    <a:srgbClr val="000000"/>
                  </a:solidFill>
                  <a:latin typeface="Arial Bold" panose="020B0704020202020204" pitchFamily="34" charset="0"/>
                </a:rPr>
                <a:t>O</a:t>
              </a:r>
              <a:endParaRPr lang="en-US" altLang="en-US"/>
            </a:p>
          </p:txBody>
        </p:sp>
        <p:sp>
          <p:nvSpPr>
            <p:cNvPr id="51" name="Rectangle 44">
              <a:extLst>
                <a:ext uri="{FF2B5EF4-FFF2-40B4-BE49-F238E27FC236}">
                  <a16:creationId xmlns:a16="http://schemas.microsoft.com/office/drawing/2014/main" id="{3286B123-AA2C-AD47-FA05-82061CFED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943"/>
              <a:ext cx="4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b="1">
                  <a:solidFill>
                    <a:srgbClr val="000000"/>
                  </a:solidFill>
                  <a:latin typeface="Arial Bold" panose="020B0704020202020204" pitchFamily="34" charset="0"/>
                </a:rPr>
                <a:t>]</a:t>
              </a:r>
              <a:endParaRPr lang="en-US" altLang="en-US"/>
            </a:p>
          </p:txBody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D9BE1E2E-DD33-CA76-109C-844EAA169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94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200" b="1">
                  <a:solidFill>
                    <a:srgbClr val="000000"/>
                  </a:solidFill>
                  <a:latin typeface="Arial Bold" panose="020B0704020202020204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53" name="Rectangle 46">
              <a:extLst>
                <a:ext uri="{FF2B5EF4-FFF2-40B4-BE49-F238E27FC236}">
                  <a16:creationId xmlns:a16="http://schemas.microsoft.com/office/drawing/2014/main" id="{E78B7A56-5EB9-7365-8CE9-30042DC02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" y="945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200" b="1">
                  <a:solidFill>
                    <a:srgbClr val="000000"/>
                  </a:solidFill>
                  <a:latin typeface="Arial Bold" panose="020B0704020202020204" pitchFamily="34" charset="0"/>
                </a:rPr>
                <a:t>-</a:t>
              </a:r>
              <a:endParaRPr lang="en-US" altLang="en-US"/>
            </a:p>
          </p:txBody>
        </p:sp>
        <p:sp>
          <p:nvSpPr>
            <p:cNvPr id="54" name="Rectangle 47">
              <a:extLst>
                <a:ext uri="{FF2B5EF4-FFF2-40B4-BE49-F238E27FC236}">
                  <a16:creationId xmlns:a16="http://schemas.microsoft.com/office/drawing/2014/main" id="{BFE24CE0-6EA0-AB0A-01D7-F764DB9DD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" y="1177"/>
              <a:ext cx="4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(</a:t>
              </a:r>
              <a:endParaRPr lang="en-US" altLang="en-US"/>
            </a:p>
          </p:txBody>
        </p:sp>
        <p:sp>
          <p:nvSpPr>
            <p:cNvPr id="55" name="Rectangle 48">
              <a:extLst>
                <a:ext uri="{FF2B5EF4-FFF2-40B4-BE49-F238E27FC236}">
                  <a16:creationId xmlns:a16="http://schemas.microsoft.com/office/drawing/2014/main" id="{95D249FD-D6A5-32F3-8690-197E06425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o</a:t>
              </a:r>
              <a:endParaRPr lang="en-US" altLang="en-US"/>
            </a:p>
          </p:txBody>
        </p:sp>
        <p:sp>
          <p:nvSpPr>
            <p:cNvPr id="56" name="Rectangle 49">
              <a:extLst>
                <a:ext uri="{FF2B5EF4-FFF2-40B4-BE49-F238E27FC236}">
                  <a16:creationId xmlns:a16="http://schemas.microsoft.com/office/drawing/2014/main" id="{23250FD1-FB67-810D-B8D7-9925031CB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" y="117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x</a:t>
              </a:r>
              <a:endParaRPr lang="en-US" altLang="en-US"/>
            </a:p>
          </p:txBody>
        </p:sp>
        <p:sp>
          <p:nvSpPr>
            <p:cNvPr id="57" name="Rectangle 50">
              <a:extLst>
                <a:ext uri="{FF2B5EF4-FFF2-40B4-BE49-F238E27FC236}">
                  <a16:creationId xmlns:a16="http://schemas.microsoft.com/office/drawing/2014/main" id="{4203D906-35CB-96BE-5A09-FB3608CF1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117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y</a:t>
              </a:r>
              <a:endParaRPr lang="en-US" altLang="en-US"/>
            </a:p>
          </p:txBody>
        </p:sp>
        <p:sp>
          <p:nvSpPr>
            <p:cNvPr id="58" name="Rectangle 51">
              <a:extLst>
                <a:ext uri="{FF2B5EF4-FFF2-40B4-BE49-F238E27FC236}">
                  <a16:creationId xmlns:a16="http://schemas.microsoft.com/office/drawing/2014/main" id="{FAA270F9-CAD2-57DF-2C2E-DD0CFE7CC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g</a:t>
              </a:r>
              <a:endParaRPr lang="en-US" altLang="en-US"/>
            </a:p>
          </p:txBody>
        </p:sp>
        <p:sp>
          <p:nvSpPr>
            <p:cNvPr id="59" name="Rectangle 52">
              <a:extLst>
                <a:ext uri="{FF2B5EF4-FFF2-40B4-BE49-F238E27FC236}">
                  <a16:creationId xmlns:a16="http://schemas.microsoft.com/office/drawing/2014/main" id="{B3109E12-EF8A-62C7-E1BE-C670DB9CB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60" name="Rectangle 53">
              <a:extLst>
                <a:ext uri="{FF2B5EF4-FFF2-40B4-BE49-F238E27FC236}">
                  <a16:creationId xmlns:a16="http://schemas.microsoft.com/office/drawing/2014/main" id="{1B761881-6174-6C7A-8EB4-E95F9352F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n</a:t>
              </a:r>
              <a:endParaRPr lang="en-US" altLang="en-US"/>
            </a:p>
          </p:txBody>
        </p:sp>
        <p:sp>
          <p:nvSpPr>
            <p:cNvPr id="61" name="Rectangle 54">
              <a:extLst>
                <a:ext uri="{FF2B5EF4-FFF2-40B4-BE49-F238E27FC236}">
                  <a16:creationId xmlns:a16="http://schemas.microsoft.com/office/drawing/2014/main" id="{7DD063D0-008F-5246-D28A-F396A3955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1177"/>
              <a:ext cx="4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-</a:t>
              </a:r>
              <a:endParaRPr lang="en-US" altLang="en-US"/>
            </a:p>
          </p:txBody>
        </p:sp>
        <p:sp>
          <p:nvSpPr>
            <p:cNvPr id="62" name="Rectangle 55">
              <a:extLst>
                <a:ext uri="{FF2B5EF4-FFF2-40B4-BE49-F238E27FC236}">
                  <a16:creationId xmlns:a16="http://schemas.microsoft.com/office/drawing/2014/main" id="{7D7FD628-EC8A-71E7-8766-58A4CB90A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o</a:t>
              </a:r>
              <a:endParaRPr lang="en-US" altLang="en-US"/>
            </a:p>
          </p:txBody>
        </p:sp>
        <p:sp>
          <p:nvSpPr>
            <p:cNvPr id="63" name="Rectangle 56">
              <a:extLst>
                <a:ext uri="{FF2B5EF4-FFF2-40B4-BE49-F238E27FC236}">
                  <a16:creationId xmlns:a16="http://schemas.microsoft.com/office/drawing/2014/main" id="{FC8B3931-986C-71DD-61B7-33E29036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117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x</a:t>
              </a:r>
              <a:endParaRPr lang="en-US" altLang="en-US"/>
            </a:p>
          </p:txBody>
        </p:sp>
        <p:sp>
          <p:nvSpPr>
            <p:cNvPr id="64" name="Rectangle 57">
              <a:extLst>
                <a:ext uri="{FF2B5EF4-FFF2-40B4-BE49-F238E27FC236}">
                  <a16:creationId xmlns:a16="http://schemas.microsoft.com/office/drawing/2014/main" id="{4739FD06-A011-EA84-1A36-4A45BE3A0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7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y</a:t>
              </a:r>
              <a:endParaRPr lang="en-US" altLang="en-US"/>
            </a:p>
          </p:txBody>
        </p:sp>
        <p:sp>
          <p:nvSpPr>
            <p:cNvPr id="65" name="Rectangle 58">
              <a:extLst>
                <a:ext uri="{FF2B5EF4-FFF2-40B4-BE49-F238E27FC236}">
                  <a16:creationId xmlns:a16="http://schemas.microsoft.com/office/drawing/2014/main" id="{B9BB52BE-4B9C-C27C-14C3-2D9ADC02F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g</a:t>
              </a:r>
              <a:endParaRPr lang="en-US" altLang="en-US"/>
            </a:p>
          </p:txBody>
        </p:sp>
        <p:sp>
          <p:nvSpPr>
            <p:cNvPr id="66" name="Rectangle 59">
              <a:extLst>
                <a:ext uri="{FF2B5EF4-FFF2-40B4-BE49-F238E27FC236}">
                  <a16:creationId xmlns:a16="http://schemas.microsoft.com/office/drawing/2014/main" id="{F66C1284-3BBA-872E-145F-C009AB005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67" name="Rectangle 60">
              <a:extLst>
                <a:ext uri="{FF2B5EF4-FFF2-40B4-BE49-F238E27FC236}">
                  <a16:creationId xmlns:a16="http://schemas.microsoft.com/office/drawing/2014/main" id="{6EF6347B-D652-9DD7-B6ED-2CAA6B4E8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n</a:t>
              </a:r>
              <a:endParaRPr lang="en-US" altLang="en-US"/>
            </a:p>
          </p:txBody>
        </p:sp>
        <p:sp>
          <p:nvSpPr>
            <p:cNvPr id="68" name="Rectangle 61">
              <a:extLst>
                <a:ext uri="{FF2B5EF4-FFF2-40B4-BE49-F238E27FC236}">
                  <a16:creationId xmlns:a16="http://schemas.microsoft.com/office/drawing/2014/main" id="{C9465553-C425-0F07-4F3E-372500C2B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1177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69" name="Rectangle 62">
              <a:extLst>
                <a:ext uri="{FF2B5EF4-FFF2-40B4-BE49-F238E27FC236}">
                  <a16:creationId xmlns:a16="http://schemas.microsoft.com/office/drawing/2014/main" id="{BC91DDC5-1B4F-D716-499C-9A2421AC5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d</a:t>
              </a:r>
              <a:endParaRPr lang="en-US" altLang="en-US"/>
            </a:p>
          </p:txBody>
        </p:sp>
        <p:sp>
          <p:nvSpPr>
            <p:cNvPr id="70" name="Rectangle 63">
              <a:extLst>
                <a:ext uri="{FF2B5EF4-FFF2-40B4-BE49-F238E27FC236}">
                  <a16:creationId xmlns:a16="http://schemas.microsoft.com/office/drawing/2014/main" id="{04F6EEA5-F175-9CFA-A434-BEFE74B71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1" y="1177"/>
              <a:ext cx="27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i</a:t>
              </a:r>
              <a:endParaRPr lang="en-US" altLang="en-US"/>
            </a:p>
          </p:txBody>
        </p:sp>
        <p:sp>
          <p:nvSpPr>
            <p:cNvPr id="71" name="Rectangle 64">
              <a:extLst>
                <a:ext uri="{FF2B5EF4-FFF2-40B4-BE49-F238E27FC236}">
                  <a16:creationId xmlns:a16="http://schemas.microsoft.com/office/drawing/2014/main" id="{3E9E7030-2702-022D-B2A9-53D82058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117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s</a:t>
              </a:r>
              <a:endParaRPr lang="en-US" altLang="en-US"/>
            </a:p>
          </p:txBody>
        </p:sp>
        <p:sp>
          <p:nvSpPr>
            <p:cNvPr id="72" name="Rectangle 65">
              <a:extLst>
                <a:ext uri="{FF2B5EF4-FFF2-40B4-BE49-F238E27FC236}">
                  <a16:creationId xmlns:a16="http://schemas.microsoft.com/office/drawing/2014/main" id="{5A6584B2-E8A1-0BA5-1CCC-F761B1F5E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" y="1177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t</a:t>
              </a:r>
              <a:endParaRPr lang="en-US" altLang="en-US"/>
            </a:p>
          </p:txBody>
        </p:sp>
        <p:sp>
          <p:nvSpPr>
            <p:cNvPr id="73" name="Rectangle 66">
              <a:extLst>
                <a:ext uri="{FF2B5EF4-FFF2-40B4-BE49-F238E27FC236}">
                  <a16:creationId xmlns:a16="http://schemas.microsoft.com/office/drawing/2014/main" id="{78471DEC-5595-C2E8-1E70-E45117C40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a</a:t>
              </a:r>
              <a:endParaRPr lang="en-US" altLang="en-US"/>
            </a:p>
          </p:txBody>
        </p:sp>
        <p:sp>
          <p:nvSpPr>
            <p:cNvPr id="74" name="Rectangle 67">
              <a:extLst>
                <a:ext uri="{FF2B5EF4-FFF2-40B4-BE49-F238E27FC236}">
                  <a16:creationId xmlns:a16="http://schemas.microsoft.com/office/drawing/2014/main" id="{B9016C82-117F-DAF7-67C6-DD5D42443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n</a:t>
              </a:r>
              <a:endParaRPr lang="en-US" altLang="en-US"/>
            </a:p>
          </p:txBody>
        </p:sp>
        <p:sp>
          <p:nvSpPr>
            <p:cNvPr id="75" name="Rectangle 68">
              <a:extLst>
                <a:ext uri="{FF2B5EF4-FFF2-40B4-BE49-F238E27FC236}">
                  <a16:creationId xmlns:a16="http://schemas.microsoft.com/office/drawing/2014/main" id="{621AD0EC-B219-EEFC-3B66-7610B06BA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17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c</a:t>
              </a:r>
              <a:endParaRPr lang="en-US" altLang="en-US"/>
            </a:p>
          </p:txBody>
        </p:sp>
        <p:sp>
          <p:nvSpPr>
            <p:cNvPr id="76" name="Rectangle 69">
              <a:extLst>
                <a:ext uri="{FF2B5EF4-FFF2-40B4-BE49-F238E27FC236}">
                  <a16:creationId xmlns:a16="http://schemas.microsoft.com/office/drawing/2014/main" id="{A4FCA721-BEEC-53AB-7664-314F6E119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e</a:t>
              </a:r>
              <a:endParaRPr lang="en-US" altLang="en-US"/>
            </a:p>
          </p:txBody>
        </p:sp>
        <p:sp>
          <p:nvSpPr>
            <p:cNvPr id="77" name="Rectangle 70">
              <a:extLst>
                <a:ext uri="{FF2B5EF4-FFF2-40B4-BE49-F238E27FC236}">
                  <a16:creationId xmlns:a16="http://schemas.microsoft.com/office/drawing/2014/main" id="{D46E6592-53C9-FCE9-BB4F-7D0D8347C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5" y="1177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78" name="Rectangle 71">
              <a:extLst>
                <a:ext uri="{FF2B5EF4-FFF2-40B4-BE49-F238E27FC236}">
                  <a16:creationId xmlns:a16="http://schemas.microsoft.com/office/drawing/2014/main" id="{716D4256-69A0-BD56-E75C-18A29A757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" y="1177"/>
              <a:ext cx="7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~</a:t>
              </a:r>
              <a:endParaRPr lang="en-US" altLang="en-US"/>
            </a:p>
          </p:txBody>
        </p:sp>
        <p:sp>
          <p:nvSpPr>
            <p:cNvPr id="79" name="Rectangle 72">
              <a:extLst>
                <a:ext uri="{FF2B5EF4-FFF2-40B4-BE49-F238E27FC236}">
                  <a16:creationId xmlns:a16="http://schemas.microsoft.com/office/drawing/2014/main" id="{F2AA9429-9B71-4196-C889-981391DE3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177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80" name="Rectangle 73">
              <a:extLst>
                <a:ext uri="{FF2B5EF4-FFF2-40B4-BE49-F238E27FC236}">
                  <a16:creationId xmlns:a16="http://schemas.microsoft.com/office/drawing/2014/main" id="{4051267E-58CC-D38D-532D-D9EBA0E1A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1</a:t>
              </a:r>
              <a:endParaRPr lang="en-US" altLang="en-US"/>
            </a:p>
          </p:txBody>
        </p:sp>
        <p:sp>
          <p:nvSpPr>
            <p:cNvPr id="81" name="Rectangle 74">
              <a:extLst>
                <a:ext uri="{FF2B5EF4-FFF2-40B4-BE49-F238E27FC236}">
                  <a16:creationId xmlns:a16="http://schemas.microsoft.com/office/drawing/2014/main" id="{8BCA3BB3-1C2E-6D1C-288B-3D8330C33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1177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.</a:t>
              </a:r>
              <a:endParaRPr lang="en-US" altLang="en-US"/>
            </a:p>
          </p:txBody>
        </p:sp>
        <p:sp>
          <p:nvSpPr>
            <p:cNvPr id="82" name="Rectangle 75">
              <a:extLst>
                <a:ext uri="{FF2B5EF4-FFF2-40B4-BE49-F238E27FC236}">
                  <a16:creationId xmlns:a16="http://schemas.microsoft.com/office/drawing/2014/main" id="{642A11BD-D717-6D60-FD87-B44460D7A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83" name="Rectangle 76">
              <a:extLst>
                <a:ext uri="{FF2B5EF4-FFF2-40B4-BE49-F238E27FC236}">
                  <a16:creationId xmlns:a16="http://schemas.microsoft.com/office/drawing/2014/main" id="{D782E45C-7E5A-BB0D-7EE0-885185217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1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84" name="Rectangle 77">
              <a:extLst>
                <a:ext uri="{FF2B5EF4-FFF2-40B4-BE49-F238E27FC236}">
                  <a16:creationId xmlns:a16="http://schemas.microsoft.com/office/drawing/2014/main" id="{52B0FF36-8348-FCEE-FF0C-1BCCBF46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3" y="1177"/>
              <a:ext cx="3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 </a:t>
              </a:r>
              <a:endParaRPr lang="en-US" altLang="en-US"/>
            </a:p>
          </p:txBody>
        </p:sp>
        <p:sp>
          <p:nvSpPr>
            <p:cNvPr id="85" name="Rectangle 78">
              <a:extLst>
                <a:ext uri="{FF2B5EF4-FFF2-40B4-BE49-F238E27FC236}">
                  <a16:creationId xmlns:a16="http://schemas.microsoft.com/office/drawing/2014/main" id="{4342CEA7-D3EF-D817-C728-84CD55C45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3" y="1177"/>
              <a:ext cx="8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>
                  <a:solidFill>
                    <a:srgbClr val="000000"/>
                  </a:solidFill>
                </a:rPr>
                <a:t>Å</a:t>
              </a:r>
              <a:endParaRPr lang="en-US" altLang="en-US"/>
            </a:p>
          </p:txBody>
        </p:sp>
        <p:sp>
          <p:nvSpPr>
            <p:cNvPr id="86" name="Rectangle 79">
              <a:extLst>
                <a:ext uri="{FF2B5EF4-FFF2-40B4-BE49-F238E27FC236}">
                  <a16:creationId xmlns:a16="http://schemas.microsoft.com/office/drawing/2014/main" id="{B15879C2-8E66-BA86-9F14-675CA509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" y="1177"/>
              <a:ext cx="4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/>
              <a:r>
                <a:rPr lang="en-US" altLang="en-US" sz="1500" dirty="0">
                  <a:solidFill>
                    <a:srgbClr val="000000"/>
                  </a:solidFill>
                </a:rPr>
                <a:t>)</a:t>
              </a:r>
              <a:endParaRPr lang="en-US" altLang="en-US" dirty="0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08B29BB1-0271-F2C9-FBFA-08BCFD2A3292}"/>
              </a:ext>
            </a:extLst>
          </p:cNvPr>
          <p:cNvSpPr/>
          <p:nvPr/>
        </p:nvSpPr>
        <p:spPr>
          <a:xfrm>
            <a:off x="1113105" y="5696780"/>
            <a:ext cx="484254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R.I. Palomares,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Mater. Chem. 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(2017)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supported)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FEA05E8-439C-916C-9E34-125413465526}"/>
              </a:ext>
            </a:extLst>
          </p:cNvPr>
          <p:cNvCxnSpPr>
            <a:cxnSpLocks/>
          </p:cNvCxnSpPr>
          <p:nvPr/>
        </p:nvCxnSpPr>
        <p:spPr>
          <a:xfrm>
            <a:off x="9115128" y="3893421"/>
            <a:ext cx="0" cy="2946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E61DF80-592F-5C23-24E0-4ED75D14F301}"/>
              </a:ext>
            </a:extLst>
          </p:cNvPr>
          <p:cNvGrpSpPr/>
          <p:nvPr/>
        </p:nvGrpSpPr>
        <p:grpSpPr>
          <a:xfrm>
            <a:off x="3082176" y="1664084"/>
            <a:ext cx="4553266" cy="3756993"/>
            <a:chOff x="302955" y="775445"/>
            <a:chExt cx="4056009" cy="3346697"/>
          </a:xfrm>
        </p:grpSpPr>
        <p:pic>
          <p:nvPicPr>
            <p:cNvPr id="90" name="Picture 89" descr="C:\Users\rpalomar\Google Drive\Research\CeO2 ThO2 Neutron\Figures\Total Correlation Functions.png">
              <a:extLst>
                <a:ext uri="{FF2B5EF4-FFF2-40B4-BE49-F238E27FC236}">
                  <a16:creationId xmlns:a16="http://schemas.microsoft.com/office/drawing/2014/main" id="{37098B3F-CCF8-A1BF-9CF1-89C9905618C8}"/>
                </a:ext>
              </a:extLst>
            </p:cNvPr>
            <p:cNvPicPr/>
            <p:nvPr/>
          </p:nvPicPr>
          <p:blipFill rotWithShape="1"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52737"/>
            <a:stretch/>
          </p:blipFill>
          <p:spPr bwMode="auto">
            <a:xfrm>
              <a:off x="304164" y="775445"/>
              <a:ext cx="4054800" cy="2874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Picture 90" descr="C:\Users\rpalomar\Google Drive\Research\CeO2 ThO2 Neutron\Figures\Total Correlation Functions.png">
              <a:extLst>
                <a:ext uri="{FF2B5EF4-FFF2-40B4-BE49-F238E27FC236}">
                  <a16:creationId xmlns:a16="http://schemas.microsoft.com/office/drawing/2014/main" id="{BA6AB707-ED8B-EC4A-84B8-47F6D2D6F5A5}"/>
                </a:ext>
              </a:extLst>
            </p:cNvPr>
            <p:cNvPicPr/>
            <p:nvPr/>
          </p:nvPicPr>
          <p:blipFill rotWithShape="1"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91967"/>
            <a:stretch/>
          </p:blipFill>
          <p:spPr bwMode="auto">
            <a:xfrm>
              <a:off x="302955" y="3633507"/>
              <a:ext cx="4054800" cy="4886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" name="Picture 5" descr="http://upload.wikimedia.org/wikipedia/en/3/38/Sns-aerial-800px.jpg">
            <a:extLst>
              <a:ext uri="{FF2B5EF4-FFF2-40B4-BE49-F238E27FC236}">
                <a16:creationId xmlns:a16="http://schemas.microsoft.com/office/drawing/2014/main" id="{AA489D9E-DDFE-C433-CA0B-95BBBE4FB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9077" y="1041181"/>
            <a:ext cx="2674385" cy="15892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6" descr="http://upload.wikimedia.org/wikipedia/en/archive/0/07/20111104155943%21Spallation_neutron_source_logo.png">
            <a:extLst>
              <a:ext uri="{FF2B5EF4-FFF2-40B4-BE49-F238E27FC236}">
                <a16:creationId xmlns:a16="http://schemas.microsoft.com/office/drawing/2014/main" id="{9E884061-0051-2F86-FB4B-8DB22EC2E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4025" y="952960"/>
            <a:ext cx="859355" cy="59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94" descr="C:\Users\rpalomar\Google Drive\Research\CeO2 ThO2 UO2 Neutron\Figures\Irradiation_Schematic.png">
            <a:extLst>
              <a:ext uri="{FF2B5EF4-FFF2-40B4-BE49-F238E27FC236}">
                <a16:creationId xmlns:a16="http://schemas.microsoft.com/office/drawing/2014/main" id="{906E8510-A583-2B17-21DD-DA8885D765D7}"/>
              </a:ext>
            </a:extLst>
          </p:cNvPr>
          <p:cNvPicPr/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6363" y="3645644"/>
            <a:ext cx="1944877" cy="190363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63440C7E-5338-6AB0-B6AF-5D3DC6210922}"/>
              </a:ext>
            </a:extLst>
          </p:cNvPr>
          <p:cNvSpPr txBox="1"/>
          <p:nvPr/>
        </p:nvSpPr>
        <p:spPr>
          <a:xfrm>
            <a:off x="574381" y="3092661"/>
            <a:ext cx="1769939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1.5 GeV Au ions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F379FD-042E-206E-11AE-F96C54DAEC5E}"/>
              </a:ext>
            </a:extLst>
          </p:cNvPr>
          <p:cNvSpPr txBox="1"/>
          <p:nvPr/>
        </p:nvSpPr>
        <p:spPr>
          <a:xfrm>
            <a:off x="3534377" y="1114034"/>
            <a:ext cx="4051140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Neutron total scattering and PDF analysis 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87C76CD-0834-E5D5-B5CE-CB5271DA6E0B}"/>
              </a:ext>
            </a:extLst>
          </p:cNvPr>
          <p:cNvSpPr txBox="1"/>
          <p:nvPr/>
        </p:nvSpPr>
        <p:spPr>
          <a:xfrm>
            <a:off x="5774644" y="5494016"/>
            <a:ext cx="5807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⇨ 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peroxide-type O</a:t>
            </a:r>
            <a:r>
              <a:rPr lang="en-US" sz="1900" baseline="-25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clusters formed as counterpart to reduction process (Ce</a:t>
            </a:r>
            <a:r>
              <a:rPr lang="en-US" sz="1900" baseline="30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Ce</a:t>
            </a:r>
            <a:r>
              <a:rPr lang="en-US" sz="1900" baseline="30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sz="19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</p:txBody>
      </p:sp>
      <p:sp>
        <p:nvSpPr>
          <p:cNvPr id="102" name="Title 2">
            <a:extLst>
              <a:ext uri="{FF2B5EF4-FFF2-40B4-BE49-F238E27FC236}">
                <a16:creationId xmlns:a16="http://schemas.microsoft.com/office/drawing/2014/main" id="{5F9F8D18-DE0D-8ECF-7DAF-968049F356A2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791376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Short-Range Defect Structure in Irradiated Ceria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45FE25B-FB27-8B25-7073-F8476B42C866}"/>
              </a:ext>
            </a:extLst>
          </p:cNvPr>
          <p:cNvSpPr txBox="1"/>
          <p:nvPr/>
        </p:nvSpPr>
        <p:spPr>
          <a:xfrm>
            <a:off x="6446586" y="4381582"/>
            <a:ext cx="684376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5B8F3B-082D-4A4C-5866-ACF8239EFD66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67FBFFB-D300-9AA0-5373-97FEB6E72753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24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C740-9A03-954A-8A09-6DAA0EEB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FC5B9CD3-C305-86F0-E19A-7ABE1575C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971E66-2A22-77C8-6466-CC84F25F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D9910624-93A8-93AF-DFE7-CAF6899FBE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83E8C3C-6821-F27F-1153-C1E051DC0A7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4E0A2350-A469-9A36-0559-B97BFAF07845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D5436E-C3B4-1921-80DE-24E8AF9F9051}"/>
              </a:ext>
            </a:extLst>
          </p:cNvPr>
          <p:cNvGrpSpPr/>
          <p:nvPr/>
        </p:nvGrpSpPr>
        <p:grpSpPr>
          <a:xfrm>
            <a:off x="292473" y="931866"/>
            <a:ext cx="10269453" cy="5167125"/>
            <a:chOff x="777617" y="1000342"/>
            <a:chExt cx="10269453" cy="516712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83132B-D907-1D81-DD9A-99F7C4EA2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90285" y="1000342"/>
              <a:ext cx="10156785" cy="516712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E205A9-4E5D-95D5-7BC2-1F75F9644C1A}"/>
                </a:ext>
              </a:extLst>
            </p:cNvPr>
            <p:cNvSpPr/>
            <p:nvPr/>
          </p:nvSpPr>
          <p:spPr>
            <a:xfrm>
              <a:off x="777617" y="5590132"/>
              <a:ext cx="2783319" cy="569774"/>
            </a:xfrm>
            <a:prstGeom prst="rect">
              <a:avLst/>
            </a:prstGeom>
            <a:solidFill>
              <a:srgbClr val="F9F2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53C62F8-73B6-EC5D-0528-44A0742996D3}"/>
              </a:ext>
            </a:extLst>
          </p:cNvPr>
          <p:cNvSpPr/>
          <p:nvPr/>
        </p:nvSpPr>
        <p:spPr>
          <a:xfrm>
            <a:off x="6335114" y="6071277"/>
            <a:ext cx="375552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W.F. Cureton,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Inorganic Chemistry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(2025)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supported)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702F0-291B-EC77-0C75-C5DED02F5A64}"/>
              </a:ext>
            </a:extLst>
          </p:cNvPr>
          <p:cNvSpPr txBox="1"/>
          <p:nvPr/>
        </p:nvSpPr>
        <p:spPr>
          <a:xfrm>
            <a:off x="1022562" y="1052127"/>
            <a:ext cx="1736075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UO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UO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16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D3F2BD-07D7-E113-81B8-D75C7715CFBB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791376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Short-Range Defect Structure in Oxidized Urania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E270F-5D70-88B9-8ADB-19F06C4402FA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4C0262-3D22-3867-1B31-2DBA95F6EF50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350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75D7-95E0-D6BA-38EF-25A997C2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B98E153E-862B-5995-658F-DCA2D1AE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3E005F-11E1-5457-83AB-695A3447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474EA9E3-016C-FD47-D99D-50267976C8B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8E3DE9-C9AC-3970-5FE6-01407BB11BA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90769E1F-E681-2C79-74A7-3F4BBC34319E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BEE95C-4708-9B98-5936-7B03692D8649}"/>
              </a:ext>
            </a:extLst>
          </p:cNvPr>
          <p:cNvSpPr/>
          <p:nvPr/>
        </p:nvSpPr>
        <p:spPr>
          <a:xfrm>
            <a:off x="11441765" y="1523176"/>
            <a:ext cx="283464" cy="283464"/>
          </a:xfrm>
          <a:prstGeom prst="ellips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1B03A-D446-042C-F0BE-2DF059FCC771}"/>
              </a:ext>
            </a:extLst>
          </p:cNvPr>
          <p:cNvSpPr/>
          <p:nvPr/>
        </p:nvSpPr>
        <p:spPr>
          <a:xfrm>
            <a:off x="10901478" y="1441908"/>
            <a:ext cx="4874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F32A1ED-8C93-EED5-74E8-8460E3A4F72D}"/>
              </a:ext>
            </a:extLst>
          </p:cNvPr>
          <p:cNvSpPr/>
          <p:nvPr/>
        </p:nvSpPr>
        <p:spPr>
          <a:xfrm>
            <a:off x="11365174" y="2291151"/>
            <a:ext cx="448056" cy="448056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02304-EBC6-0A4C-A4D7-CD61283DD171}"/>
              </a:ext>
            </a:extLst>
          </p:cNvPr>
          <p:cNvSpPr/>
          <p:nvPr/>
        </p:nvSpPr>
        <p:spPr>
          <a:xfrm>
            <a:off x="11282363" y="1200499"/>
            <a:ext cx="8556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nm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CED26E-A405-F4A5-C77F-C3BBC131F1FC}"/>
              </a:ext>
            </a:extLst>
          </p:cNvPr>
          <p:cNvSpPr/>
          <p:nvPr/>
        </p:nvSpPr>
        <p:spPr>
          <a:xfrm>
            <a:off x="10852507" y="2567614"/>
            <a:ext cx="7266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</a:t>
            </a:r>
            <a:r>
              <a:rPr 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0C0558-762B-AC3A-3552-99F75B8648D4}"/>
              </a:ext>
            </a:extLst>
          </p:cNvPr>
          <p:cNvSpPr/>
          <p:nvPr/>
        </p:nvSpPr>
        <p:spPr>
          <a:xfrm>
            <a:off x="11271175" y="2739207"/>
            <a:ext cx="8556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 nm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1D0063-05B1-5790-7EB8-73CC257E262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0355" y="1075492"/>
            <a:ext cx="3368022" cy="259689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09BA4325-304B-36FC-1A65-A2F26ACAC794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308776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Defect Formation in Oxides </a:t>
            </a:r>
            <a:r>
              <a:rPr lang="en-US" sz="3200" b="1" i="1" dirty="0">
                <a:solidFill>
                  <a:srgbClr val="661303"/>
                </a:solidFill>
                <a:latin typeface="Arial"/>
                <a:cs typeface="Arial"/>
              </a:rPr>
              <a:t>versus</a:t>
            </a:r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 Carbides </a:t>
            </a:r>
          </a:p>
        </p:txBody>
      </p: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3D2067E1-39D9-1AC2-7CD4-3B5280C56664}"/>
              </a:ext>
            </a:extLst>
          </p:cNvPr>
          <p:cNvPicPr/>
          <p:nvPr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828" y="1071436"/>
            <a:ext cx="4460482" cy="26050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BC4DF0-62F4-0C25-DD27-B48C8DA4F5B3}"/>
              </a:ext>
            </a:extLst>
          </p:cNvPr>
          <p:cNvSpPr txBox="1"/>
          <p:nvPr/>
        </p:nvSpPr>
        <p:spPr>
          <a:xfrm>
            <a:off x="5528869" y="2303849"/>
            <a:ext cx="1479437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950 MeV Au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60460E-B0D7-C160-4047-F3BDB55776D7}"/>
              </a:ext>
            </a:extLst>
          </p:cNvPr>
          <p:cNvGrpSpPr/>
          <p:nvPr/>
        </p:nvGrpSpPr>
        <p:grpSpPr>
          <a:xfrm>
            <a:off x="3901290" y="3754609"/>
            <a:ext cx="5293180" cy="3066304"/>
            <a:chOff x="838201" y="1164351"/>
            <a:chExt cx="6096000" cy="3531372"/>
          </a:xfrm>
        </p:grpSpPr>
        <p:pic>
          <p:nvPicPr>
            <p:cNvPr id="19" name="image3.png">
              <a:extLst>
                <a:ext uri="{FF2B5EF4-FFF2-40B4-BE49-F238E27FC236}">
                  <a16:creationId xmlns:a16="http://schemas.microsoft.com/office/drawing/2014/main" id="{750F7065-29A0-E9A6-B399-08DCA4C84BD5}"/>
                </a:ext>
              </a:extLst>
            </p:cNvPr>
            <p:cNvPicPr/>
            <p:nvPr/>
          </p:nvPicPr>
          <p:blipFill rotWithShape="1">
            <a:blip r:embed="rId7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1" y="1392951"/>
              <a:ext cx="6096000" cy="3302772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36E0996-CC28-8278-DEF6-3C751B82D69A}"/>
                </a:ext>
              </a:extLst>
            </p:cNvPr>
            <p:cNvSpPr/>
            <p:nvPr/>
          </p:nvSpPr>
          <p:spPr>
            <a:xfrm>
              <a:off x="1020580" y="1164351"/>
              <a:ext cx="457200" cy="228600"/>
            </a:xfrm>
            <a:prstGeom prst="rect">
              <a:avLst/>
            </a:prstGeom>
            <a:solidFill>
              <a:srgbClr val="F9F2E7"/>
            </a:solidFill>
            <a:ln>
              <a:solidFill>
                <a:srgbClr val="F9F2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863E43-F1F2-7BBD-5C1F-293021603F5C}"/>
                </a:ext>
              </a:extLst>
            </p:cNvPr>
            <p:cNvSpPr/>
            <p:nvPr/>
          </p:nvSpPr>
          <p:spPr>
            <a:xfrm>
              <a:off x="3886200" y="1164351"/>
              <a:ext cx="457200" cy="228600"/>
            </a:xfrm>
            <a:prstGeom prst="rect">
              <a:avLst/>
            </a:prstGeom>
            <a:solidFill>
              <a:srgbClr val="F9F2E7"/>
            </a:solidFill>
            <a:ln>
              <a:solidFill>
                <a:srgbClr val="F9F2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3EFF7A-4F6E-03B0-03B7-AAE1704C8AB8}"/>
              </a:ext>
            </a:extLst>
          </p:cNvPr>
          <p:cNvCxnSpPr>
            <a:cxnSpLocks/>
          </p:cNvCxnSpPr>
          <p:nvPr/>
        </p:nvCxnSpPr>
        <p:spPr>
          <a:xfrm rot="18900000" flipH="1">
            <a:off x="5501614" y="2237740"/>
            <a:ext cx="0" cy="1618488"/>
          </a:xfrm>
          <a:prstGeom prst="straightConnector1">
            <a:avLst/>
          </a:prstGeom>
          <a:ln w="28575">
            <a:round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890243-4FF7-5065-BEEA-8F50E8468C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38636" y="1061618"/>
            <a:ext cx="0" cy="1618488"/>
          </a:xfrm>
          <a:prstGeom prst="straightConnector1">
            <a:avLst/>
          </a:prstGeom>
          <a:ln w="28575">
            <a:round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4870E1D4-9283-3378-FBA9-DC45EE9C3369}"/>
              </a:ext>
            </a:extLst>
          </p:cNvPr>
          <p:cNvSpPr txBox="1">
            <a:spLocks/>
          </p:cNvSpPr>
          <p:nvPr/>
        </p:nvSpPr>
        <p:spPr>
          <a:xfrm>
            <a:off x="4725401" y="1545247"/>
            <a:ext cx="2087048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Actinide Compounds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07731C67-107E-9F81-CBF7-4DD7A27B38CE}"/>
              </a:ext>
            </a:extLst>
          </p:cNvPr>
          <p:cNvSpPr txBox="1">
            <a:spLocks/>
          </p:cNvSpPr>
          <p:nvPr/>
        </p:nvSpPr>
        <p:spPr>
          <a:xfrm rot="2700000">
            <a:off x="4272993" y="2935953"/>
            <a:ext cx="2087048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Oxidation Behavior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98EA2D-49D8-AE50-CBB6-0C233750CF11}"/>
              </a:ext>
            </a:extLst>
          </p:cNvPr>
          <p:cNvSpPr txBox="1"/>
          <p:nvPr/>
        </p:nvSpPr>
        <p:spPr>
          <a:xfrm>
            <a:off x="3235759" y="2430314"/>
            <a:ext cx="684376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9647DB-C80D-83BB-17EC-2757DFE404A2}"/>
              </a:ext>
            </a:extLst>
          </p:cNvPr>
          <p:cNvSpPr txBox="1"/>
          <p:nvPr/>
        </p:nvSpPr>
        <p:spPr>
          <a:xfrm>
            <a:off x="3229148" y="2798085"/>
            <a:ext cx="684376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ZrC</a:t>
            </a:r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C42E68-850A-0256-D09F-CD56EA2ED5D7}"/>
              </a:ext>
            </a:extLst>
          </p:cNvPr>
          <p:cNvSpPr txBox="1"/>
          <p:nvPr/>
        </p:nvSpPr>
        <p:spPr>
          <a:xfrm>
            <a:off x="10730972" y="1472468"/>
            <a:ext cx="518577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UC</a:t>
            </a:r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49BC2F-BF26-8E53-8858-C3AFF7C29D00}"/>
              </a:ext>
            </a:extLst>
          </p:cNvPr>
          <p:cNvSpPr txBox="1"/>
          <p:nvPr/>
        </p:nvSpPr>
        <p:spPr>
          <a:xfrm>
            <a:off x="10659975" y="2496732"/>
            <a:ext cx="630393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UO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49ACDC-9D7B-56F6-2832-DD6B35A6E628}"/>
              </a:ext>
            </a:extLst>
          </p:cNvPr>
          <p:cNvSpPr txBox="1"/>
          <p:nvPr/>
        </p:nvSpPr>
        <p:spPr>
          <a:xfrm>
            <a:off x="8398837" y="4027966"/>
            <a:ext cx="684376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ZrC</a:t>
            </a:r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E0B6A4-928B-88DE-805E-764B76592D87}"/>
              </a:ext>
            </a:extLst>
          </p:cNvPr>
          <p:cNvSpPr txBox="1"/>
          <p:nvPr/>
        </p:nvSpPr>
        <p:spPr>
          <a:xfrm>
            <a:off x="6523989" y="3576609"/>
            <a:ext cx="684376" cy="338554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ZrO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2C4AE1-7A8C-5621-CEF6-ECC6BCF1568F}"/>
              </a:ext>
            </a:extLst>
          </p:cNvPr>
          <p:cNvSpPr txBox="1"/>
          <p:nvPr/>
        </p:nvSpPr>
        <p:spPr>
          <a:xfrm>
            <a:off x="329618" y="3902504"/>
            <a:ext cx="374910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⇨ </a:t>
            </a:r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direct-impact process for CeO</a:t>
            </a:r>
            <a:r>
              <a:rPr lang="en-US" baseline="-25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sz="3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⇨ </a:t>
            </a:r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two-step mechanism for ZrC</a:t>
            </a:r>
          </a:p>
        </p:txBody>
      </p:sp>
      <p:sp>
        <p:nvSpPr>
          <p:cNvPr id="37" name="Content Placeholder 6">
            <a:extLst>
              <a:ext uri="{FF2B5EF4-FFF2-40B4-BE49-F238E27FC236}">
                <a16:creationId xmlns:a16="http://schemas.microsoft.com/office/drawing/2014/main" id="{ADC33665-E57C-BBCD-4767-F7F2A22D446E}"/>
              </a:ext>
            </a:extLst>
          </p:cNvPr>
          <p:cNvSpPr txBox="1">
            <a:spLocks/>
          </p:cNvSpPr>
          <p:nvPr/>
        </p:nvSpPr>
        <p:spPr>
          <a:xfrm>
            <a:off x="4540960" y="3944321"/>
            <a:ext cx="1132399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pristine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38" name="Content Placeholder 6">
            <a:extLst>
              <a:ext uri="{FF2B5EF4-FFF2-40B4-BE49-F238E27FC236}">
                <a16:creationId xmlns:a16="http://schemas.microsoft.com/office/drawing/2014/main" id="{9938E202-8A63-D833-1070-770CBA6E2C6F}"/>
              </a:ext>
            </a:extLst>
          </p:cNvPr>
          <p:cNvSpPr txBox="1">
            <a:spLocks/>
          </p:cNvSpPr>
          <p:nvPr/>
        </p:nvSpPr>
        <p:spPr>
          <a:xfrm>
            <a:off x="6878859" y="3945689"/>
            <a:ext cx="1132399" cy="4221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irradiated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EE3F98-B9B9-4C6B-D569-8DE6BDDD76C3}"/>
              </a:ext>
            </a:extLst>
          </p:cNvPr>
          <p:cNvSpPr txBox="1"/>
          <p:nvPr/>
        </p:nvSpPr>
        <p:spPr>
          <a:xfrm>
            <a:off x="9278791" y="3878673"/>
            <a:ext cx="28448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⇨ </a:t>
            </a:r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swelling for UO</a:t>
            </a:r>
            <a:r>
              <a:rPr lang="en-US" baseline="-25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sz="3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⇨ </a:t>
            </a:r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size UO</a:t>
            </a:r>
            <a:r>
              <a:rPr lang="en-US" baseline="-250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UC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4E109F-F27A-E76E-B966-23F6C590AE81}"/>
              </a:ext>
            </a:extLst>
          </p:cNvPr>
          <p:cNvSpPr txBox="1"/>
          <p:nvPr/>
        </p:nvSpPr>
        <p:spPr>
          <a:xfrm>
            <a:off x="9310390" y="5599069"/>
            <a:ext cx="266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⇨ </a:t>
            </a:r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oxidation dramatically</a:t>
            </a:r>
          </a:p>
          <a:p>
            <a:r>
              <a:rPr lang="en-US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in irradiated ZrC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3A0EE0-7C45-D243-D542-518DFA1F2A73}"/>
              </a:ext>
            </a:extLst>
          </p:cNvPr>
          <p:cNvSpPr/>
          <p:nvPr/>
        </p:nvSpPr>
        <p:spPr>
          <a:xfrm>
            <a:off x="632023" y="4653317"/>
            <a:ext cx="25788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Minnette,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Applied Physics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supported)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3B737E-D905-157C-B365-D5A26CEE0B00}"/>
              </a:ext>
            </a:extLst>
          </p:cNvPr>
          <p:cNvSpPr/>
          <p:nvPr/>
        </p:nvSpPr>
        <p:spPr>
          <a:xfrm>
            <a:off x="9142376" y="4768072"/>
            <a:ext cx="2660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Chaney,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Materials Science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supported)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8863C-E03D-6A15-1F4F-C207672A2622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987D8-1404-B418-9CEA-118DB5E2B8B7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42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/>
      <p:bldP spid="8" grpId="0"/>
      <p:bldP spid="24" grpId="0"/>
      <p:bldP spid="25" grpId="0"/>
      <p:bldP spid="30" grpId="0" animBg="1"/>
      <p:bldP spid="31" grpId="0" animBg="1"/>
      <p:bldP spid="32" grpId="0" animBg="1"/>
      <p:bldP spid="35" grpId="0" animBg="1"/>
      <p:bldP spid="37" grpId="0"/>
      <p:bldP spid="38" grpId="0"/>
      <p:bldP spid="39" grpId="0"/>
      <p:bldP spid="40" grpId="0"/>
      <p:bldP spid="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55DA-939B-B803-E4D7-23D1E2EF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7EA8636-863E-A437-AC77-D3CFC37038CA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CD7071F8-DB2C-C968-2D24-5E21B5DC9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037781F4-FA02-F393-93A9-0A813E3AD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EAD47F1C-43E9-5100-3DD1-4F420C0D27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DD3A2B54-9A52-D38C-4BED-8AAB503B3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420901"/>
            <a:ext cx="10778404" cy="177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Machine Learned Interatomic Potentials for SHI Irradiation of CeO</a:t>
            </a:r>
            <a:r>
              <a:rPr lang="en-US" sz="3300" b="1" i="1" baseline="-25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2</a:t>
            </a:r>
            <a:endParaRPr lang="en-US" sz="1500" b="1" i="1" baseline="-250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Grady Clopton, University of Illinois Urbana-Champaign, </a:t>
            </a:r>
            <a:r>
              <a:rPr lang="en-US" sz="2500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gclopton@illinois</a:t>
            </a:r>
            <a:r>
              <a:rPr lang="en-US" sz="2500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.edu</a:t>
            </a:r>
            <a:endParaRPr lang="en-US" sz="25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  <p:pic>
        <p:nvPicPr>
          <p:cNvPr id="2" name="Picture 1" descr="2024 BEIC Fellows">
            <a:extLst>
              <a:ext uri="{FF2B5EF4-FFF2-40B4-BE49-F238E27FC236}">
                <a16:creationId xmlns:a16="http://schemas.microsoft.com/office/drawing/2014/main" id="{7BF99166-A30D-7C16-717B-83DA1DF32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52155" y="3941043"/>
            <a:ext cx="1470047" cy="60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220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D0A2B3C-CE29-0C4A-AD1E-22D0CED64572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NSA1">
            <a:extLst>
              <a:ext uri="{FF2B5EF4-FFF2-40B4-BE49-F238E27FC236}">
                <a16:creationId xmlns:a16="http://schemas.microsoft.com/office/drawing/2014/main" id="{A67F737C-D904-4B44-BF07-5D535AD69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5437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A4E7C3-1911-1C4B-A0FE-7DF6CA58AE29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E09EE149-35A0-814C-924D-140BCD41980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714" y="6245400"/>
            <a:ext cx="1541196" cy="474752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85C7D383-10B0-6F8C-AAC4-AB1AC36E8F3D}"/>
              </a:ext>
            </a:extLst>
          </p:cNvPr>
          <p:cNvSpPr txBox="1">
            <a:spLocks/>
          </p:cNvSpPr>
          <p:nvPr/>
        </p:nvSpPr>
        <p:spPr>
          <a:xfrm>
            <a:off x="-153834" y="876495"/>
            <a:ext cx="6951472" cy="58735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Classical MD Results</a:t>
            </a:r>
          </a:p>
        </p:txBody>
      </p:sp>
      <p:sp>
        <p:nvSpPr>
          <p:cNvPr id="7" name="Slide Text">
            <a:extLst>
              <a:ext uri="{FF2B5EF4-FFF2-40B4-BE49-F238E27FC236}">
                <a16:creationId xmlns:a16="http://schemas.microsoft.com/office/drawing/2014/main" id="{FA79AB61-45AD-7E3E-5293-227799774205}"/>
              </a:ext>
            </a:extLst>
          </p:cNvPr>
          <p:cNvSpPr txBox="1">
            <a:spLocks/>
          </p:cNvSpPr>
          <p:nvPr/>
        </p:nvSpPr>
        <p:spPr>
          <a:xfrm>
            <a:off x="297769" y="1758024"/>
            <a:ext cx="6221799" cy="387617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 dirty="0"/>
              <a:t>SHI Track simulations in LAMMPS with classical rigid-ion Buckingham + Coulomb potential</a:t>
            </a:r>
          </a:p>
          <a:p>
            <a:pPr marL="285750" indent="-285750"/>
            <a:r>
              <a:rPr lang="en-US" sz="2000" dirty="0"/>
              <a:t>Simulations captured thermal disorder, point defects, and local rearrangements; did not reproduce the chemically realistic track response suggested by experiment</a:t>
            </a:r>
          </a:p>
          <a:p>
            <a:pPr marL="285750" indent="-285750"/>
            <a:r>
              <a:rPr lang="en-US" sz="2000" b="1" dirty="0"/>
              <a:t>Core Limitation: </a:t>
            </a:r>
            <a:r>
              <a:rPr lang="en-US" sz="2000" dirty="0"/>
              <a:t>fixed-charge classical potentials cannot represent Ce(4+) → Ce(3+) reduction.</a:t>
            </a:r>
          </a:p>
          <a:p>
            <a:pPr marL="285750" indent="-285750"/>
            <a:r>
              <a:rPr lang="en-US" sz="2000" dirty="0"/>
              <a:t>Oxygen vacancy formation in real ceria leaves two electrons that localize on nearby Ce sites; this changes local bonding, defect energetics, migration barriers, strain, and recovery behavior.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9D793B8C-86D7-C5D4-A73A-E7F36A17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478" y="6354827"/>
            <a:ext cx="372217" cy="276999"/>
          </a:xfrm>
        </p:spPr>
        <p:txBody>
          <a:bodyPr/>
          <a:lstStyle/>
          <a:p>
            <a:fld id="{BAF65E9F-5E40-4D44-8234-C4D848A18724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8EB29C-B791-BA40-B441-8CF746DF663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7395" y="1288406"/>
            <a:ext cx="3137277" cy="23691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39E93B-7312-98FD-D3A7-C122EBF5D43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7395" y="3886198"/>
            <a:ext cx="3115402" cy="16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9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219B428-18D5-C9F0-120E-84AF7F374CD0}"/>
              </a:ext>
            </a:extLst>
          </p:cNvPr>
          <p:cNvSpPr txBox="1">
            <a:spLocks/>
          </p:cNvSpPr>
          <p:nvPr/>
        </p:nvSpPr>
        <p:spPr>
          <a:xfrm>
            <a:off x="572699" y="428198"/>
            <a:ext cx="10515600" cy="59093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MLIP Generation</a:t>
            </a:r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7A40A49-9222-FA1F-0F93-774E64C6BD67}"/>
              </a:ext>
            </a:extLst>
          </p:cNvPr>
          <p:cNvSpPr txBox="1">
            <a:spLocks/>
          </p:cNvSpPr>
          <p:nvPr/>
        </p:nvSpPr>
        <p:spPr>
          <a:xfrm>
            <a:off x="11234478" y="6354827"/>
            <a:ext cx="372217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AF65E9F-5E40-4D44-8234-C4D848A18724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A2F52-444E-E030-D868-0FBB4D0D65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516" y="1552630"/>
            <a:ext cx="6268070" cy="4802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8F13C6-CE1B-162A-65F1-0FE6CF7D88B2}"/>
              </a:ext>
            </a:extLst>
          </p:cNvPr>
          <p:cNvSpPr txBox="1"/>
          <p:nvPr/>
        </p:nvSpPr>
        <p:spPr>
          <a:xfrm>
            <a:off x="631481" y="1552630"/>
            <a:ext cx="385425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MLIP trained on first-principles energies and forces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MLIP learns not just distances, but the geometry of the local coordination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makes large-scale TTM-MD in LAMMPS,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Training strategy: calibrate a consistent DFT+U reference, then generate labeled structures across the ceria reduction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Train on DFT+U energies, forces, and stresses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49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29B430A-01D9-F3C1-F487-3283BC4504B8}"/>
              </a:ext>
            </a:extLst>
          </p:cNvPr>
          <p:cNvSpPr txBox="1">
            <a:spLocks/>
          </p:cNvSpPr>
          <p:nvPr/>
        </p:nvSpPr>
        <p:spPr>
          <a:xfrm>
            <a:off x="2418877" y="317950"/>
            <a:ext cx="6951472" cy="59093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Generation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7D0E82C0-2E55-0601-F93B-142BF86D95E9}"/>
              </a:ext>
            </a:extLst>
          </p:cNvPr>
          <p:cNvSpPr txBox="1">
            <a:spLocks/>
          </p:cNvSpPr>
          <p:nvPr/>
        </p:nvSpPr>
        <p:spPr>
          <a:xfrm>
            <a:off x="566928" y="1189851"/>
            <a:ext cx="4634992" cy="46402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300"/>
              </a:spcBef>
            </a:pPr>
            <a:r>
              <a:rPr lang="en-US" sz="1800" dirty="0"/>
              <a:t>Main challenge: in ceria, oxygen vacancies are coupled to Ce⁴⁺/Ce³⁺ redox changes</a:t>
            </a:r>
          </a:p>
          <a:p>
            <a:pPr marL="285750" indent="-285750">
              <a:spcBef>
                <a:spcPts val="300"/>
              </a:spcBef>
            </a:pPr>
            <a:r>
              <a:rPr lang="en-US" sz="1800" dirty="0"/>
              <a:t>Training data must therefore capture both atomic distortions and the correct localized 4f electronic state</a:t>
            </a:r>
          </a:p>
          <a:p>
            <a:pPr marL="285750" indent="-285750">
              <a:spcBef>
                <a:spcPts val="300"/>
              </a:spcBef>
            </a:pPr>
            <a:r>
              <a:rPr lang="en-US" sz="1800" dirty="0"/>
              <a:t>DFT+U can describe this physics, but reduced ceria often has multiple metastable 4f occupation patterns</a:t>
            </a:r>
          </a:p>
          <a:p>
            <a:pPr marL="285750" indent="-285750">
              <a:spcBef>
                <a:spcPts val="300"/>
              </a:spcBef>
            </a:pPr>
            <a:r>
              <a:rPr lang="en-US" sz="1800" dirty="0"/>
              <a:t>We generate data across the ceria reduction series </a:t>
            </a:r>
            <a:r>
              <a:rPr lang="en-US" sz="1800" dirty="0" err="1"/>
              <a:t>CeO</a:t>
            </a:r>
            <a:r>
              <a:rPr lang="en-US" sz="1800" dirty="0"/>
              <a:t>₂, </a:t>
            </a:r>
            <a:r>
              <a:rPr lang="en-US" sz="1800" dirty="0" err="1"/>
              <a:t>Ce₇O</a:t>
            </a:r>
            <a:r>
              <a:rPr lang="en-US" sz="1800" dirty="0"/>
              <a:t>₁₂ </a:t>
            </a:r>
            <a:r>
              <a:rPr lang="en-US" sz="1800" dirty="0" err="1"/>
              <a:t>Ce₂O</a:t>
            </a:r>
            <a:r>
              <a:rPr lang="en-US" sz="1800" dirty="0"/>
              <a:t>₃.</a:t>
            </a:r>
          </a:p>
          <a:p>
            <a:pPr marL="285750" indent="-285750">
              <a:spcBef>
                <a:spcPts val="300"/>
              </a:spcBef>
            </a:pPr>
            <a:r>
              <a:rPr lang="en-US" sz="1800" dirty="0"/>
              <a:t>Data Generation Process:</a:t>
            </a:r>
          </a:p>
          <a:p>
            <a:pPr marL="971550"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Use ab initio molecular dynamics at multiple temperatures to sample anharmonic, non-equilibrium local environments</a:t>
            </a:r>
          </a:p>
          <a:p>
            <a:pPr marL="971550"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Label each configuration with total energies, atomic forces</a:t>
            </a:r>
          </a:p>
          <a:p>
            <a:pPr marL="971550" lvl="1">
              <a:buFont typeface="Arial" panose="020B0604020202020204" pitchFamily="34" charset="0"/>
              <a:buChar char="•"/>
            </a:pPr>
            <a:endParaRPr lang="en-US" sz="1550" dirty="0"/>
          </a:p>
          <a:p>
            <a:pPr marL="285750" indent="-285750"/>
            <a:endParaRPr lang="en-US" sz="1550" dirty="0"/>
          </a:p>
          <a:p>
            <a:endParaRPr lang="en-US" sz="155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456D22-FDE4-23B5-1A98-CE98A22E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478" y="6354827"/>
            <a:ext cx="372217" cy="276999"/>
          </a:xfrm>
        </p:spPr>
        <p:txBody>
          <a:bodyPr/>
          <a:lstStyle/>
          <a:p>
            <a:fld id="{BAF65E9F-5E40-4D44-8234-C4D848A18724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55C65-C157-E414-4A80-E2E15B66D5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4168" y="4596796"/>
            <a:ext cx="2100858" cy="1758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047A44-1C87-F729-1A66-0401AF86B10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4168" y="1151385"/>
            <a:ext cx="2100858" cy="1572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3B2DB0-0793-EFCE-30CC-955439EAF1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4168" y="2738820"/>
            <a:ext cx="2100858" cy="1839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A46D71-2877-3128-F26D-422B4705F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49" y="1108871"/>
            <a:ext cx="2180418" cy="524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85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8AC6-97F4-D7E4-5BC7-E0B2E340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E226CC7-B545-0D1A-731D-8FDB29946788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9947BE42-37DB-8465-84DF-A141342E3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7E4E2967-CBDA-DB40-94D0-F2B68A0EC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555C824B-D870-A906-0F37-82137983B66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0747358-B950-7B30-AF43-0AB07AD38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420901"/>
            <a:ext cx="10778404" cy="97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Ab initio Modeling of Uranium Carbides and Nitrides</a:t>
            </a: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Amir O. </a:t>
            </a:r>
            <a:r>
              <a:rPr lang="en-US" sz="2500" i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Movaffagh</a:t>
            </a: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, University of Illinois Chicago, </a:t>
            </a:r>
            <a:r>
              <a:rPr lang="en-US" sz="2500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aorvat2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@uic.edu</a:t>
            </a:r>
            <a:endParaRPr lang="en-US" sz="25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3314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7" name="Title 2">
            <a:extLst>
              <a:ext uri="{FF2B5EF4-FFF2-40B4-BE49-F238E27FC236}">
                <a16:creationId xmlns:a16="http://schemas.microsoft.com/office/drawing/2014/main" id="{7314F639-8871-4A63-9C9A-F068FB802B2C}"/>
              </a:ext>
            </a:extLst>
          </p:cNvPr>
          <p:cNvSpPr txBox="1">
            <a:spLocks/>
          </p:cNvSpPr>
          <p:nvPr/>
        </p:nvSpPr>
        <p:spPr>
          <a:xfrm>
            <a:off x="382333" y="62362"/>
            <a:ext cx="1098076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Actinide Ceramics for Advanced Reactor Fuel Applications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4F3047AF-322F-465B-8C29-F1856D8407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81008" y="1906819"/>
            <a:ext cx="720036" cy="914400"/>
          </a:xfrm>
          <a:prstGeom prst="rect">
            <a:avLst/>
          </a:prstGeom>
          <a:ln>
            <a:solidFill>
              <a:schemeClr val="tx2"/>
            </a:solidFill>
          </a:ln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AEF3168-9330-4B65-AEC6-442AD7B10DFC}"/>
              </a:ext>
            </a:extLst>
          </p:cNvPr>
          <p:cNvSpPr/>
          <p:nvPr/>
        </p:nvSpPr>
        <p:spPr>
          <a:xfrm>
            <a:off x="10101909" y="2821219"/>
            <a:ext cx="878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Jacob Minnette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8208F84-1334-493B-9B31-546F709AAC38}"/>
              </a:ext>
            </a:extLst>
          </p:cNvPr>
          <p:cNvSpPr/>
          <p:nvPr/>
        </p:nvSpPr>
        <p:spPr>
          <a:xfrm>
            <a:off x="11025151" y="2826803"/>
            <a:ext cx="1092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Amir M. Orvati Movaffagh</a:t>
            </a:r>
          </a:p>
        </p:txBody>
      </p:sp>
      <p:pic>
        <p:nvPicPr>
          <p:cNvPr id="40" name="Picture 4" descr="Logos | Brand guidelines | University of Illinois Chicago">
            <a:extLst>
              <a:ext uri="{FF2B5EF4-FFF2-40B4-BE49-F238E27FC236}">
                <a16:creationId xmlns:a16="http://schemas.microsoft.com/office/drawing/2014/main" id="{E968F4E5-1B14-41B9-8765-9239B3D4D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23331" y="1097229"/>
            <a:ext cx="681874" cy="68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FB12180A-DA48-8A7B-C567-9BE3D517DA4F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36DA46AD-A41C-3486-D9A2-637F0677A5DE}"/>
              </a:ext>
            </a:extLst>
          </p:cNvPr>
          <p:cNvSpPr txBox="1"/>
          <p:nvPr/>
        </p:nvSpPr>
        <p:spPr>
          <a:xfrm>
            <a:off x="9890932" y="379585"/>
            <a:ext cx="2148693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Targeted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Materials  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828BE-F191-C4BB-6E79-2C2FAC53AC19}"/>
              </a:ext>
            </a:extLst>
          </p:cNvPr>
          <p:cNvCxnSpPr/>
          <p:nvPr/>
        </p:nvCxnSpPr>
        <p:spPr>
          <a:xfrm>
            <a:off x="-4009" y="767520"/>
            <a:ext cx="1219041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4A76B5E-286E-A9D4-FDA3-F2E64068519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83080" y="1908077"/>
            <a:ext cx="818077" cy="9131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C5EBF-C50E-18E3-87C7-BB6E25A7B6A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468" y="1230591"/>
            <a:ext cx="649576" cy="37025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F674A52-B14B-BE43-4C5B-5455AF5FCEBE}"/>
              </a:ext>
            </a:extLst>
          </p:cNvPr>
          <p:cNvGrpSpPr>
            <a:grpSpLocks noChangeAspect="1"/>
          </p:cNvGrpSpPr>
          <p:nvPr/>
        </p:nvGrpSpPr>
        <p:grpSpPr>
          <a:xfrm>
            <a:off x="10181008" y="3563561"/>
            <a:ext cx="1836510" cy="2009876"/>
            <a:chOff x="10205048" y="3292142"/>
            <a:chExt cx="1752601" cy="19180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410CC88-9192-40C8-7D97-7DD0CD505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05050" y="4510430"/>
              <a:ext cx="1752599" cy="699757"/>
              <a:chOff x="7134860" y="4378009"/>
              <a:chExt cx="2033085" cy="81174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8DBD5F8-9F47-5985-8107-36AEBF0BDE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57856" y="4378009"/>
                <a:ext cx="810089" cy="81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Software | Computational Materials Research Laboratory | University of  Illinois Chicago">
                <a:extLst>
                  <a:ext uri="{FF2B5EF4-FFF2-40B4-BE49-F238E27FC236}">
                    <a16:creationId xmlns:a16="http://schemas.microsoft.com/office/drawing/2014/main" id="{DD8099DC-F30F-5E91-CE04-115E54C6E2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4860" y="4378009"/>
                <a:ext cx="1226820" cy="81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E18B226-8574-2A9A-07F3-D3B73AFB72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205831" y="3292142"/>
              <a:ext cx="1735488" cy="534601"/>
            </a:xfrm>
            <a:prstGeom prst="rect">
              <a:avLst/>
            </a:prstGeom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3BF40CEE-8A49-ADC3-C13C-FABC7C8D61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5048" y="3889732"/>
              <a:ext cx="1736271" cy="557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351A1-8068-40EF-95B7-88D005405F1D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934" y="4902296"/>
            <a:ext cx="937525" cy="11348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F6EEEAB-B4F5-A36F-EF2C-A4C0BB50AF02}"/>
              </a:ext>
            </a:extLst>
          </p:cNvPr>
          <p:cNvSpPr txBox="1"/>
          <p:nvPr/>
        </p:nvSpPr>
        <p:spPr>
          <a:xfrm>
            <a:off x="77647" y="1041277"/>
            <a:ext cx="1610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Carbothermic Reduction</a:t>
            </a:r>
          </a:p>
          <a:p>
            <a:r>
              <a:rPr lang="en-US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Reaction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E396356-3D00-7A3B-556B-9D99A74D015D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3197" y="4590085"/>
            <a:ext cx="3611349" cy="16089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7FC6EC-E1E7-6653-495D-2E0171EC18FA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647" y="934301"/>
            <a:ext cx="3611349" cy="34078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5DA2E55-B7B4-9600-9A90-E43B159909CE}"/>
              </a:ext>
            </a:extLst>
          </p:cNvPr>
          <p:cNvSpPr txBox="1"/>
          <p:nvPr/>
        </p:nvSpPr>
        <p:spPr>
          <a:xfrm>
            <a:off x="148379" y="2142302"/>
            <a:ext cx="80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UO</a:t>
            </a:r>
            <a:r>
              <a:rPr lang="en-US" kern="0" baseline="-2500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3</a:t>
            </a:r>
            <a:endParaRPr lang="en-US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8DBF96-98AB-AD8F-CADC-C641AB60544A}"/>
              </a:ext>
            </a:extLst>
          </p:cNvPr>
          <p:cNvSpPr txBox="1"/>
          <p:nvPr/>
        </p:nvSpPr>
        <p:spPr>
          <a:xfrm>
            <a:off x="233199" y="3556551"/>
            <a:ext cx="61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UC</a:t>
            </a:r>
            <a:endParaRPr lang="en-US" baseline="-25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9378AF-17ED-EE17-23E3-CB17E71BDDB6}"/>
              </a:ext>
            </a:extLst>
          </p:cNvPr>
          <p:cNvSpPr txBox="1"/>
          <p:nvPr/>
        </p:nvSpPr>
        <p:spPr>
          <a:xfrm>
            <a:off x="241702" y="5267137"/>
            <a:ext cx="61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prstClr val="black"/>
                </a:solidFill>
                <a:latin typeface="Arial"/>
                <a:cs typeface="Arial"/>
                <a:sym typeface="Arial"/>
              </a:rPr>
              <a:t>UN</a:t>
            </a:r>
            <a:endParaRPr lang="en-US" baseline="-25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7F106A-C0D8-72AB-01C9-188532E5A6AA}"/>
              </a:ext>
            </a:extLst>
          </p:cNvPr>
          <p:cNvCxnSpPr>
            <a:cxnSpLocks/>
          </p:cNvCxnSpPr>
          <p:nvPr/>
        </p:nvCxnSpPr>
        <p:spPr>
          <a:xfrm rot="5400000">
            <a:off x="553857" y="1610765"/>
            <a:ext cx="0" cy="7482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Arrow Right outline">
            <a:extLst>
              <a:ext uri="{FF2B5EF4-FFF2-40B4-BE49-F238E27FC236}">
                <a16:creationId xmlns:a16="http://schemas.microsoft.com/office/drawing/2014/main" id="{A1EBE8C8-6E28-7D67-E0F2-2A314F116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23087" y="2768328"/>
            <a:ext cx="1034998" cy="541451"/>
          </a:xfrm>
          <a:prstGeom prst="rect">
            <a:avLst/>
          </a:prstGeom>
        </p:spPr>
      </p:pic>
      <p:sp>
        <p:nvSpPr>
          <p:cNvPr id="65" name="TextBox 5">
            <a:extLst>
              <a:ext uri="{FF2B5EF4-FFF2-40B4-BE49-F238E27FC236}">
                <a16:creationId xmlns:a16="http://schemas.microsoft.com/office/drawing/2014/main" id="{B939EBA0-8FEB-8246-AA09-66BB903A7DF4}"/>
              </a:ext>
            </a:extLst>
          </p:cNvPr>
          <p:cNvSpPr txBox="1"/>
          <p:nvPr/>
        </p:nvSpPr>
        <p:spPr>
          <a:xfrm>
            <a:off x="6117068" y="1037777"/>
            <a:ext cx="3797405" cy="1600438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MOTIVATION</a:t>
            </a:r>
            <a:endParaRPr kumimoji="0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Synthesis and multi-scale characterization of UC and UN TRISO fuel kernels for application in accident tolerant fuel (ATF) systems via sol–gel internal gelation</a:t>
            </a:r>
          </a:p>
        </p:txBody>
      </p:sp>
      <p:sp>
        <p:nvSpPr>
          <p:cNvPr id="66" name="TextBox 5">
            <a:extLst>
              <a:ext uri="{FF2B5EF4-FFF2-40B4-BE49-F238E27FC236}">
                <a16:creationId xmlns:a16="http://schemas.microsoft.com/office/drawing/2014/main" id="{74DA263A-CBAC-F8E9-A6C0-3CF3F5E63998}"/>
              </a:ext>
            </a:extLst>
          </p:cNvPr>
          <p:cNvSpPr txBox="1"/>
          <p:nvPr/>
        </p:nvSpPr>
        <p:spPr>
          <a:xfrm>
            <a:off x="6111750" y="2769001"/>
            <a:ext cx="3797405" cy="2585323"/>
          </a:xfrm>
          <a:prstGeom prst="rect">
            <a:avLst/>
          </a:prstGeom>
          <a:ln w="12700">
            <a:solidFill>
              <a:sysClr val="windowText" lastClr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SIGNIFICANCE</a:t>
            </a:r>
            <a:endParaRPr kumimoji="0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Multiple rocksalt UN (UCN) phases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identirfied</a:t>
            </a:r>
            <a:r>
              <a:rPr lang="en-US" sz="1600" kern="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enabled by high-resolution XRD/neutron scattering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Improved control of phase composition in UC/UN TRISO fuel kernels through synthesis–structure relationships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Scalable production of uniform TRISO fuel kernels with controlled microstructure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C8A1359-B682-C4EE-469B-FBCF22B9F0B9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934" y="3125680"/>
            <a:ext cx="937525" cy="1132151"/>
          </a:xfrm>
          <a:prstGeom prst="rect">
            <a:avLst/>
          </a:prstGeom>
        </p:spPr>
      </p:pic>
      <p:pic>
        <p:nvPicPr>
          <p:cNvPr id="84" name="Graphic 83" descr="Arrow Right outline">
            <a:extLst>
              <a:ext uri="{FF2B5EF4-FFF2-40B4-BE49-F238E27FC236}">
                <a16:creationId xmlns:a16="http://schemas.microsoft.com/office/drawing/2014/main" id="{1E1BB6CA-D84E-6AAF-CA43-B17B5B8FA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-39667" y="4310910"/>
            <a:ext cx="1177511" cy="5414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B34DCE-49F4-40CE-2B82-9D3E6D29C91B}"/>
              </a:ext>
            </a:extLst>
          </p:cNvPr>
          <p:cNvSpPr/>
          <p:nvPr/>
        </p:nvSpPr>
        <p:spPr>
          <a:xfrm>
            <a:off x="1124934" y="3125680"/>
            <a:ext cx="922197" cy="113215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1289B-16E6-296F-32D8-B44B8B52372D}"/>
              </a:ext>
            </a:extLst>
          </p:cNvPr>
          <p:cNvSpPr/>
          <p:nvPr/>
        </p:nvSpPr>
        <p:spPr>
          <a:xfrm>
            <a:off x="1132597" y="4904961"/>
            <a:ext cx="922197" cy="113215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7D5381-9A3B-A4AA-2D02-C492BBCFDD2F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847973" y="3145956"/>
            <a:ext cx="261633" cy="595261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6395EB3-7484-22F6-A9AD-7EE1E47CBF9D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847973" y="3741217"/>
            <a:ext cx="261633" cy="504653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9DE5ED-7720-185B-D9AC-BF47F7790B9F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856476" y="4922572"/>
            <a:ext cx="263710" cy="529231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2789BB-B315-EAAC-C887-93229CE2B6B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856476" y="5451803"/>
            <a:ext cx="263710" cy="58530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481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E55C-7924-6EFB-8E71-1B178347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9F472A-4094-0DD5-07C5-3E44C3D7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766FB1DA-A0EB-6A20-B17B-92E56A7C22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81008" y="1906819"/>
            <a:ext cx="720036" cy="914400"/>
          </a:xfrm>
          <a:prstGeom prst="rect">
            <a:avLst/>
          </a:prstGeom>
          <a:ln>
            <a:solidFill>
              <a:schemeClr val="tx2"/>
            </a:solidFill>
          </a:ln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39A790-0946-C43B-EDB6-CC6854B52973}"/>
              </a:ext>
            </a:extLst>
          </p:cNvPr>
          <p:cNvSpPr/>
          <p:nvPr/>
        </p:nvSpPr>
        <p:spPr>
          <a:xfrm>
            <a:off x="10101909" y="2821219"/>
            <a:ext cx="878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Jacob Minnette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78E290D-E41C-90D9-9C4C-154F6078D696}"/>
              </a:ext>
            </a:extLst>
          </p:cNvPr>
          <p:cNvSpPr/>
          <p:nvPr/>
        </p:nvSpPr>
        <p:spPr>
          <a:xfrm>
            <a:off x="11025151" y="2826803"/>
            <a:ext cx="1092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Amir M. Orvati Movaffagh</a:t>
            </a:r>
          </a:p>
        </p:txBody>
      </p:sp>
      <p:pic>
        <p:nvPicPr>
          <p:cNvPr id="40" name="Picture 4" descr="Logos | Brand guidelines | University of Illinois Chicago">
            <a:extLst>
              <a:ext uri="{FF2B5EF4-FFF2-40B4-BE49-F238E27FC236}">
                <a16:creationId xmlns:a16="http://schemas.microsoft.com/office/drawing/2014/main" id="{CE92C3DF-ACDD-D6D3-07C9-E1F85D448F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23331" y="1097229"/>
            <a:ext cx="681874" cy="68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B325A8CE-9123-4564-E203-3332E9198F8D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D139F9FE-3CE2-91E7-E58F-911027D55931}"/>
              </a:ext>
            </a:extLst>
          </p:cNvPr>
          <p:cNvSpPr txBox="1"/>
          <p:nvPr/>
        </p:nvSpPr>
        <p:spPr>
          <a:xfrm>
            <a:off x="9890932" y="379585"/>
            <a:ext cx="2148693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Targeted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Materials  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7BA41B-A4DD-D040-8758-8E091AB0CB1A}"/>
              </a:ext>
            </a:extLst>
          </p:cNvPr>
          <p:cNvCxnSpPr/>
          <p:nvPr/>
        </p:nvCxnSpPr>
        <p:spPr>
          <a:xfrm>
            <a:off x="-4009" y="767520"/>
            <a:ext cx="1219041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77E6483-F750-0F67-3AA4-A10C2C639E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83080" y="1908077"/>
            <a:ext cx="818077" cy="9131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3DFD03-FDD8-0E6B-5BC5-2B3E20311B3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468" y="1230591"/>
            <a:ext cx="649576" cy="37025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CFFBADE-FD00-E19B-0A39-C77E8C9337C7}"/>
              </a:ext>
            </a:extLst>
          </p:cNvPr>
          <p:cNvGrpSpPr>
            <a:grpSpLocks noChangeAspect="1"/>
          </p:cNvGrpSpPr>
          <p:nvPr/>
        </p:nvGrpSpPr>
        <p:grpSpPr>
          <a:xfrm>
            <a:off x="10181008" y="3563561"/>
            <a:ext cx="1836510" cy="2009876"/>
            <a:chOff x="10205048" y="3292142"/>
            <a:chExt cx="1752601" cy="19180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BDE7488-B5DC-5A0E-8E86-A1DDD35985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05050" y="4510430"/>
              <a:ext cx="1752599" cy="699757"/>
              <a:chOff x="7134860" y="4378009"/>
              <a:chExt cx="2033085" cy="81174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26D12E8-DE5D-0779-F787-DDBD887779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57856" y="4378009"/>
                <a:ext cx="810089" cy="81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Software | Computational Materials Research Laboratory | University of  Illinois Chicago">
                <a:extLst>
                  <a:ext uri="{FF2B5EF4-FFF2-40B4-BE49-F238E27FC236}">
                    <a16:creationId xmlns:a16="http://schemas.microsoft.com/office/drawing/2014/main" id="{DFD8D5B6-3F10-C63A-D5ED-283069943B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4860" y="4378009"/>
                <a:ext cx="1226820" cy="81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9A9BD3C-5BDB-659E-B84A-4EA7C22E42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205831" y="3292142"/>
              <a:ext cx="1735488" cy="534601"/>
            </a:xfrm>
            <a:prstGeom prst="rect">
              <a:avLst/>
            </a:prstGeom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29851AA8-7314-6F1A-ACEE-9E0441B7D5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5048" y="3889732"/>
              <a:ext cx="1736271" cy="557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027A3AA-136B-9C52-176C-F762714C6A1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596" y="1240474"/>
            <a:ext cx="5037968" cy="40011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" name="TextBox 5">
            <a:extLst>
              <a:ext uri="{FF2B5EF4-FFF2-40B4-BE49-F238E27FC236}">
                <a16:creationId xmlns:a16="http://schemas.microsoft.com/office/drawing/2014/main" id="{C9841B71-086C-D0B4-9F29-31CEBBC2DC7A}"/>
              </a:ext>
            </a:extLst>
          </p:cNvPr>
          <p:cNvSpPr txBox="1"/>
          <p:nvPr/>
        </p:nvSpPr>
        <p:spPr>
          <a:xfrm>
            <a:off x="5534844" y="1230590"/>
            <a:ext cx="4339762" cy="2339102"/>
          </a:xfrm>
          <a:prstGeom prst="rect">
            <a:avLst/>
          </a:prstGeom>
          <a:ln w="12700">
            <a:solidFill>
              <a:sysClr val="windowText" lastClr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Challenges: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Anion-site composition: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identification of species occupying N-sites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Multiple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rocksalt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phases: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Underlying mechanisms behind the formation of UN-1 and UN-2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Oxidation behavior: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Relative stability and reaction pathways of UC vs. UC₂ and UN vs. U₂N₃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AA2FF725-22A6-1CA1-35CD-33537E5C199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49021" r="49359"/>
          <a:stretch>
            <a:fillRect/>
          </a:stretch>
        </p:blipFill>
        <p:spPr>
          <a:xfrm>
            <a:off x="5534843" y="3704412"/>
            <a:ext cx="4339762" cy="277011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7312C7-2738-EFFB-487B-F27A04C27856}"/>
              </a:ext>
            </a:extLst>
          </p:cNvPr>
          <p:cNvGraphicFramePr>
            <a:graphicFrameLocks noGrp="1"/>
          </p:cNvGraphicFramePr>
          <p:nvPr/>
        </p:nvGraphicFramePr>
        <p:xfrm>
          <a:off x="337596" y="5296642"/>
          <a:ext cx="5037968" cy="1179368"/>
        </p:xfrm>
        <a:graphic>
          <a:graphicData uri="http://schemas.openxmlformats.org/drawingml/2006/table">
            <a:tbl>
              <a:tblPr firstRow="1" firstCol="1" bandRow="1" bandCol="1">
                <a:tableStyleId>{17292A2E-F333-43FB-9621-5CBBE7FDCDCB}</a:tableStyleId>
              </a:tblPr>
              <a:tblGrid>
                <a:gridCol w="1844631">
                  <a:extLst>
                    <a:ext uri="{9D8B030D-6E8A-4147-A177-3AD203B41FA5}">
                      <a16:colId xmlns:a16="http://schemas.microsoft.com/office/drawing/2014/main" val="2556357011"/>
                    </a:ext>
                  </a:extLst>
                </a:gridCol>
                <a:gridCol w="1620284">
                  <a:extLst>
                    <a:ext uri="{9D8B030D-6E8A-4147-A177-3AD203B41FA5}">
                      <a16:colId xmlns:a16="http://schemas.microsoft.com/office/drawing/2014/main" val="1677245951"/>
                    </a:ext>
                  </a:extLst>
                </a:gridCol>
                <a:gridCol w="1573053">
                  <a:extLst>
                    <a:ext uri="{9D8B030D-6E8A-4147-A177-3AD203B41FA5}">
                      <a16:colId xmlns:a16="http://schemas.microsoft.com/office/drawing/2014/main" val="330907612"/>
                    </a:ext>
                  </a:extLst>
                </a:gridCol>
              </a:tblGrid>
              <a:tr h="38018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Refinement parameter</a:t>
                      </a:r>
                      <a:endParaRPr lang="en-US" sz="1200" kern="1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X-ray</a:t>
                      </a:r>
                      <a:endParaRPr lang="en-US" sz="1200" kern="1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Neutron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8754579"/>
                  </a:ext>
                </a:extLst>
              </a:tr>
              <a:tr h="3995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Rocksalt (UN-1) [wt. %] 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67.4 ± 0.6</a:t>
                      </a:r>
                      <a:endParaRPr lang="en-US" sz="1200" kern="1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69.6 ± 0.7 *</a:t>
                      </a:r>
                      <a:endParaRPr lang="en-US" sz="1200" kern="1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283593"/>
                  </a:ext>
                </a:extLst>
              </a:tr>
              <a:tr h="3995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Rocksalt (UN-2) [wt. %]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28.5 ± 0.6</a:t>
                      </a:r>
                      <a:endParaRPr lang="en-US" sz="1200" kern="10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25.8 ± 0.7 *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0936335"/>
                  </a:ext>
                </a:extLst>
              </a:tr>
            </a:tbl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3EBFA029-4132-CDF3-5782-6FAACFE59315}"/>
              </a:ext>
            </a:extLst>
          </p:cNvPr>
          <p:cNvSpPr txBox="1">
            <a:spLocks/>
          </p:cNvSpPr>
          <p:nvPr/>
        </p:nvSpPr>
        <p:spPr>
          <a:xfrm>
            <a:off x="382333" y="62362"/>
            <a:ext cx="1098076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Actinide Ceramics for Advanced Reactor Fuel Applications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156942-1C3F-4695-2781-CA49BE36B8F3}"/>
              </a:ext>
            </a:extLst>
          </p:cNvPr>
          <p:cNvSpPr/>
          <p:nvPr/>
        </p:nvSpPr>
        <p:spPr>
          <a:xfrm>
            <a:off x="5534843" y="3704412"/>
            <a:ext cx="4339762" cy="27715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60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0331-C507-443C-9003-6BE7E64C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3282E5-41ED-A64B-DBC2-5E31629E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CCC63C9A-3167-8F0F-E2FE-069998C233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81008" y="1906819"/>
            <a:ext cx="720036" cy="914400"/>
          </a:xfrm>
          <a:prstGeom prst="rect">
            <a:avLst/>
          </a:prstGeom>
          <a:ln>
            <a:solidFill>
              <a:schemeClr val="tx2"/>
            </a:solidFill>
          </a:ln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B963B95-20A6-0C4C-05D5-DC96A081B450}"/>
              </a:ext>
            </a:extLst>
          </p:cNvPr>
          <p:cNvSpPr/>
          <p:nvPr/>
        </p:nvSpPr>
        <p:spPr>
          <a:xfrm>
            <a:off x="10101909" y="2821219"/>
            <a:ext cx="878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Jacob Minnette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BDB1BF-9A50-194D-3450-0F6545083450}"/>
              </a:ext>
            </a:extLst>
          </p:cNvPr>
          <p:cNvSpPr/>
          <p:nvPr/>
        </p:nvSpPr>
        <p:spPr>
          <a:xfrm>
            <a:off x="11025151" y="2826803"/>
            <a:ext cx="1092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Amir M. Orvati Movaffagh</a:t>
            </a:r>
          </a:p>
        </p:txBody>
      </p:sp>
      <p:pic>
        <p:nvPicPr>
          <p:cNvPr id="40" name="Picture 4" descr="Logos | Brand guidelines | University of Illinois Chicago">
            <a:extLst>
              <a:ext uri="{FF2B5EF4-FFF2-40B4-BE49-F238E27FC236}">
                <a16:creationId xmlns:a16="http://schemas.microsoft.com/office/drawing/2014/main" id="{552627D5-79CA-57FA-0579-80FF5888D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23331" y="1097229"/>
            <a:ext cx="681874" cy="68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FBCBDB07-8117-057F-2F72-D20A349660AF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F1F1430B-867C-71D8-41ED-9404E87C1EE2}"/>
              </a:ext>
            </a:extLst>
          </p:cNvPr>
          <p:cNvSpPr txBox="1"/>
          <p:nvPr/>
        </p:nvSpPr>
        <p:spPr>
          <a:xfrm>
            <a:off x="9890932" y="379585"/>
            <a:ext cx="2148693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Targeted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Materials  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7A4E6F-6FB3-BB81-A986-3EDC16CD0A60}"/>
              </a:ext>
            </a:extLst>
          </p:cNvPr>
          <p:cNvCxnSpPr/>
          <p:nvPr/>
        </p:nvCxnSpPr>
        <p:spPr>
          <a:xfrm>
            <a:off x="-4009" y="767520"/>
            <a:ext cx="1219041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AE5A1E8-3FA5-BE3C-A421-9778237F291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83080" y="1908077"/>
            <a:ext cx="818077" cy="9131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BE0297-74BA-5D73-E619-77262617406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1468" y="1230591"/>
            <a:ext cx="649576" cy="37025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CBC3709-6734-108C-20C5-E82B68CF0F4F}"/>
              </a:ext>
            </a:extLst>
          </p:cNvPr>
          <p:cNvGrpSpPr>
            <a:grpSpLocks noChangeAspect="1"/>
          </p:cNvGrpSpPr>
          <p:nvPr/>
        </p:nvGrpSpPr>
        <p:grpSpPr>
          <a:xfrm>
            <a:off x="10181008" y="3563561"/>
            <a:ext cx="1836510" cy="2009876"/>
            <a:chOff x="10205048" y="3292142"/>
            <a:chExt cx="1752601" cy="19180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5F8EF21-1D7E-EF68-6D7C-232623D5B0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05050" y="4510430"/>
              <a:ext cx="1752599" cy="699757"/>
              <a:chOff x="7134860" y="4378009"/>
              <a:chExt cx="2033085" cy="81174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99DFC1A-464C-435F-83D7-C7D44E4C6B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57856" y="4378009"/>
                <a:ext cx="810089" cy="81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Software | Computational Materials Research Laboratory | University of  Illinois Chicago">
                <a:extLst>
                  <a:ext uri="{FF2B5EF4-FFF2-40B4-BE49-F238E27FC236}">
                    <a16:creationId xmlns:a16="http://schemas.microsoft.com/office/drawing/2014/main" id="{CBE4C95B-A89A-393D-6CD7-1BD6AC6822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4860" y="4378009"/>
                <a:ext cx="1226820" cy="81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A479066-EA36-35C1-FAF4-D4BC73B7B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205831" y="3292142"/>
              <a:ext cx="1735488" cy="534601"/>
            </a:xfrm>
            <a:prstGeom prst="rect">
              <a:avLst/>
            </a:prstGeom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04C458E2-9116-8A4A-A535-D49FDE0D1F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5048" y="3889732"/>
              <a:ext cx="1736271" cy="557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8E271CC-7295-B222-76A4-54F18899A815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944" y="998351"/>
            <a:ext cx="3877951" cy="27699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diagram of a molecule&#10;&#10;AI-generated content may be incorrect.">
            <a:extLst>
              <a:ext uri="{FF2B5EF4-FFF2-40B4-BE49-F238E27FC236}">
                <a16:creationId xmlns:a16="http://schemas.microsoft.com/office/drawing/2014/main" id="{4649B69B-245D-F42A-E5F3-C5478131EAFE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944" y="3906956"/>
            <a:ext cx="1843939" cy="17511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 descr="A diagram of a molecule&#10;&#10;AI-generated content may be incorrect.">
            <a:extLst>
              <a:ext uri="{FF2B5EF4-FFF2-40B4-BE49-F238E27FC236}">
                <a16:creationId xmlns:a16="http://schemas.microsoft.com/office/drawing/2014/main" id="{45100F97-8C33-8FC7-B705-3F7503DE1B76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2848" y="3906956"/>
            <a:ext cx="1723047" cy="17511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690EB7F-B5CB-C1C8-9E4A-FB9849AADB8C}"/>
              </a:ext>
            </a:extLst>
          </p:cNvPr>
          <p:cNvSpPr txBox="1">
            <a:spLocks/>
          </p:cNvSpPr>
          <p:nvPr/>
        </p:nvSpPr>
        <p:spPr>
          <a:xfrm>
            <a:off x="382333" y="62362"/>
            <a:ext cx="1098076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Actinide Ceramics for Advanced Reactor Fuel Applications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F10A470-9354-EC53-6344-98AA7DA380CF}"/>
              </a:ext>
            </a:extLst>
          </p:cNvPr>
          <p:cNvCxnSpPr>
            <a:cxnSpLocks/>
          </p:cNvCxnSpPr>
          <p:nvPr/>
        </p:nvCxnSpPr>
        <p:spPr>
          <a:xfrm flipH="1">
            <a:off x="1903276" y="2459867"/>
            <a:ext cx="295275" cy="19367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50DF12D-3FFA-D3AC-1942-F2DE606166DA}"/>
              </a:ext>
            </a:extLst>
          </p:cNvPr>
          <p:cNvSpPr txBox="1"/>
          <p:nvPr/>
        </p:nvSpPr>
        <p:spPr>
          <a:xfrm>
            <a:off x="548780" y="2598507"/>
            <a:ext cx="1971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At 50%:</a:t>
            </a:r>
          </a:p>
          <a:p>
            <a:pPr algn="ctr"/>
            <a:r>
              <a:rPr lang="en-US" sz="1600" dirty="0"/>
              <a:t>SQS - VCA ≈ 0.2%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162B6D2-9B9E-694A-3CCB-D2D9192659B2}"/>
              </a:ext>
            </a:extLst>
          </p:cNvPr>
          <p:cNvCxnSpPr/>
          <p:nvPr/>
        </p:nvCxnSpPr>
        <p:spPr>
          <a:xfrm>
            <a:off x="4102993" y="2695025"/>
            <a:ext cx="0" cy="556301"/>
          </a:xfrm>
          <a:prstGeom prst="line">
            <a:avLst/>
          </a:prstGeom>
          <a:ln w="1905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AD49928-7031-FC45-7657-F5C5C199BC2F}"/>
              </a:ext>
            </a:extLst>
          </p:cNvPr>
          <p:cNvCxnSpPr>
            <a:cxnSpLocks/>
          </p:cNvCxnSpPr>
          <p:nvPr/>
        </p:nvCxnSpPr>
        <p:spPr>
          <a:xfrm>
            <a:off x="3784341" y="2692761"/>
            <a:ext cx="318650" cy="226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0B3A363-21D9-31FC-EBD1-A2F2195F5925}"/>
              </a:ext>
            </a:extLst>
          </p:cNvPr>
          <p:cNvGrpSpPr>
            <a:grpSpLocks noChangeAspect="1"/>
          </p:cNvGrpSpPr>
          <p:nvPr/>
        </p:nvGrpSpPr>
        <p:grpSpPr>
          <a:xfrm>
            <a:off x="4971204" y="998351"/>
            <a:ext cx="5103525" cy="3914231"/>
            <a:chOff x="5278415" y="1879757"/>
            <a:chExt cx="5545512" cy="431404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716B636-1131-F9E5-ADA7-ADEF032FB939}"/>
                </a:ext>
              </a:extLst>
            </p:cNvPr>
            <p:cNvGrpSpPr/>
            <p:nvPr/>
          </p:nvGrpSpPr>
          <p:grpSpPr>
            <a:xfrm>
              <a:off x="5278415" y="1879757"/>
              <a:ext cx="5545512" cy="4314049"/>
              <a:chOff x="4497842" y="1419797"/>
              <a:chExt cx="5545512" cy="4314049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BA82672-59CE-3CD8-EBE6-927C71820C0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97842" y="1419797"/>
                <a:ext cx="5545512" cy="4314049"/>
                <a:chOff x="145638" y="1120092"/>
                <a:chExt cx="6448207" cy="5016287"/>
              </a:xfrm>
            </p:grpSpPr>
            <p:pic>
              <p:nvPicPr>
                <p:cNvPr id="28" name="Picture 27" descr="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D125DE9C-A230-5CC0-BAB5-865776C152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9975" y="1120092"/>
                  <a:ext cx="6416872" cy="1163562"/>
                </a:xfrm>
                <a:prstGeom prst="rect">
                  <a:avLst/>
                </a:prstGeom>
              </p:spPr>
            </p:pic>
            <p:pic>
              <p:nvPicPr>
                <p:cNvPr id="29" name="Picture 28" descr="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3A5E73FB-8BBF-63AA-DDA3-87F0FF154B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9975" y="2085744"/>
                  <a:ext cx="6416871" cy="1181301"/>
                </a:xfrm>
                <a:prstGeom prst="rect">
                  <a:avLst/>
                </a:prstGeom>
              </p:spPr>
            </p:pic>
            <p:pic>
              <p:nvPicPr>
                <p:cNvPr id="30" name="Picture 29" descr="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52B5C0AE-FC7C-C7DA-F446-7CFEC34CCA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8575" y="3082691"/>
                  <a:ext cx="6428272" cy="1139847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graph of a function&#10;&#10;AI-generated content may be incorrect.">
                  <a:extLst>
                    <a:ext uri="{FF2B5EF4-FFF2-40B4-BE49-F238E27FC236}">
                      <a16:creationId xmlns:a16="http://schemas.microsoft.com/office/drawing/2014/main" id="{295E79CA-5F99-C052-D391-D40BB41779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4617" y="4028643"/>
                  <a:ext cx="6439228" cy="1118606"/>
                </a:xfrm>
                <a:prstGeom prst="rect">
                  <a:avLst/>
                </a:prstGeom>
              </p:spPr>
            </p:pic>
            <p:pic>
              <p:nvPicPr>
                <p:cNvPr id="32" name="Picture 31" descr="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E0B7CE98-FE90-45BA-37F4-A34415BAC0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5638" y="4963977"/>
                  <a:ext cx="6448207" cy="1172402"/>
                </a:xfrm>
                <a:prstGeom prst="rect">
                  <a:avLst/>
                </a:prstGeom>
              </p:spPr>
            </p:pic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9CF09F-9572-EE43-C46D-DD0475F3330B}"/>
                  </a:ext>
                </a:extLst>
              </p:cNvPr>
              <p:cNvSpPr txBox="1"/>
              <p:nvPr/>
            </p:nvSpPr>
            <p:spPr>
              <a:xfrm>
                <a:off x="6268823" y="1515215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+0.43%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09A3FB-6068-3CC6-9CE5-1A31B8AB94C1}"/>
                  </a:ext>
                </a:extLst>
              </p:cNvPr>
              <p:cNvSpPr txBox="1"/>
              <p:nvPr/>
            </p:nvSpPr>
            <p:spPr>
              <a:xfrm>
                <a:off x="7132422" y="1674311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+0.10%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466D7C-E5EE-9B5A-B01D-51D00A1E7780}"/>
                  </a:ext>
                </a:extLst>
              </p:cNvPr>
              <p:cNvSpPr txBox="1"/>
              <p:nvPr/>
            </p:nvSpPr>
            <p:spPr>
              <a:xfrm>
                <a:off x="7824920" y="1460970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+0.25%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67B7DB-0EB9-21EB-00DE-5179000F0563}"/>
                  </a:ext>
                </a:extLst>
              </p:cNvPr>
              <p:cNvSpPr txBox="1"/>
              <p:nvPr/>
            </p:nvSpPr>
            <p:spPr>
              <a:xfrm>
                <a:off x="6246598" y="2433359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+0.46%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6E5DD0-DB2D-C10F-4E26-63F2A078118B}"/>
                  </a:ext>
                </a:extLst>
              </p:cNvPr>
              <p:cNvSpPr txBox="1"/>
              <p:nvPr/>
            </p:nvSpPr>
            <p:spPr>
              <a:xfrm>
                <a:off x="7138271" y="2564232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FF0000"/>
                    </a:solidFill>
                  </a:rPr>
                  <a:t>-0.65%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8E46D0-7631-BFE6-1C63-8E3E5EFD7EA0}"/>
                  </a:ext>
                </a:extLst>
              </p:cNvPr>
              <p:cNvSpPr txBox="1"/>
              <p:nvPr/>
            </p:nvSpPr>
            <p:spPr>
              <a:xfrm>
                <a:off x="7777295" y="2326831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+0.25%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DC9929-5071-C30E-E47F-A21BD2809702}"/>
                  </a:ext>
                </a:extLst>
              </p:cNvPr>
              <p:cNvSpPr txBox="1"/>
              <p:nvPr/>
            </p:nvSpPr>
            <p:spPr>
              <a:xfrm>
                <a:off x="6263056" y="3263827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+0.69%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497EFF-91C0-FEFE-2F8E-0B3B66C0CA73}"/>
                  </a:ext>
                </a:extLst>
              </p:cNvPr>
              <p:cNvSpPr txBox="1"/>
              <p:nvPr/>
            </p:nvSpPr>
            <p:spPr>
              <a:xfrm>
                <a:off x="7114592" y="3403874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+0.63%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0955A3-3646-5467-CBAD-FDD358865198}"/>
                  </a:ext>
                </a:extLst>
              </p:cNvPr>
              <p:cNvSpPr txBox="1"/>
              <p:nvPr/>
            </p:nvSpPr>
            <p:spPr>
              <a:xfrm>
                <a:off x="7802695" y="3199011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+0.25%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3E093B-3A61-3D34-3106-C1984052AC5B}"/>
                  </a:ext>
                </a:extLst>
              </p:cNvPr>
              <p:cNvSpPr txBox="1"/>
              <p:nvPr/>
            </p:nvSpPr>
            <p:spPr>
              <a:xfrm>
                <a:off x="5659397" y="4085109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+0.69%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79E20E-1216-F0D3-D10E-28BD075D33A2}"/>
                  </a:ext>
                </a:extLst>
              </p:cNvPr>
              <p:cNvSpPr txBox="1"/>
              <p:nvPr/>
            </p:nvSpPr>
            <p:spPr>
              <a:xfrm>
                <a:off x="6694855" y="4188278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+0.35%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311D89-A421-6A21-9178-E8494615B003}"/>
                  </a:ext>
                </a:extLst>
              </p:cNvPr>
              <p:cNvSpPr txBox="1"/>
              <p:nvPr/>
            </p:nvSpPr>
            <p:spPr>
              <a:xfrm>
                <a:off x="7470426" y="3994353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+0.22%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248687A-A283-1EB8-7F65-77EB652B46AC}"/>
                  </a:ext>
                </a:extLst>
              </p:cNvPr>
              <p:cNvSpPr txBox="1"/>
              <p:nvPr/>
            </p:nvSpPr>
            <p:spPr>
              <a:xfrm>
                <a:off x="5681531" y="4882562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FF0000"/>
                    </a:solidFill>
                  </a:rPr>
                  <a:t>-0.16%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1EB57F6-CD60-F4F8-C368-49DAED45CC22}"/>
                  </a:ext>
                </a:extLst>
              </p:cNvPr>
              <p:cNvSpPr txBox="1"/>
              <p:nvPr/>
            </p:nvSpPr>
            <p:spPr>
              <a:xfrm>
                <a:off x="6721904" y="4986705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+0.35%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80EAA4-307C-76A0-40FB-A73821DD9D7C}"/>
                  </a:ext>
                </a:extLst>
              </p:cNvPr>
              <p:cNvSpPr txBox="1"/>
              <p:nvPr/>
            </p:nvSpPr>
            <p:spPr>
              <a:xfrm>
                <a:off x="7470426" y="4789453"/>
                <a:ext cx="863599" cy="35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rgbClr val="00CC00"/>
                    </a:solidFill>
                  </a:rPr>
                  <a:t>+0.22%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BBDCB9F-6554-A8C0-5FF0-31202D90C629}"/>
                </a:ext>
              </a:extLst>
            </p:cNvPr>
            <p:cNvSpPr/>
            <p:nvPr/>
          </p:nvSpPr>
          <p:spPr>
            <a:xfrm>
              <a:off x="5299345" y="1879757"/>
              <a:ext cx="5524582" cy="431404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0560787-25E7-3504-1B3B-FB36222F3EA8}"/>
              </a:ext>
            </a:extLst>
          </p:cNvPr>
          <p:cNvCxnSpPr>
            <a:cxnSpLocks/>
          </p:cNvCxnSpPr>
          <p:nvPr/>
        </p:nvCxnSpPr>
        <p:spPr>
          <a:xfrm>
            <a:off x="3784343" y="3241509"/>
            <a:ext cx="318650" cy="226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AF56902-76F2-5895-889B-476FEF226828}"/>
              </a:ext>
            </a:extLst>
          </p:cNvPr>
          <p:cNvSpPr txBox="1"/>
          <p:nvPr/>
        </p:nvSpPr>
        <p:spPr>
          <a:xfrm>
            <a:off x="4069402" y="2624246"/>
            <a:ext cx="1000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≈ 99.5% Accuracy</a:t>
            </a:r>
          </a:p>
        </p:txBody>
      </p:sp>
      <p:sp>
        <p:nvSpPr>
          <p:cNvPr id="66" name="TextBox 5">
            <a:extLst>
              <a:ext uri="{FF2B5EF4-FFF2-40B4-BE49-F238E27FC236}">
                <a16:creationId xmlns:a16="http://schemas.microsoft.com/office/drawing/2014/main" id="{976C4749-D101-7C59-0088-95FCB2D5C35B}"/>
              </a:ext>
            </a:extLst>
          </p:cNvPr>
          <p:cNvSpPr txBox="1"/>
          <p:nvPr/>
        </p:nvSpPr>
        <p:spPr>
          <a:xfrm>
            <a:off x="4978311" y="5017361"/>
            <a:ext cx="5103525" cy="1354217"/>
          </a:xfrm>
          <a:prstGeom prst="rect">
            <a:avLst/>
          </a:prstGeom>
          <a:ln w="12700">
            <a:solidFill>
              <a:sysClr val="windowText" lastClr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Results so far: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SQS reproduces UCP with ~99.5% accuracy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UCP curvature explained: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Attributed to carbon incorporation on N-sites and local chemical environment effects, not captured by VCA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EBDAE8-2E6B-966F-F676-78819FF25F37}"/>
              </a:ext>
            </a:extLst>
          </p:cNvPr>
          <p:cNvSpPr txBox="1"/>
          <p:nvPr/>
        </p:nvSpPr>
        <p:spPr>
          <a:xfrm>
            <a:off x="2575882" y="5698010"/>
            <a:ext cx="1000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SQS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2B32AA-2005-3907-FED9-87F42D4236B6}"/>
              </a:ext>
            </a:extLst>
          </p:cNvPr>
          <p:cNvSpPr txBox="1"/>
          <p:nvPr/>
        </p:nvSpPr>
        <p:spPr>
          <a:xfrm>
            <a:off x="518939" y="5698010"/>
            <a:ext cx="1000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VCA</a:t>
            </a:r>
          </a:p>
        </p:txBody>
      </p:sp>
    </p:spTree>
    <p:extLst>
      <p:ext uri="{BB962C8B-B14F-4D97-AF65-F5344CB8AC3E}">
        <p14:creationId xmlns:p14="http://schemas.microsoft.com/office/powerpoint/2010/main" val="2409698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D0D9-F32E-8FB1-4CEC-84394CF2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E8006AF-1045-3D4B-83E3-357E5BB97436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8D220CE3-8E90-C6C5-948F-45C7CCBD5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F31FD3A5-905B-4E4E-5F68-F45C90B44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6215C9BE-7204-9F8F-38DA-E8DC96098D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FC210E5-2F08-33A6-4516-3DC89CF19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420901"/>
            <a:ext cx="10553700" cy="1818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DEF Approach for Defect Phase Diagrams for SHI</a:t>
            </a: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Sara Kadkhodaei, Ph.D.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Associate Professor,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University of Illinois Chicago, </a:t>
            </a:r>
            <a:r>
              <a:rPr lang="en-US" sz="2500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sarakad</a:t>
            </a:r>
            <a:r>
              <a:rPr lang="en-US" sz="2500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@uic.edu</a:t>
            </a:r>
            <a:endParaRPr lang="en-US" sz="25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  <p:pic>
        <p:nvPicPr>
          <p:cNvPr id="2" name="Picture 4" descr="Logos | Brand guidelines | University of Illinois Chicago">
            <a:extLst>
              <a:ext uri="{FF2B5EF4-FFF2-40B4-BE49-F238E27FC236}">
                <a16:creationId xmlns:a16="http://schemas.microsoft.com/office/drawing/2014/main" id="{C00E11A5-4575-3B8E-C2CB-D7982CA190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73669" y="2933021"/>
            <a:ext cx="1499335" cy="189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569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5A77C-9F0E-DD44-D701-AF0CE497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911E0CD3-83E9-69CE-5A64-6514EC3F5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A757C2-B9D0-CDFA-B542-362141FE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89E8F773-8B01-A86A-233A-3EDD231A9ED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E640A0-BF8B-C4EC-EEA5-FDCBB8CF0963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4EF6604A-5264-6B8E-7907-44B545429C6D}"/>
              </a:ext>
            </a:extLst>
          </p:cNvPr>
          <p:cNvSpPr txBox="1">
            <a:spLocks/>
          </p:cNvSpPr>
          <p:nvPr/>
        </p:nvSpPr>
        <p:spPr>
          <a:xfrm>
            <a:off x="376194" y="136524"/>
            <a:ext cx="911152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i="1" dirty="0">
                <a:solidFill>
                  <a:srgbClr val="661303"/>
                </a:solidFill>
                <a:latin typeface="Arial"/>
                <a:cs typeface="Arial"/>
              </a:rPr>
              <a:t>Ab initio </a:t>
            </a:r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Modeling of Defects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A811820-0AEC-E913-8DBA-766A5B5A5231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14ADA-02C3-1B59-6B63-15DC71C16CCB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FD85AF-8BEF-FB89-49B6-A4AC66AFBCA9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Experiment and Theory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C2C05602-E068-1BA1-7FAA-C07B1015ECCF}"/>
              </a:ext>
            </a:extLst>
          </p:cNvPr>
          <p:cNvSpPr txBox="1"/>
          <p:nvPr/>
        </p:nvSpPr>
        <p:spPr>
          <a:xfrm>
            <a:off x="7152700" y="4515931"/>
            <a:ext cx="4670031" cy="1600438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LIMITATION</a:t>
            </a:r>
            <a:endParaRPr kumimoji="0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Chemical potential (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μ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)-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and Fermi level (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Ε</a:t>
            </a:r>
            <a:r>
              <a:rPr kumimoji="0" lang="en-US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)- dependent defect energetics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Defects are typically treated individually, without a unified description of their collective distribution in defective phases</a:t>
            </a:r>
          </a:p>
        </p:txBody>
      </p:sp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AF6A5DFC-6961-70B7-9429-1E39FC45DE92}"/>
              </a:ext>
            </a:extLst>
          </p:cNvPr>
          <p:cNvSpPr txBox="1">
            <a:spLocks/>
          </p:cNvSpPr>
          <p:nvPr/>
        </p:nvSpPr>
        <p:spPr>
          <a:xfrm>
            <a:off x="430259" y="936252"/>
            <a:ext cx="4638207" cy="4514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000066"/>
                </a:solidFill>
              </a:rPr>
              <a:t>I. DFT calculations of defects in ceria</a:t>
            </a:r>
            <a:endParaRPr lang="en-US" sz="300" dirty="0">
              <a:solidFill>
                <a:srgbClr val="000099"/>
              </a:solidFill>
              <a:sym typeface="Wingding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C36949-83A0-4FF2-8F38-0CF9BB04F0E9}"/>
              </a:ext>
            </a:extLst>
          </p:cNvPr>
          <p:cNvSpPr/>
          <p:nvPr/>
        </p:nvSpPr>
        <p:spPr>
          <a:xfrm>
            <a:off x="296944" y="955584"/>
            <a:ext cx="9323340" cy="3357850"/>
          </a:xfrm>
          <a:prstGeom prst="rect">
            <a:avLst/>
          </a:prstGeom>
          <a:noFill/>
          <a:ln w="127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4B04546-4732-FA0C-07A5-24103A41C6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94389" y="1285699"/>
            <a:ext cx="3220386" cy="262579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F741301-EDD7-010A-74DF-25D37A65BEE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7307" y="1285699"/>
            <a:ext cx="4120445" cy="29233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CCF598-8E6D-6719-29EB-FD338B43D5C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851" y="1282282"/>
            <a:ext cx="1453180" cy="15123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E41112D-46A7-C4CF-AC31-AEF952BF3B95}"/>
                  </a:ext>
                </a:extLst>
              </p:cNvPr>
              <p:cNvSpPr txBox="1"/>
              <p:nvPr/>
            </p:nvSpPr>
            <p:spPr>
              <a:xfrm>
                <a:off x="-338918" y="3961103"/>
                <a:ext cx="6106332" cy="328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𝒐𝒓𝒎𝒂𝒕𝒊𝒐𝒏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𝑬𝒏𝒆𝒓𝒈𝒚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𝒅𝒆𝒇𝒆𝒄𝒕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𝒃𝒖𝒍𝒌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−∑</m:t>
                      </m:r>
                      <m:r>
                        <a:rPr lang="en-US" sz="1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en-US" sz="1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E41112D-46A7-C4CF-AC31-AEF952BF3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8918" y="3961103"/>
                <a:ext cx="6106332" cy="328167"/>
              </a:xfrm>
              <a:prstGeom prst="rect">
                <a:avLst/>
              </a:prstGeom>
              <a:blipFill>
                <a:blip r:embed="rId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Picture 57" descr="A diagram of a chemical potential&#10;&#10;Description automatically generated">
            <a:extLst>
              <a:ext uri="{FF2B5EF4-FFF2-40B4-BE49-F238E27FC236}">
                <a16:creationId xmlns:a16="http://schemas.microsoft.com/office/drawing/2014/main" id="{D450FDB5-CD5D-EC0D-DAC2-659437DEFAB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4691" y="1214832"/>
            <a:ext cx="2118424" cy="2839354"/>
          </a:xfrm>
          <a:prstGeom prst="rect">
            <a:avLst/>
          </a:prstGeom>
        </p:spPr>
      </p:pic>
      <p:grpSp>
        <p:nvGrpSpPr>
          <p:cNvPr id="174" name="Group 173">
            <a:extLst>
              <a:ext uri="{FF2B5EF4-FFF2-40B4-BE49-F238E27FC236}">
                <a16:creationId xmlns:a16="http://schemas.microsoft.com/office/drawing/2014/main" id="{DCA71DEC-365E-3CB0-22B1-3BD1C4612D90}"/>
              </a:ext>
            </a:extLst>
          </p:cNvPr>
          <p:cNvGrpSpPr/>
          <p:nvPr/>
        </p:nvGrpSpPr>
        <p:grpSpPr>
          <a:xfrm>
            <a:off x="292473" y="4407364"/>
            <a:ext cx="6227943" cy="2329874"/>
            <a:chOff x="292473" y="4407364"/>
            <a:chExt cx="6227943" cy="2329874"/>
          </a:xfrm>
        </p:grpSpPr>
        <p:sp>
          <p:nvSpPr>
            <p:cNvPr id="30" name="Content Placeholder 6">
              <a:extLst>
                <a:ext uri="{FF2B5EF4-FFF2-40B4-BE49-F238E27FC236}">
                  <a16:creationId xmlns:a16="http://schemas.microsoft.com/office/drawing/2014/main" id="{12AF067E-FA4F-A266-360A-273A9BAC978C}"/>
                </a:ext>
              </a:extLst>
            </p:cNvPr>
            <p:cNvSpPr txBox="1">
              <a:spLocks/>
            </p:cNvSpPr>
            <p:nvPr/>
          </p:nvSpPr>
          <p:spPr>
            <a:xfrm>
              <a:off x="292473" y="4462269"/>
              <a:ext cx="3652819" cy="608326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700" dirty="0">
                  <a:solidFill>
                    <a:srgbClr val="000066"/>
                  </a:solidFill>
                </a:rPr>
                <a:t>II. Defect energies in UC</a:t>
              </a:r>
              <a:endParaRPr lang="en-US" sz="1800" baseline="-25000" dirty="0">
                <a:solidFill>
                  <a:srgbClr val="000066"/>
                </a:solidFill>
              </a:endParaRPr>
            </a:p>
            <a:p>
              <a:pPr marL="457200" lvl="1" indent="0">
                <a:buNone/>
              </a:pPr>
              <a:endParaRPr lang="en-US" sz="300" dirty="0">
                <a:solidFill>
                  <a:srgbClr val="000099"/>
                </a:solidFill>
                <a:sym typeface="Wingdings"/>
              </a:endParaRPr>
            </a:p>
          </p:txBody>
        </p:sp>
        <p:pic>
          <p:nvPicPr>
            <p:cNvPr id="172" name="UC_defect_energies.png" descr="UC_defect_energies.png">
              <a:extLst>
                <a:ext uri="{FF2B5EF4-FFF2-40B4-BE49-F238E27FC236}">
                  <a16:creationId xmlns:a16="http://schemas.microsoft.com/office/drawing/2014/main" id="{420B8560-0E7E-F2F1-3D5B-558E5BC07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25606" y="4407364"/>
              <a:ext cx="3494810" cy="232987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31C3A34-B4E6-ED60-8876-3641B1414345}"/>
                </a:ext>
              </a:extLst>
            </p:cNvPr>
            <p:cNvSpPr/>
            <p:nvPr/>
          </p:nvSpPr>
          <p:spPr>
            <a:xfrm>
              <a:off x="866555" y="5315020"/>
              <a:ext cx="206532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i="1" dirty="0" err="1">
                  <a:latin typeface="+mj-lt"/>
                  <a:cs typeface="Arial" panose="020B0604020202020204" pitchFamily="34" charset="0"/>
                </a:rPr>
                <a:t>Ertekin’s</a:t>
              </a:r>
              <a:r>
                <a:rPr lang="en-US" sz="1400" i="1" dirty="0">
                  <a:latin typeface="+mj-lt"/>
                  <a:cs typeface="Arial" panose="020B0604020202020204" pitchFamily="34" charset="0"/>
                </a:rPr>
                <a:t> group (ongoing)</a:t>
              </a:r>
            </a:p>
          </p:txBody>
        </p:sp>
      </p:grpSp>
      <p:sp>
        <p:nvSpPr>
          <p:cNvPr id="177" name="Freyss, Phys. Rev. B. 2010 |  Dorado  et al ., Phys. Rev. B. 2011 |  Ducher et al ., Phys. Rev. B. 2011">
            <a:extLst>
              <a:ext uri="{FF2B5EF4-FFF2-40B4-BE49-F238E27FC236}">
                <a16:creationId xmlns:a16="http://schemas.microsoft.com/office/drawing/2014/main" id="{F43C70D4-21DC-5692-38B9-FF36D74CDE11}"/>
              </a:ext>
            </a:extLst>
          </p:cNvPr>
          <p:cNvSpPr txBox="1"/>
          <p:nvPr/>
        </p:nvSpPr>
        <p:spPr>
          <a:xfrm>
            <a:off x="1868651" y="6561134"/>
            <a:ext cx="8502712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733930">
              <a:lnSpc>
                <a:spcPct val="100000"/>
              </a:lnSpc>
              <a:spcBef>
                <a:spcPts val="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1400" dirty="0"/>
              <a:t>Huang, J. Phys. Chem. C, 2010|  Zacherle, Phys. Rev. B. 2013 |Tiwary, Phys. Rev. B. 2009|  </a:t>
            </a:r>
            <a:r>
              <a:rPr lang="en-US" sz="1400" dirty="0" err="1"/>
              <a:t>Ducher</a:t>
            </a:r>
            <a:r>
              <a:rPr lang="en-US" sz="1400" dirty="0"/>
              <a:t>, Phys. Rev. B. 2011</a:t>
            </a:r>
          </a:p>
        </p:txBody>
      </p:sp>
    </p:spTree>
    <p:extLst>
      <p:ext uri="{BB962C8B-B14F-4D97-AF65-F5344CB8AC3E}">
        <p14:creationId xmlns:p14="http://schemas.microsoft.com/office/powerpoint/2010/main" val="375177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2CC7-A696-7217-43CA-BB2BD662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25CEE027-8929-608E-1D41-1D58648AD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6122C-BD8E-645D-6EB2-89ADA335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35162EBE-269B-2949-7BD2-A2BE6FFD86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17F957-CC08-0BD7-87E9-29D88F41B9FE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D42C676F-8447-3DBB-2EEC-377E20C6A053}"/>
              </a:ext>
            </a:extLst>
          </p:cNvPr>
          <p:cNvSpPr txBox="1">
            <a:spLocks/>
          </p:cNvSpPr>
          <p:nvPr/>
        </p:nvSpPr>
        <p:spPr>
          <a:xfrm>
            <a:off x="376194" y="136524"/>
            <a:ext cx="911152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CALPHAD Modeling of Defects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83EB6B3-4149-2E37-C5D6-FFFADD395106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6C847A-E2B2-8C42-729E-AED42915335D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F9C916-AAF2-F208-FF6D-C464C85ACB23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Experiment and Theory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94074F3A-A6E2-3EC7-A9C1-57E91209BC05}"/>
              </a:ext>
            </a:extLst>
          </p:cNvPr>
          <p:cNvSpPr txBox="1"/>
          <p:nvPr/>
        </p:nvSpPr>
        <p:spPr>
          <a:xfrm>
            <a:off x="451775" y="969705"/>
            <a:ext cx="6110390" cy="1600438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LIMITATION</a:t>
            </a:r>
            <a:endParaRPr kumimoji="0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Phase diagrams often rely on fitting thermochemical data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Built from heat capacities and measured phase boundaries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Data-dependent and non-universal, limited physical grounding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Phase-boundary data are hard to obtain for dilute defects 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Does not identify defect types (blind to defect chemistry)</a:t>
            </a:r>
            <a:endParaRPr lang="en-US" sz="1600" kern="0" dirty="0">
              <a:solidFill>
                <a:prstClr val="blac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23FE472-BE06-3591-9925-F12BE004B3F3}"/>
              </a:ext>
            </a:extLst>
          </p:cNvPr>
          <p:cNvSpPr txBox="1"/>
          <p:nvPr/>
        </p:nvSpPr>
        <p:spPr>
          <a:xfrm>
            <a:off x="7058908" y="4557772"/>
            <a:ext cx="4670031" cy="1846659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ADVANTAGE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600" kern="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Environment-independent Gibbs energy (G) parameterization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600" kern="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Chemical and electronic coexistence conditions come directly from CALPHAD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600" kern="0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No separate deduction needed for varying T, X, and P.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1434B2-8D4A-6369-AE0A-1FE3BA64727C}"/>
              </a:ext>
            </a:extLst>
          </p:cNvPr>
          <p:cNvGrpSpPr/>
          <p:nvPr/>
        </p:nvGrpSpPr>
        <p:grpSpPr>
          <a:xfrm>
            <a:off x="451775" y="2653516"/>
            <a:ext cx="6505941" cy="3598914"/>
            <a:chOff x="451775" y="2653516"/>
            <a:chExt cx="6505941" cy="3598914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7897B8A9-9161-B1F7-0746-A89ED81A17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95" y="2743378"/>
              <a:ext cx="3817356" cy="3247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148B83-5381-083F-BAAE-C180BAE4231B}"/>
                </a:ext>
              </a:extLst>
            </p:cNvPr>
            <p:cNvSpPr/>
            <p:nvPr/>
          </p:nvSpPr>
          <p:spPr>
            <a:xfrm>
              <a:off x="3083112" y="5990820"/>
              <a:ext cx="387460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Matvei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Zinkevich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  <a:r>
                <a:rPr 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 et al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., </a:t>
              </a:r>
              <a:r>
                <a:rPr lang="en-US" sz="1100" u="sng" dirty="0">
                  <a:latin typeface="Arial" panose="020B0604020202020204" pitchFamily="34" charset="0"/>
                  <a:cs typeface="Arial" panose="020B0604020202020204" pitchFamily="34" charset="0"/>
                </a:rPr>
                <a:t>Solid State Ionics 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177 (2006)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16330C-0881-E614-4D94-C26D48BE56BE}"/>
                </a:ext>
              </a:extLst>
            </p:cNvPr>
            <p:cNvSpPr/>
            <p:nvPr/>
          </p:nvSpPr>
          <p:spPr>
            <a:xfrm>
              <a:off x="451775" y="2653516"/>
              <a:ext cx="6110390" cy="3591883"/>
            </a:xfrm>
            <a:prstGeom prst="rect">
              <a:avLst/>
            </a:prstGeom>
            <a:noFill/>
            <a:ln w="1270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CD8F20-C1AC-4423-85AC-2925CF182483}"/>
                </a:ext>
              </a:extLst>
            </p:cNvPr>
            <p:cNvSpPr txBox="1"/>
            <p:nvPr/>
          </p:nvSpPr>
          <p:spPr>
            <a:xfrm>
              <a:off x="4475351" y="3856878"/>
              <a:ext cx="211201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accent6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CALPHAD</a:t>
              </a:r>
            </a:p>
            <a:p>
              <a:pPr marL="0" indent="0" algn="ctr">
                <a:buNone/>
              </a:pPr>
              <a:r>
                <a:rPr lang="en-US" sz="1400" dirty="0">
                  <a:solidFill>
                    <a:schemeClr val="accent6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diagram of Ce-O around CeO</a:t>
              </a:r>
              <a:r>
                <a:rPr lang="en-US" sz="1400" baseline="-25000" dirty="0">
                  <a:solidFill>
                    <a:schemeClr val="accent6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C4BA1E-CF86-EC94-8350-6EFCBCFA9AA3}"/>
              </a:ext>
            </a:extLst>
          </p:cNvPr>
          <p:cNvGrpSpPr/>
          <p:nvPr/>
        </p:nvGrpSpPr>
        <p:grpSpPr>
          <a:xfrm>
            <a:off x="7058908" y="896408"/>
            <a:ext cx="4670031" cy="3591883"/>
            <a:chOff x="7058908" y="896408"/>
            <a:chExt cx="4670031" cy="35918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4ADBB3-DD13-0150-9671-DC1BE303E96B}"/>
                </a:ext>
              </a:extLst>
            </p:cNvPr>
            <p:cNvSpPr/>
            <p:nvPr/>
          </p:nvSpPr>
          <p:spPr>
            <a:xfrm>
              <a:off x="7058908" y="896408"/>
              <a:ext cx="4670031" cy="3591883"/>
            </a:xfrm>
            <a:prstGeom prst="rect">
              <a:avLst/>
            </a:prstGeom>
            <a:noFill/>
            <a:ln w="1270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8093B22-FA1A-2EC5-E893-864206E7B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5136" y="1020904"/>
              <a:ext cx="3605159" cy="314908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6340A6-CA27-C416-C062-AF46C3DFEE95}"/>
                </a:ext>
              </a:extLst>
            </p:cNvPr>
            <p:cNvSpPr/>
            <p:nvPr/>
          </p:nvSpPr>
          <p:spPr>
            <a:xfrm>
              <a:off x="7099683" y="4201740"/>
              <a:ext cx="387460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effectLst/>
                  <a:latin typeface="Helvetica" pitchFamily="2" charset="0"/>
                </a:rPr>
                <a:t>Lian Cheng Wang, (2018)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3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573AE-3C73-2DAD-E8C6-6D2549C9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D8A61C27-5D3A-E002-40C8-0D0CA2589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9664E-E689-F8BB-87C2-199675D5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01C75188-2567-4B0D-4669-FCC5F6F3F0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B15DA8-B5C4-86C0-7662-BF7EF1AFAABB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469B7460-D955-A3F3-8AC9-9A0FD1102F32}"/>
              </a:ext>
            </a:extLst>
          </p:cNvPr>
          <p:cNvSpPr txBox="1">
            <a:spLocks/>
          </p:cNvSpPr>
          <p:nvPr/>
        </p:nvSpPr>
        <p:spPr>
          <a:xfrm>
            <a:off x="376194" y="136524"/>
            <a:ext cx="911152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Defect Energy Formalism (DEF)</a:t>
            </a:r>
          </a:p>
        </p:txBody>
      </p:sp>
      <p:sp>
        <p:nvSpPr>
          <p:cNvPr id="3" name="Slide Number Placeholder 1"/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EAD008-9B5B-7B72-1968-2796545DAF61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41F0AE-4E3A-5EBA-7708-27E6B8045AA7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Experiment and Theory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4079399B-15D4-3469-DCC9-EEC1C22794F8}"/>
              </a:ext>
            </a:extLst>
          </p:cNvPr>
          <p:cNvSpPr txBox="1"/>
          <p:nvPr/>
        </p:nvSpPr>
        <p:spPr>
          <a:xfrm>
            <a:off x="394145" y="979761"/>
            <a:ext cx="4294197" cy="2092881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MOTIVATION</a:t>
            </a:r>
            <a:endParaRPr kumimoji="0" sz="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Integrating 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ab initio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defect energetics into CALPHAD Gibbs energies with predictive advantages</a:t>
            </a:r>
          </a:p>
          <a:p>
            <a:pPr marL="628650" lvl="1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collective descriptions of defects in defective phases</a:t>
            </a:r>
          </a:p>
          <a:p>
            <a:pPr marL="628650" lvl="1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Universal parameterization independent of 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μ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and E</a:t>
            </a:r>
            <a:r>
              <a:rPr kumimoji="0" lang="en-US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E73FA46-5090-9458-5E17-C7195887C7C5}"/>
              </a:ext>
            </a:extLst>
          </p:cNvPr>
          <p:cNvGrpSpPr/>
          <p:nvPr/>
        </p:nvGrpSpPr>
        <p:grpSpPr>
          <a:xfrm>
            <a:off x="3184572" y="934545"/>
            <a:ext cx="8613283" cy="3124877"/>
            <a:chOff x="3184572" y="934545"/>
            <a:chExt cx="8613283" cy="3124877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7E60887-FCF9-77F8-9D6A-27F6D6ED12C2}"/>
                </a:ext>
              </a:extLst>
            </p:cNvPr>
            <p:cNvGrpSpPr/>
            <p:nvPr/>
          </p:nvGrpSpPr>
          <p:grpSpPr>
            <a:xfrm>
              <a:off x="4849509" y="934545"/>
              <a:ext cx="6948346" cy="3124877"/>
              <a:chOff x="4849509" y="934545"/>
              <a:chExt cx="6948346" cy="3124877"/>
            </a:xfrm>
          </p:grpSpPr>
          <p:sp>
            <p:nvSpPr>
              <p:cNvPr id="42" name="Content Placeholder 6">
                <a:extLst>
                  <a:ext uri="{FF2B5EF4-FFF2-40B4-BE49-F238E27FC236}">
                    <a16:creationId xmlns:a16="http://schemas.microsoft.com/office/drawing/2014/main" id="{7EE8A642-FE10-4F54-9AEF-3B29FD21F6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9509" y="934545"/>
                <a:ext cx="5351395" cy="45147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3B3C3E"/>
                    </a:solidFill>
                    <a:latin typeface="Arial"/>
                    <a:ea typeface="+mn-ea"/>
                    <a:cs typeface="Arial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300" dirty="0">
                    <a:solidFill>
                      <a:srgbClr val="000066"/>
                    </a:solidFill>
                  </a:rPr>
                  <a:t>I. Physics-grounded Gibbs Energy of Defective Phases in DEF</a:t>
                </a:r>
              </a:p>
              <a:p>
                <a:pPr marL="457200" lvl="1" indent="0">
                  <a:buNone/>
                </a:pPr>
                <a:endParaRPr lang="en-US" sz="300" dirty="0">
                  <a:solidFill>
                    <a:srgbClr val="000099"/>
                  </a:solidFill>
                  <a:sym typeface="Wingdings"/>
                </a:endParaRP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2108C1C8-85D4-4CEF-D225-BA5B42F298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047189" y="1307017"/>
                <a:ext cx="3750666" cy="2752405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B9F7D99C-81AC-4EF3-3496-D9687ED6C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293104" y="1308341"/>
                <a:ext cx="2742210" cy="1757000"/>
              </a:xfrm>
              <a:prstGeom prst="rect">
                <a:avLst/>
              </a:prstGeom>
            </p:spPr>
          </p:pic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6E5F8BB-84A8-20DA-C552-2594A2AD924E}"/>
                </a:ext>
              </a:extLst>
            </p:cNvPr>
            <p:cNvSpPr/>
            <p:nvPr/>
          </p:nvSpPr>
          <p:spPr>
            <a:xfrm>
              <a:off x="3184572" y="3072642"/>
              <a:ext cx="5822856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 dirty="0">
                  <a:cs typeface="Arial" panose="020B0604020202020204" pitchFamily="34" charset="0"/>
                </a:rPr>
                <a:t>A. </a:t>
              </a:r>
              <a:r>
                <a:rPr lang="en-US" sz="1300" dirty="0" err="1">
                  <a:cs typeface="Arial" panose="020B0604020202020204" pitchFamily="34" charset="0"/>
                </a:rPr>
                <a:t>Movaffagh</a:t>
              </a:r>
              <a:r>
                <a:rPr lang="en-US" sz="1300" dirty="0">
                  <a:cs typeface="Arial" panose="020B0604020202020204" pitchFamily="34" charset="0"/>
                </a:rPr>
                <a:t>, </a:t>
              </a:r>
              <a:r>
                <a:rPr lang="en-US" sz="1300" i="1" dirty="0">
                  <a:cs typeface="Arial" panose="020B0604020202020204" pitchFamily="34" charset="0"/>
                </a:rPr>
                <a:t>et al</a:t>
              </a:r>
              <a:r>
                <a:rPr lang="en-US" sz="1300" dirty="0">
                  <a:cs typeface="Arial" panose="020B0604020202020204" pitchFamily="34" charset="0"/>
                </a:rPr>
                <a:t>., </a:t>
              </a:r>
              <a:r>
                <a:rPr lang="en-US" sz="1300" i="1" u="sng" dirty="0">
                  <a:cs typeface="Arial" panose="020B0604020202020204" pitchFamily="34" charset="0"/>
                </a:rPr>
                <a:t>Physical Review Materials </a:t>
              </a:r>
              <a:r>
                <a:rPr lang="en-US" sz="1300" i="1" dirty="0">
                  <a:cs typeface="Arial" panose="020B0604020202020204" pitchFamily="34" charset="0"/>
                </a:rPr>
                <a:t>8 </a:t>
              </a:r>
              <a:r>
                <a:rPr lang="en-US" sz="1300" dirty="0">
                  <a:cs typeface="Arial" panose="020B0604020202020204" pitchFamily="34" charset="0"/>
                </a:rPr>
                <a:t>(2024)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0C0BEFA-1425-E7C4-C9DE-971D61542405}"/>
              </a:ext>
            </a:extLst>
          </p:cNvPr>
          <p:cNvGrpSpPr/>
          <p:nvPr/>
        </p:nvGrpSpPr>
        <p:grpSpPr>
          <a:xfrm>
            <a:off x="252886" y="3242404"/>
            <a:ext cx="10836684" cy="3647951"/>
            <a:chOff x="252886" y="3242404"/>
            <a:chExt cx="10836684" cy="3647951"/>
          </a:xfrm>
        </p:grpSpPr>
        <p:sp>
          <p:nvSpPr>
            <p:cNvPr id="30" name="Content Placeholder 6">
              <a:extLst>
                <a:ext uri="{FF2B5EF4-FFF2-40B4-BE49-F238E27FC236}">
                  <a16:creationId xmlns:a16="http://schemas.microsoft.com/office/drawing/2014/main" id="{57A4A961-E5C9-F601-571E-C6AE519D026B}"/>
                </a:ext>
              </a:extLst>
            </p:cNvPr>
            <p:cNvSpPr txBox="1">
              <a:spLocks/>
            </p:cNvSpPr>
            <p:nvPr/>
          </p:nvSpPr>
          <p:spPr>
            <a:xfrm>
              <a:off x="394145" y="3242404"/>
              <a:ext cx="6419293" cy="608326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000066"/>
                  </a:solidFill>
                </a:rPr>
                <a:t>II. Application of DEF to dilute defect thermodynamics in Mg</a:t>
              </a:r>
              <a:r>
                <a:rPr lang="en-US" sz="1400" baseline="-25000" dirty="0">
                  <a:solidFill>
                    <a:srgbClr val="000066"/>
                  </a:solidFill>
                </a:rPr>
                <a:t>2</a:t>
              </a:r>
              <a:r>
                <a:rPr lang="en-US" sz="1400" dirty="0">
                  <a:solidFill>
                    <a:srgbClr val="000066"/>
                  </a:solidFill>
                </a:rPr>
                <a:t>Si</a:t>
              </a:r>
            </a:p>
            <a:p>
              <a:pPr marL="457200" lvl="1" indent="0">
                <a:buNone/>
              </a:pPr>
              <a:endParaRPr lang="en-US" sz="300" dirty="0">
                <a:solidFill>
                  <a:srgbClr val="000099"/>
                </a:solidFill>
                <a:sym typeface="Wingdings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F006BB7E-5A18-B1C3-2937-8E70B0E8A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59733" y="3659033"/>
              <a:ext cx="1281545" cy="1627945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465B129-7781-1961-C18F-F47F61ECD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2886" y="3651492"/>
              <a:ext cx="1906847" cy="3072542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678B269-C742-EE31-FD49-B02D675FF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61973" y="3659033"/>
              <a:ext cx="5822855" cy="305337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EAFB56-D23D-9EF7-9D1C-BF54D4A19D50}"/>
                </a:ext>
              </a:extLst>
            </p:cNvPr>
            <p:cNvSpPr/>
            <p:nvPr/>
          </p:nvSpPr>
          <p:spPr>
            <a:xfrm>
              <a:off x="5266714" y="6597967"/>
              <a:ext cx="5822856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 dirty="0">
                  <a:cs typeface="Arial" panose="020B0604020202020204" pitchFamily="34" charset="0"/>
                </a:rPr>
                <a:t>A. </a:t>
              </a:r>
              <a:r>
                <a:rPr lang="en-US" sz="1300" dirty="0" err="1">
                  <a:cs typeface="Arial" panose="020B0604020202020204" pitchFamily="34" charset="0"/>
                </a:rPr>
                <a:t>Movaffagh</a:t>
              </a:r>
              <a:r>
                <a:rPr lang="en-US" sz="1300" dirty="0">
                  <a:cs typeface="Arial" panose="020B0604020202020204" pitchFamily="34" charset="0"/>
                </a:rPr>
                <a:t>, </a:t>
              </a:r>
              <a:r>
                <a:rPr lang="en-US" sz="1300" i="1" dirty="0">
                  <a:cs typeface="Arial" panose="020B0604020202020204" pitchFamily="34" charset="0"/>
                </a:rPr>
                <a:t>et al</a:t>
              </a:r>
              <a:r>
                <a:rPr lang="en-US" sz="1300" dirty="0">
                  <a:cs typeface="Arial" panose="020B0604020202020204" pitchFamily="34" charset="0"/>
                </a:rPr>
                <a:t>., submitted to </a:t>
              </a:r>
              <a:r>
                <a:rPr lang="en-US" sz="1300" i="1" u="sng" dirty="0">
                  <a:cs typeface="Arial" panose="020B0604020202020204" pitchFamily="34" charset="0"/>
                </a:rPr>
                <a:t>Acta </a:t>
              </a:r>
              <a:r>
                <a:rPr lang="en-US" sz="1300" i="1" u="sng" dirty="0" err="1">
                  <a:cs typeface="Arial" panose="020B0604020202020204" pitchFamily="34" charset="0"/>
                </a:rPr>
                <a:t>Materialia</a:t>
              </a:r>
              <a:r>
                <a:rPr lang="en-US" sz="1300" i="1" u="sng" dirty="0">
                  <a:cs typeface="Arial" panose="020B0604020202020204" pitchFamily="34" charset="0"/>
                </a:rPr>
                <a:t> </a:t>
              </a:r>
              <a:r>
                <a:rPr lang="en-US" sz="1300" dirty="0">
                  <a:cs typeface="Arial" panose="020B0604020202020204" pitchFamily="34" charset="0"/>
                </a:rPr>
                <a:t>(2026), </a:t>
              </a: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1AF38EFC-1D2A-EDDB-F0F8-472B6AB249E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4159" y="3713826"/>
            <a:ext cx="7519637" cy="288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3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261E4E3B-64B9-2F48-B4C1-79FC5E9A98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795" y="6198087"/>
            <a:ext cx="1647405" cy="522065"/>
          </a:xfrm>
          <a:prstGeom prst="rect">
            <a:avLst/>
          </a:prstGeom>
        </p:spPr>
      </p:pic>
      <p:sp>
        <p:nvSpPr>
          <p:cNvPr id="57" name="TextBox 5">
            <a:extLst>
              <a:ext uri="{FF2B5EF4-FFF2-40B4-BE49-F238E27FC236}">
                <a16:creationId xmlns:a16="http://schemas.microsoft.com/office/drawing/2014/main" id="{762FFCD1-C6C0-4DB3-A9E7-B418745A2BA2}"/>
              </a:ext>
            </a:extLst>
          </p:cNvPr>
          <p:cNvSpPr txBox="1"/>
          <p:nvPr/>
        </p:nvSpPr>
        <p:spPr>
          <a:xfrm>
            <a:off x="209164" y="937537"/>
            <a:ext cx="3076431" cy="1138773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MOTIVATION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Investigate irradiation-induced defects in </a:t>
            </a:r>
            <a:r>
              <a:rPr lang="en-US" sz="1400" dirty="0" err="1"/>
              <a:t>CeO</a:t>
            </a:r>
            <a:r>
              <a:rPr lang="en-US" sz="1400" dirty="0"/>
              <a:t>₂ and the resulting microstructural and phase changes</a:t>
            </a:r>
          </a:p>
        </p:txBody>
      </p:sp>
      <p:sp>
        <p:nvSpPr>
          <p:cNvPr id="58" name="TextBox 5">
            <a:extLst>
              <a:ext uri="{FF2B5EF4-FFF2-40B4-BE49-F238E27FC236}">
                <a16:creationId xmlns:a16="http://schemas.microsoft.com/office/drawing/2014/main" id="{37EFDD52-D2DE-440B-B4B6-A64F94DB97F1}"/>
              </a:ext>
            </a:extLst>
          </p:cNvPr>
          <p:cNvSpPr txBox="1"/>
          <p:nvPr/>
        </p:nvSpPr>
        <p:spPr>
          <a:xfrm>
            <a:off x="209164" y="2223482"/>
            <a:ext cx="3076431" cy="2585323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APPROACH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A combined theoretical, modeling, and experimental approach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Intense </a:t>
            </a:r>
            <a:r>
              <a:rPr lang="en-US" sz="1400" b="1" dirty="0"/>
              <a:t>ion irradiation </a:t>
            </a:r>
            <a:r>
              <a:rPr lang="en-US" sz="1400" dirty="0"/>
              <a:t>at a large accelerator facility (Lang, UTK)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1" dirty="0"/>
              <a:t>Ab initio</a:t>
            </a:r>
            <a:r>
              <a:rPr lang="en-US" sz="1400" dirty="0"/>
              <a:t>/MLIP </a:t>
            </a:r>
            <a:r>
              <a:rPr lang="en-US" sz="1400" b="1" dirty="0"/>
              <a:t>molecular dynamics </a:t>
            </a:r>
            <a:r>
              <a:rPr lang="en-US" sz="1400" dirty="0"/>
              <a:t>simulation (</a:t>
            </a:r>
            <a:r>
              <a:rPr lang="en-US" sz="1400" dirty="0" err="1"/>
              <a:t>Ertekin</a:t>
            </a:r>
            <a:r>
              <a:rPr lang="en-US" sz="1400" dirty="0"/>
              <a:t>, UIUC)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dirty="0"/>
              <a:t>DEF analysis </a:t>
            </a:r>
            <a:r>
              <a:rPr lang="en-US" sz="1400" dirty="0"/>
              <a:t>of defective phases (Kadkhodaei, UIC)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0E579B-8B20-56C3-190F-C3325D749253}"/>
              </a:ext>
            </a:extLst>
          </p:cNvPr>
          <p:cNvGrpSpPr/>
          <p:nvPr/>
        </p:nvGrpSpPr>
        <p:grpSpPr>
          <a:xfrm>
            <a:off x="2147969" y="4955977"/>
            <a:ext cx="1282722" cy="961225"/>
            <a:chOff x="8876070" y="5866901"/>
            <a:chExt cx="1282722" cy="961225"/>
          </a:xfrm>
        </p:grpSpPr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D1CC6447-20F2-46AC-9141-4339164DAE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5301" t="74294" r="2842" b="5246"/>
            <a:stretch/>
          </p:blipFill>
          <p:spPr>
            <a:xfrm>
              <a:off x="9133681" y="5866901"/>
              <a:ext cx="633675" cy="704088"/>
            </a:xfrm>
            <a:prstGeom prst="rect">
              <a:avLst/>
            </a:prstGeom>
            <a:ln>
              <a:solidFill>
                <a:schemeClr val="tx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D131D23-8D5F-437B-8352-A42FE67E2F08}"/>
                </a:ext>
              </a:extLst>
            </p:cNvPr>
            <p:cNvSpPr/>
            <p:nvPr/>
          </p:nvSpPr>
          <p:spPr>
            <a:xfrm>
              <a:off x="8876070" y="6504961"/>
              <a:ext cx="1282722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 sz="1200" b="1" i="1">
                  <a:latin typeface="+mn-lt"/>
                  <a:ea typeface="+mn-ea"/>
                  <a:cs typeface="+mn-cs"/>
                  <a:sym typeface="Calibri"/>
                </a:defRPr>
              </a:pPr>
              <a:endParaRPr lang="en-US" sz="300" dirty="0"/>
            </a:p>
            <a:p>
              <a:pPr algn="ctr">
                <a:defRPr sz="1200" b="1" i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lang="en-US" sz="1200" b="1" i="1" dirty="0">
                  <a:sym typeface="Calibri"/>
                </a:rPr>
                <a:t>Sara Kadkhodaei</a:t>
              </a:r>
              <a:endParaRPr lang="en-US" dirty="0"/>
            </a:p>
          </p:txBody>
        </p:sp>
      </p:grpSp>
      <p:sp>
        <p:nvSpPr>
          <p:cNvPr id="3" name="AutoShape 4" descr="University of Illinois Urbana-Champaign - Pocket Facts 2025">
            <a:extLst>
              <a:ext uri="{FF2B5EF4-FFF2-40B4-BE49-F238E27FC236}">
                <a16:creationId xmlns:a16="http://schemas.microsoft.com/office/drawing/2014/main" id="{E20D5812-49C8-4188-B50D-41599ABFAF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648F75-A63B-0584-4712-AFF7ABBA239C}"/>
              </a:ext>
            </a:extLst>
          </p:cNvPr>
          <p:cNvGrpSpPr/>
          <p:nvPr/>
        </p:nvGrpSpPr>
        <p:grpSpPr>
          <a:xfrm>
            <a:off x="1267424" y="4971174"/>
            <a:ext cx="942886" cy="999636"/>
            <a:chOff x="7995525" y="5882098"/>
            <a:chExt cx="942886" cy="999636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BD876AD-6524-4EC1-8CA1-3CA6A65FF7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37119" y="5882098"/>
              <a:ext cx="633676" cy="704088"/>
            </a:xfrm>
            <a:prstGeom prst="rect">
              <a:avLst/>
            </a:prstGeom>
            <a:ln>
              <a:solidFill>
                <a:schemeClr val="tx2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8AA6E16-1D7E-43FC-8261-6D49A5D40201}"/>
                </a:ext>
              </a:extLst>
            </p:cNvPr>
            <p:cNvSpPr/>
            <p:nvPr/>
          </p:nvSpPr>
          <p:spPr>
            <a:xfrm>
              <a:off x="7995525" y="6558569"/>
              <a:ext cx="942886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 sz="1200" b="1" i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lang="en-US" dirty="0"/>
                <a:t>Elif Ertekin</a:t>
              </a:r>
            </a:p>
            <a:p>
              <a:pPr algn="ctr">
                <a:defRPr sz="1200" b="1" i="1">
                  <a:latin typeface="+mn-lt"/>
                  <a:ea typeface="+mn-ea"/>
                  <a:cs typeface="+mn-cs"/>
                  <a:sym typeface="Calibri"/>
                </a:defRPr>
              </a:pPr>
              <a:endParaRPr lang="en-US" sz="3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1C9CFE-A206-B422-5AE2-C24C1F42923E}"/>
              </a:ext>
            </a:extLst>
          </p:cNvPr>
          <p:cNvGrpSpPr/>
          <p:nvPr/>
        </p:nvGrpSpPr>
        <p:grpSpPr>
          <a:xfrm>
            <a:off x="291074" y="4967232"/>
            <a:ext cx="889987" cy="1003578"/>
            <a:chOff x="7019175" y="5878156"/>
            <a:chExt cx="889987" cy="100357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C7895D-249F-A1DC-8902-0709F54C9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2379" r="1" b="16570"/>
            <a:stretch/>
          </p:blipFill>
          <p:spPr>
            <a:xfrm>
              <a:off x="7163307" y="5878156"/>
              <a:ext cx="633676" cy="71548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633C14-E4FE-F293-5AD5-90207D7C9A14}"/>
                </a:ext>
              </a:extLst>
            </p:cNvPr>
            <p:cNvSpPr/>
            <p:nvPr/>
          </p:nvSpPr>
          <p:spPr>
            <a:xfrm>
              <a:off x="7019175" y="6558569"/>
              <a:ext cx="889987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 sz="1200" b="1" i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lang="en-US" dirty="0" err="1"/>
                <a:t>Maik</a:t>
              </a:r>
              <a:r>
                <a:rPr lang="en-US" dirty="0"/>
                <a:t> Lang</a:t>
              </a:r>
            </a:p>
            <a:p>
              <a:pPr algn="ctr">
                <a:defRPr sz="1200" b="1" i="1">
                  <a:latin typeface="+mn-lt"/>
                  <a:ea typeface="+mn-ea"/>
                  <a:cs typeface="+mn-cs"/>
                  <a:sym typeface="Calibri"/>
                </a:defRPr>
              </a:pPr>
              <a:endParaRPr lang="en-US" sz="300" dirty="0"/>
            </a:p>
          </p:txBody>
        </p:sp>
      </p:grpSp>
      <p:sp>
        <p:nvSpPr>
          <p:cNvPr id="23" name="Title 2">
            <a:extLst>
              <a:ext uri="{FF2B5EF4-FFF2-40B4-BE49-F238E27FC236}">
                <a16:creationId xmlns:a16="http://schemas.microsoft.com/office/drawing/2014/main" id="{45C47BB4-4688-F11A-FDB9-A78A5BC648B4}"/>
              </a:ext>
            </a:extLst>
          </p:cNvPr>
          <p:cNvSpPr txBox="1">
            <a:spLocks/>
          </p:cNvSpPr>
          <p:nvPr/>
        </p:nvSpPr>
        <p:spPr>
          <a:xfrm>
            <a:off x="376194" y="136524"/>
            <a:ext cx="911152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661303"/>
                </a:solidFill>
                <a:latin typeface="Arial"/>
                <a:cs typeface="Arial"/>
              </a:rPr>
              <a:t>DEF Analysis of SHI Tracks and Phase Tolerance in Ceria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2DFEE-AEE2-BA4D-9AFF-64B71D8170BF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DB7A0-8E20-3A16-067B-CA21EF71D008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Experiment and Theory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E918E9-9851-0540-C913-E8A4E0491F12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B413E4-6F35-71BA-B267-DFEFBCA9DC55}"/>
              </a:ext>
            </a:extLst>
          </p:cNvPr>
          <p:cNvGrpSpPr/>
          <p:nvPr/>
        </p:nvGrpSpPr>
        <p:grpSpPr>
          <a:xfrm>
            <a:off x="2641490" y="844606"/>
            <a:ext cx="9953278" cy="3964199"/>
            <a:chOff x="2641490" y="844606"/>
            <a:chExt cx="9953278" cy="3964199"/>
          </a:xfrm>
        </p:grpSpPr>
        <p:pic>
          <p:nvPicPr>
            <p:cNvPr id="5" name="Picture 4" descr="A blue and green cubes&#10;&#10;Description automatically generated with medium confidence">
              <a:extLst>
                <a:ext uri="{FF2B5EF4-FFF2-40B4-BE49-F238E27FC236}">
                  <a16:creationId xmlns:a16="http://schemas.microsoft.com/office/drawing/2014/main" id="{AB07CAE8-8B25-68C4-0CAD-44CA76447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7304" y="1204185"/>
              <a:ext cx="3076431" cy="232183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0537F4-E185-C5D2-1CDE-0F9ABB4C0599}"/>
                </a:ext>
              </a:extLst>
            </p:cNvPr>
            <p:cNvSpPr/>
            <p:nvPr/>
          </p:nvSpPr>
          <p:spPr>
            <a:xfrm>
              <a:off x="9345910" y="3557038"/>
              <a:ext cx="206532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i="1" dirty="0" err="1">
                  <a:latin typeface="+mj-lt"/>
                  <a:cs typeface="Arial" panose="020B0604020202020204" pitchFamily="34" charset="0"/>
                </a:rPr>
                <a:t>Ertekin’s</a:t>
              </a:r>
              <a:r>
                <a:rPr lang="en-US" sz="1400" i="1" dirty="0">
                  <a:latin typeface="+mj-lt"/>
                  <a:cs typeface="Arial" panose="020B0604020202020204" pitchFamily="34" charset="0"/>
                </a:rPr>
                <a:t> group (ongoing)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046FDE83-678F-EFD2-6330-6F57567EAF39}"/>
                </a:ext>
              </a:extLst>
            </p:cNvPr>
            <p:cNvGrpSpPr/>
            <p:nvPr/>
          </p:nvGrpSpPr>
          <p:grpSpPr>
            <a:xfrm>
              <a:off x="3708339" y="1277261"/>
              <a:ext cx="3331247" cy="2606703"/>
              <a:chOff x="7908339" y="1208069"/>
              <a:chExt cx="3808244" cy="2979954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349FBA3-2033-45D8-72BF-CFBE5D1EDA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908339" y="1208069"/>
                <a:ext cx="3808244" cy="2914207"/>
              </a:xfrm>
              <a:prstGeom prst="rect">
                <a:avLst/>
              </a:prstGeom>
            </p:spPr>
          </p:pic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016A19F-A8FF-83FF-60D3-4EC255093ED4}"/>
                  </a:ext>
                </a:extLst>
              </p:cNvPr>
              <p:cNvSpPr/>
              <p:nvPr/>
            </p:nvSpPr>
            <p:spPr>
              <a:xfrm>
                <a:off x="8752403" y="2630455"/>
                <a:ext cx="752603" cy="1262966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0B251473-4D7D-A7DB-69A4-067DA2AC2F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5128" y="3893421"/>
                <a:ext cx="0" cy="29460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41FEAEA-6146-3B39-DCBE-573B1DB6C9EC}"/>
                </a:ext>
              </a:extLst>
            </p:cNvPr>
            <p:cNvSpPr txBox="1"/>
            <p:nvPr/>
          </p:nvSpPr>
          <p:spPr>
            <a:xfrm>
              <a:off x="3515928" y="3914865"/>
              <a:ext cx="54649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66"/>
                  </a:solidFill>
                  <a:latin typeface="Arial" panose="020B0604020202020204" pitchFamily="34" charset="0"/>
                  <a:ea typeface="Cambria Math"/>
                  <a:cs typeface="Arial" panose="020B0604020202020204" pitchFamily="34" charset="0"/>
                </a:rPr>
                <a:t>⇨ </a:t>
              </a:r>
              <a:r>
                <a:rPr lang="en-US" sz="1400" dirty="0">
                  <a:solidFill>
                    <a:srgbClr val="00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peroxide-type O2 clusters formed as counter part to reduction process (Ce</a:t>
              </a:r>
              <a:r>
                <a:rPr lang="en-US" sz="1400" baseline="30000" dirty="0">
                  <a:solidFill>
                    <a:srgbClr val="00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4+</a:t>
              </a:r>
              <a:r>
                <a:rPr lang="en-US" sz="1400" dirty="0">
                  <a:solidFill>
                    <a:srgbClr val="00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Ce</a:t>
              </a:r>
              <a:r>
                <a:rPr lang="en-US" sz="1400" baseline="30000" dirty="0">
                  <a:solidFill>
                    <a:srgbClr val="00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3+</a:t>
              </a:r>
              <a:r>
                <a:rPr lang="en-US" sz="1400" dirty="0">
                  <a:solidFill>
                    <a:srgbClr val="00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)</a:t>
              </a:r>
            </a:p>
          </p:txBody>
        </p:sp>
        <p:sp>
          <p:nvSpPr>
            <p:cNvPr id="123" name="Content Placeholder 6">
              <a:extLst>
                <a:ext uri="{FF2B5EF4-FFF2-40B4-BE49-F238E27FC236}">
                  <a16:creationId xmlns:a16="http://schemas.microsoft.com/office/drawing/2014/main" id="{A86E038D-CE26-9970-EBBA-74DA6969E769}"/>
                </a:ext>
              </a:extLst>
            </p:cNvPr>
            <p:cNvSpPr txBox="1">
              <a:spLocks/>
            </p:cNvSpPr>
            <p:nvPr/>
          </p:nvSpPr>
          <p:spPr>
            <a:xfrm>
              <a:off x="7129825" y="865390"/>
              <a:ext cx="5464943" cy="451475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700" dirty="0">
                  <a:solidFill>
                    <a:srgbClr val="000066"/>
                  </a:solidFill>
                </a:rPr>
                <a:t>II. Two-temperature MD simulation of ion irradiation in ceria</a:t>
              </a:r>
              <a:endParaRPr lang="en-US" sz="300" dirty="0">
                <a:solidFill>
                  <a:srgbClr val="000099"/>
                </a:solidFill>
                <a:sym typeface="Wingdings"/>
              </a:endParaRPr>
            </a:p>
          </p:txBody>
        </p:sp>
        <p:sp>
          <p:nvSpPr>
            <p:cNvPr id="124" name="Content Placeholder 6">
              <a:extLst>
                <a:ext uri="{FF2B5EF4-FFF2-40B4-BE49-F238E27FC236}">
                  <a16:creationId xmlns:a16="http://schemas.microsoft.com/office/drawing/2014/main" id="{A9E4B89F-F01A-370F-3DE2-8C7EB1A196A9}"/>
                </a:ext>
              </a:extLst>
            </p:cNvPr>
            <p:cNvSpPr txBox="1">
              <a:spLocks/>
            </p:cNvSpPr>
            <p:nvPr/>
          </p:nvSpPr>
          <p:spPr>
            <a:xfrm>
              <a:off x="3515928" y="844606"/>
              <a:ext cx="5464943" cy="45147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3B3C3E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000066"/>
                  </a:solidFill>
                </a:rPr>
                <a:t>I. Neutron total scattering and PDF  </a:t>
              </a:r>
              <a:endParaRPr lang="en-US" sz="1400" dirty="0">
                <a:solidFill>
                  <a:srgbClr val="000099"/>
                </a:solidFill>
                <a:sym typeface="Wingdings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F74E85E-D0C8-F677-7831-509DE90ED38C}"/>
                </a:ext>
              </a:extLst>
            </p:cNvPr>
            <p:cNvSpPr/>
            <p:nvPr/>
          </p:nvSpPr>
          <p:spPr>
            <a:xfrm>
              <a:off x="2641490" y="4501028"/>
              <a:ext cx="546494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R.I. Palomares, </a:t>
              </a: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 al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., </a:t>
              </a:r>
              <a:r>
                <a:rPr lang="en-US" sz="1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J. Mater. Chem. A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(2017)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8BA3E7E-F6D5-BFA2-388B-306DCD438CFB}"/>
                </a:ext>
              </a:extLst>
            </p:cNvPr>
            <p:cNvSpPr/>
            <p:nvPr/>
          </p:nvSpPr>
          <p:spPr>
            <a:xfrm>
              <a:off x="3375834" y="896408"/>
              <a:ext cx="8607002" cy="3912397"/>
            </a:xfrm>
            <a:prstGeom prst="rect">
              <a:avLst/>
            </a:prstGeom>
            <a:noFill/>
            <a:ln w="12700"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EAAC5B47-1DCA-1DA5-88CC-5A37972FCFF4}"/>
              </a:ext>
            </a:extLst>
          </p:cNvPr>
          <p:cNvGrpSpPr/>
          <p:nvPr/>
        </p:nvGrpSpPr>
        <p:grpSpPr>
          <a:xfrm>
            <a:off x="3625961" y="4031197"/>
            <a:ext cx="7413376" cy="2655023"/>
            <a:chOff x="3625961" y="4031197"/>
            <a:chExt cx="7413376" cy="2655023"/>
          </a:xfrm>
        </p:grpSpPr>
        <p:sp>
          <p:nvSpPr>
            <p:cNvPr id="127" name="Down Arrow 126">
              <a:extLst>
                <a:ext uri="{FF2B5EF4-FFF2-40B4-BE49-F238E27FC236}">
                  <a16:creationId xmlns:a16="http://schemas.microsoft.com/office/drawing/2014/main" id="{EE93ECF9-8C2C-ABC8-5DE9-4F1A2ED5D208}"/>
                </a:ext>
              </a:extLst>
            </p:cNvPr>
            <p:cNvSpPr/>
            <p:nvPr/>
          </p:nvSpPr>
          <p:spPr>
            <a:xfrm>
              <a:off x="9214705" y="4031197"/>
              <a:ext cx="392710" cy="772280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1025">
              <a:extLst>
                <a:ext uri="{FF2B5EF4-FFF2-40B4-BE49-F238E27FC236}">
                  <a16:creationId xmlns:a16="http://schemas.microsoft.com/office/drawing/2014/main" id="{D328A0E4-959F-7E5B-BA28-7F661AB2B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33503" y="4996210"/>
              <a:ext cx="2505834" cy="1690010"/>
            </a:xfrm>
            <a:prstGeom prst="rect">
              <a:avLst/>
            </a:prstGeom>
          </p:spPr>
        </p:pic>
        <p:sp>
          <p:nvSpPr>
            <p:cNvPr id="1027" name="TextBox 5">
              <a:extLst>
                <a:ext uri="{FF2B5EF4-FFF2-40B4-BE49-F238E27FC236}">
                  <a16:creationId xmlns:a16="http://schemas.microsoft.com/office/drawing/2014/main" id="{7E88C60C-5969-4F97-888D-448CBB518FF8}"/>
                </a:ext>
              </a:extLst>
            </p:cNvPr>
            <p:cNvSpPr txBox="1"/>
            <p:nvPr/>
          </p:nvSpPr>
          <p:spPr>
            <a:xfrm>
              <a:off x="3625961" y="5040996"/>
              <a:ext cx="4792782" cy="1600438"/>
            </a:xfrm>
            <a:prstGeom prst="rect">
              <a:avLst/>
            </a:prstGeom>
            <a:ln w="12700">
              <a:solidFill>
                <a:sysClr val="windowText" lastClr="000000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 i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kumimoji="0" lang="en-US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DEF for Modeling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/>
                <a:buChar char="•"/>
                <a:tabLst/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600" kern="0" dirty="0">
                  <a:solidFill>
                    <a:prstClr val="black"/>
                  </a:solidFill>
                  <a:latin typeface="Arial"/>
                  <a:ea typeface="Arial"/>
                  <a:cs typeface="Arial"/>
                  <a:sym typeface="Arial"/>
                </a:rPr>
                <a:t>Incorporating defect complexes (e.g., peroxide-type dimer, oxygen Frenkel pairs)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/>
                <a:buChar char="•"/>
                <a:tabLst/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600" kern="0" dirty="0">
                  <a:solidFill>
                    <a:prstClr val="black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kumimoji="0" lang="en-US" sz="160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rdering</a:t>
              </a:r>
              <a:r>
                <a:rPr kumimoji="0" lang="en-US" sz="16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 of oxygen vacancies can produce locally ordered fluorite-derivative superstructures that break from long-range fluorite symmetry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06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EEFBC-AFFB-7035-E284-75F34623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57066A-3A2A-B65F-52D8-A57CDC073C85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35FD9404-A31E-D775-979A-487DF384D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1030AEA0-5896-9965-53E9-E379C1180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556AAE90-1DBA-EFFE-F029-A2EEE313539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B587E9B5-613F-38D1-E607-E9507D272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395490"/>
            <a:ext cx="10553700" cy="2377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Impact of Defect Structure on                                                                             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Material Behavior at Extremes</a:t>
            </a: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Lowell Miyagi, Ph.D.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Professor,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University of Utah, </a:t>
            </a:r>
            <a:r>
              <a:rPr lang="en-US" sz="2500" i="1" u="sng" dirty="0">
                <a:solidFill>
                  <a:srgbClr val="0066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lowell.miyagi@utah.edu</a:t>
            </a:r>
            <a:r>
              <a:rPr lang="en-US" sz="2500" i="1" u="sng" dirty="0">
                <a:solidFill>
                  <a:srgbClr val="0066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 </a:t>
            </a:r>
            <a:endParaRPr lang="en-US" sz="2500" i="1" dirty="0">
              <a:solidFill>
                <a:srgbClr val="0066FF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  <p:pic>
        <p:nvPicPr>
          <p:cNvPr id="2" name="Picture 3" descr="C:\Users\Lowell\Documents\Research\AGU\AGU_2013\Hi T poster\UtahLogo-300x78.png">
            <a:extLst>
              <a:ext uri="{FF2B5EF4-FFF2-40B4-BE49-F238E27FC236}">
                <a16:creationId xmlns:a16="http://schemas.microsoft.com/office/drawing/2014/main" id="{17A0937A-DBA0-D230-3E2C-D72B6E548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7231" y="3516496"/>
            <a:ext cx="1903387" cy="49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976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5CE2-92CC-1CC8-7ACD-00230869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850CB9-3005-EA78-D4FB-01E744566450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NSA1">
            <a:extLst>
              <a:ext uri="{FF2B5EF4-FFF2-40B4-BE49-F238E27FC236}">
                <a16:creationId xmlns:a16="http://schemas.microsoft.com/office/drawing/2014/main" id="{FF62208C-3519-ACC5-2A56-039985108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5437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7E671E-EE6A-1950-5B95-AACF393E4964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EE559DFA-85A0-F6FB-AD97-BE039B1B825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714" y="6245400"/>
            <a:ext cx="1541196" cy="4747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5FA8F09-96F1-C4A9-9DEA-ABE366AF84EF}"/>
              </a:ext>
            </a:extLst>
          </p:cNvPr>
          <p:cNvSpPr txBox="1">
            <a:spLocks/>
          </p:cNvSpPr>
          <p:nvPr/>
        </p:nvSpPr>
        <p:spPr>
          <a:xfrm>
            <a:off x="-1" y="14824"/>
            <a:ext cx="12188825" cy="64825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Impact of Defect Structure on Materials Behavior Under Extremes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55BBF-8AEE-FE1D-95FB-725E50B7348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6458" y="5793777"/>
            <a:ext cx="3224519" cy="1490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5F004-A282-D4D1-A43B-32692ED1003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6443" y="6082177"/>
            <a:ext cx="2040015" cy="8427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16503D-3C90-CBCB-4CE8-6382E9D31C2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3439" y="6203048"/>
            <a:ext cx="2769577" cy="55945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E15C4FF-13B7-6D58-D4A4-0A0C7BB1DD55}"/>
              </a:ext>
            </a:extLst>
          </p:cNvPr>
          <p:cNvSpPr/>
          <p:nvPr/>
        </p:nvSpPr>
        <p:spPr>
          <a:xfrm>
            <a:off x="9441719" y="4141799"/>
            <a:ext cx="94288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Elif Ertekin</a:t>
            </a:r>
          </a:p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endParaRPr lang="en-US" sz="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FED555-A6C4-F83C-840B-14A38518F3B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379" r="1" b="16570"/>
          <a:stretch/>
        </p:blipFill>
        <p:spPr>
          <a:xfrm>
            <a:off x="10607531" y="873803"/>
            <a:ext cx="1241026" cy="140124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8D67C5D-7CCD-7829-3CBE-F7468C7E8681}"/>
              </a:ext>
            </a:extLst>
          </p:cNvPr>
          <p:cNvSpPr/>
          <p:nvPr/>
        </p:nvSpPr>
        <p:spPr>
          <a:xfrm>
            <a:off x="10783050" y="2281136"/>
            <a:ext cx="88998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 err="1"/>
              <a:t>Maik</a:t>
            </a:r>
            <a:r>
              <a:rPr lang="en-US" dirty="0"/>
              <a:t> Lang</a:t>
            </a:r>
          </a:p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endParaRPr lang="en-US" sz="3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6C1BFB-D50C-0290-2E8F-F57760057B14}"/>
              </a:ext>
            </a:extLst>
          </p:cNvPr>
          <p:cNvSpPr/>
          <p:nvPr/>
        </p:nvSpPr>
        <p:spPr>
          <a:xfrm>
            <a:off x="10746491" y="4135650"/>
            <a:ext cx="114807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Steve Jacobsen</a:t>
            </a:r>
          </a:p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endParaRPr lang="en-US" sz="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FA67081-433B-D6D0-730D-E4F1A3B40F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2551" y="2694844"/>
            <a:ext cx="1243584" cy="14257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11028F7-F853-4A12-5827-B8410A8C99E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650977" y="2699702"/>
            <a:ext cx="1243584" cy="1401249"/>
          </a:xfrm>
          <a:prstGeom prst="rect">
            <a:avLst/>
          </a:prstGeom>
        </p:spPr>
      </p:pic>
      <p:pic>
        <p:nvPicPr>
          <p:cNvPr id="26" name="Picture 3" descr="C:\Users\Lowell\Documents\Research\AGU\AGU_2013\Hi T poster\UtahLogo-300x78.png">
            <a:extLst>
              <a:ext uri="{FF2B5EF4-FFF2-40B4-BE49-F238E27FC236}">
                <a16:creationId xmlns:a16="http://schemas.microsoft.com/office/drawing/2014/main" id="{8C4A7CE5-4B17-A784-8F0C-A58F67DF9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49529" y="5418346"/>
            <a:ext cx="1903387" cy="49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323294-E2CC-C4BA-C14E-BDF400ED1788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8833" y="4687414"/>
            <a:ext cx="2022394" cy="8089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E6850A9-B11A-FD51-966B-169A63CB7988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80692" y="2928331"/>
            <a:ext cx="4283880" cy="299507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4334A45-45BF-5CCB-8BD2-123219FBFCF2}"/>
              </a:ext>
            </a:extLst>
          </p:cNvPr>
          <p:cNvSpPr txBox="1"/>
          <p:nvPr/>
        </p:nvSpPr>
        <p:spPr>
          <a:xfrm>
            <a:off x="6926735" y="4234277"/>
            <a:ext cx="2352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J. Hirtz (UTK), R.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Hrubiak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(HP-CAT), and A. Berlin (UU)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Sector 16-ID-B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C4C2A0-54CF-BBE6-F487-3EBFE10755A2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3785" y="3551484"/>
            <a:ext cx="2294475" cy="23382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14037F9-8721-AB15-B46B-8A7590857FB6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42551" y="873803"/>
            <a:ext cx="1243584" cy="140124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C9CF483-A56B-B190-8B1B-2C9C47E07F33}"/>
              </a:ext>
            </a:extLst>
          </p:cNvPr>
          <p:cNvSpPr/>
          <p:nvPr/>
        </p:nvSpPr>
        <p:spPr>
          <a:xfrm>
            <a:off x="9362313" y="2268950"/>
            <a:ext cx="10983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Lowell Miyagi</a:t>
            </a:r>
          </a:p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endParaRPr lang="en-US" sz="300" dirty="0"/>
          </a:p>
        </p:txBody>
      </p:sp>
      <p:pic>
        <p:nvPicPr>
          <p:cNvPr id="34" name="Picture 33" descr="Chantelle Kiessner (UH Hilo astronomy and physics major; HSGC Trainee, Fall  2016) and Dr. Kathy Cooksey (UH Hilo assistant profe">
            <a:extLst>
              <a:ext uri="{FF2B5EF4-FFF2-40B4-BE49-F238E27FC236}">
                <a16:creationId xmlns:a16="http://schemas.microsoft.com/office/drawing/2014/main" id="{06C6A22F-50E0-C17E-AAE8-0ACB682DD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406091" y="852836"/>
            <a:ext cx="1376639" cy="143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5B5AAFF-2FF6-C9DA-7B5F-D4BD63EB3113}"/>
              </a:ext>
            </a:extLst>
          </p:cNvPr>
          <p:cNvSpPr txBox="1"/>
          <p:nvPr/>
        </p:nvSpPr>
        <p:spPr>
          <a:xfrm>
            <a:off x="5385199" y="2306658"/>
            <a:ext cx="1376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latin typeface="+mj-lt"/>
                <a:cs typeface="Arial" pitchFamily="34" charset="0"/>
              </a:rPr>
              <a:t>Chantelle </a:t>
            </a:r>
            <a:r>
              <a:rPr lang="en-US" sz="1200" b="1" i="1" dirty="0" err="1">
                <a:latin typeface="+mj-lt"/>
                <a:cs typeface="Arial" pitchFamily="34" charset="0"/>
              </a:rPr>
              <a:t>Kiessner</a:t>
            </a:r>
            <a:endParaRPr lang="en-US" sz="1200" i="1" dirty="0">
              <a:latin typeface="+mj-lt"/>
            </a:endParaRPr>
          </a:p>
        </p:txBody>
      </p:sp>
      <p:pic>
        <p:nvPicPr>
          <p:cNvPr id="37" name="image3.jpg">
            <a:extLst>
              <a:ext uri="{FF2B5EF4-FFF2-40B4-BE49-F238E27FC236}">
                <a16:creationId xmlns:a16="http://schemas.microsoft.com/office/drawing/2014/main" id="{625AB39C-0993-5FAD-2E80-8572D7592D72}"/>
              </a:ext>
            </a:extLst>
          </p:cNvPr>
          <p:cNvPicPr/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3443" y="952490"/>
            <a:ext cx="2031454" cy="2311663"/>
          </a:xfrm>
          <a:prstGeom prst="rect">
            <a:avLst/>
          </a:prstGeom>
          <a:ln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E6CE88B-8DC3-9FF8-B8EC-E7BE17051A91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87557" y="875437"/>
            <a:ext cx="1243583" cy="136548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C70B478-6AD7-1CE4-4AF0-D9090F25E051}"/>
              </a:ext>
            </a:extLst>
          </p:cNvPr>
          <p:cNvSpPr/>
          <p:nvPr/>
        </p:nvSpPr>
        <p:spPr>
          <a:xfrm>
            <a:off x="7466263" y="2287200"/>
            <a:ext cx="125066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Blake Sturtevant</a:t>
            </a:r>
          </a:p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/>
              <a:t>LANL</a:t>
            </a:r>
          </a:p>
          <a:p>
            <a:pPr algn="ctr">
              <a:defRPr sz="1200" b="1" i="1">
                <a:latin typeface="+mn-lt"/>
                <a:ea typeface="+mn-ea"/>
                <a:cs typeface="+mn-cs"/>
                <a:sym typeface="Calibri"/>
              </a:defRPr>
            </a:pPr>
            <a:endParaRPr lang="en-US" sz="300" dirty="0"/>
          </a:p>
        </p:txBody>
      </p:sp>
      <p:pic>
        <p:nvPicPr>
          <p:cNvPr id="2050" name="Picture 2" descr="Cerium Oxide Nanostructures and their Applications | IntechOpen">
            <a:extLst>
              <a:ext uri="{FF2B5EF4-FFF2-40B4-BE49-F238E27FC236}">
                <a16:creationId xmlns:a16="http://schemas.microsoft.com/office/drawing/2014/main" id="{F29C785B-22BD-F259-1FFB-308DC663E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6912" y="845849"/>
            <a:ext cx="2631372" cy="202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480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>
            <a:spLocks/>
          </p:cNvSpPr>
          <p:nvPr/>
        </p:nvSpPr>
        <p:spPr>
          <a:xfrm>
            <a:off x="0" y="42322"/>
            <a:ext cx="9143999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Radial Diffraction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C141E-1641-4499-88E6-4C78B62A615A}"/>
              </a:ext>
            </a:extLst>
          </p:cNvPr>
          <p:cNvSpPr/>
          <p:nvPr/>
        </p:nvSpPr>
        <p:spPr>
          <a:xfrm>
            <a:off x="6094411" y="859429"/>
            <a:ext cx="616113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0070" indent="-51435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Crystal lattice strain (elastic)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stresses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Strength of materials</a:t>
            </a:r>
          </a:p>
          <a:p>
            <a:pPr marL="560070" indent="-514350">
              <a:buFont typeface="+mj-lt"/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Texture / preferred orientation (plastic)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Deformation mechanisms (slip systems, twinning)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Transformation mechanisms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E2EA027-57F6-4C3B-8C0E-B53563385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526" y="753944"/>
            <a:ext cx="5252120" cy="2375959"/>
          </a:xfrm>
          <a:prstGeom prst="rect">
            <a:avLst/>
          </a:prstGeom>
        </p:spPr>
      </p:pic>
      <p:pic>
        <p:nvPicPr>
          <p:cNvPr id="42" name="Picture 41" descr="A picture containing text&#10;&#10;Description automatically generated">
            <a:extLst>
              <a:ext uri="{FF2B5EF4-FFF2-40B4-BE49-F238E27FC236}">
                <a16:creationId xmlns:a16="http://schemas.microsoft.com/office/drawing/2014/main" id="{0DF350BC-6D3B-D302-D24E-AF02AD950C6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795" y="6199632"/>
            <a:ext cx="1647405" cy="52206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D707B7-9A49-F9BB-D7EC-2AEE3E16CCF2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91F83BCA-69F1-FFC4-C9E5-931CDFD4666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565" y="3193442"/>
            <a:ext cx="5662401" cy="2940758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BD43663-B3F6-BA8A-4A6A-5126A1B7D47C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" name="Picture 206">
            <a:extLst>
              <a:ext uri="{FF2B5EF4-FFF2-40B4-BE49-F238E27FC236}">
                <a16:creationId xmlns:a16="http://schemas.microsoft.com/office/drawing/2014/main" id="{97C98EC2-859E-9D30-C548-68D9F50B8CB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8966" y="3372506"/>
            <a:ext cx="6263651" cy="225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48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C22B-735F-8F85-BCE7-18935A1F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C6E9173-CD28-F772-3B6B-8AD259EAF058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NSA1">
            <a:extLst>
              <a:ext uri="{FF2B5EF4-FFF2-40B4-BE49-F238E27FC236}">
                <a16:creationId xmlns:a16="http://schemas.microsoft.com/office/drawing/2014/main" id="{CE0357D5-4519-E66B-C8BA-FFF9D3074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5437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1F983F-419B-04F2-3697-BC0CFF018BC5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22A9AC74-CAA3-AE05-0BA5-6E1B587E610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714" y="6245400"/>
            <a:ext cx="1541196" cy="4747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1A49B8C-3ECD-200D-B213-8FAA083A8565}"/>
              </a:ext>
            </a:extLst>
          </p:cNvPr>
          <p:cNvSpPr txBox="1">
            <a:spLocks/>
          </p:cNvSpPr>
          <p:nvPr/>
        </p:nvSpPr>
        <p:spPr>
          <a:xfrm>
            <a:off x="-1" y="14824"/>
            <a:ext cx="12188825" cy="6482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3" name="Title 1">
            <a:extLst>
              <a:ext uri="{FF2B5EF4-FFF2-40B4-BE49-F238E27FC236}">
                <a16:creationId xmlns:a16="http://schemas.microsoft.com/office/drawing/2014/main" id="{19109E52-2F77-D4CF-E2CB-B51F329B0F9C}"/>
              </a:ext>
            </a:extLst>
          </p:cNvPr>
          <p:cNvSpPr txBox="1">
            <a:spLocks/>
          </p:cNvSpPr>
          <p:nvPr/>
        </p:nvSpPr>
        <p:spPr>
          <a:xfrm>
            <a:off x="76200" y="-11097"/>
            <a:ext cx="12115800" cy="115409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Polycrystal Plasticity Modeling → Deformation Mechanisms</a:t>
            </a:r>
          </a:p>
        </p:txBody>
      </p:sp>
      <p:pic>
        <p:nvPicPr>
          <p:cNvPr id="104" name="Picture 103" descr="stretch and rotation.jpeg">
            <a:extLst>
              <a:ext uri="{FF2B5EF4-FFF2-40B4-BE49-F238E27FC236}">
                <a16:creationId xmlns:a16="http://schemas.microsoft.com/office/drawing/2014/main" id="{499C7627-795E-4A3A-E50F-0A76A4C608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1989899"/>
            <a:ext cx="4175491" cy="2482460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8769CBA-1397-A066-42B3-A67DBA977D02}"/>
              </a:ext>
            </a:extLst>
          </p:cNvPr>
          <p:cNvGrpSpPr/>
          <p:nvPr/>
        </p:nvGrpSpPr>
        <p:grpSpPr>
          <a:xfrm>
            <a:off x="5181601" y="939698"/>
            <a:ext cx="2976027" cy="2096302"/>
            <a:chOff x="228600" y="2724531"/>
            <a:chExt cx="5257800" cy="3828669"/>
          </a:xfrm>
          <a:solidFill>
            <a:srgbClr val="FFFFFF"/>
          </a:solidFill>
        </p:grpSpPr>
        <p:sp>
          <p:nvSpPr>
            <p:cNvPr id="106" name="Rectangle 35">
              <a:extLst>
                <a:ext uri="{FF2B5EF4-FFF2-40B4-BE49-F238E27FC236}">
                  <a16:creationId xmlns:a16="http://schemas.microsoft.com/office/drawing/2014/main" id="{657A6C50-21D3-D8D4-5DB4-C446AB286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2847627"/>
              <a:ext cx="5257800" cy="3705573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" name="Group 26">
              <a:extLst>
                <a:ext uri="{FF2B5EF4-FFF2-40B4-BE49-F238E27FC236}">
                  <a16:creationId xmlns:a16="http://schemas.microsoft.com/office/drawing/2014/main" id="{79744294-E086-069C-9434-77734EC1A3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872" y="4758961"/>
              <a:ext cx="4736310" cy="1718674"/>
              <a:chOff x="776" y="1237"/>
              <a:chExt cx="3360" cy="1251"/>
            </a:xfrm>
            <a:grpFill/>
          </p:grpSpPr>
          <p:grpSp>
            <p:nvGrpSpPr>
              <p:cNvPr id="113" name="Group 27">
                <a:extLst>
                  <a:ext uri="{FF2B5EF4-FFF2-40B4-BE49-F238E27FC236}">
                    <a16:creationId xmlns:a16="http://schemas.microsoft.com/office/drawing/2014/main" id="{41A369C5-CF19-276D-9518-1D388454E9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237"/>
                <a:ext cx="3360" cy="1234"/>
                <a:chOff x="776" y="1237"/>
                <a:chExt cx="3360" cy="1234"/>
              </a:xfrm>
              <a:grpFill/>
            </p:grpSpPr>
            <p:pic>
              <p:nvPicPr>
                <p:cNvPr id="116" name="Picture 28">
                  <a:extLst>
                    <a:ext uri="{FF2B5EF4-FFF2-40B4-BE49-F238E27FC236}">
                      <a16:creationId xmlns:a16="http://schemas.microsoft.com/office/drawing/2014/main" id="{37C2B831-6EA3-60BE-30DF-13FC8F5A31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6" y="1237"/>
                  <a:ext cx="1090" cy="116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7" name="Picture 29">
                  <a:extLst>
                    <a:ext uri="{FF2B5EF4-FFF2-40B4-BE49-F238E27FC236}">
                      <a16:creationId xmlns:a16="http://schemas.microsoft.com/office/drawing/2014/main" id="{FB4E209F-FA89-49FD-C07E-65CA8DBC39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28" y="1297"/>
                  <a:ext cx="978" cy="114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8" name="Picture 30">
                  <a:extLst>
                    <a:ext uri="{FF2B5EF4-FFF2-40B4-BE49-F238E27FC236}">
                      <a16:creationId xmlns:a16="http://schemas.microsoft.com/office/drawing/2014/main" id="{2A574745-DDDD-A951-0877-D93482C711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40" y="1288"/>
                  <a:ext cx="996" cy="118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14" name="Text Box 32">
                <a:extLst>
                  <a:ext uri="{FF2B5EF4-FFF2-40B4-BE49-F238E27FC236}">
                    <a16:creationId xmlns:a16="http://schemas.microsoft.com/office/drawing/2014/main" id="{DD68F019-4545-D4EF-D895-F5DE11DE0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3" y="1288"/>
                <a:ext cx="181" cy="36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1200" b="1" dirty="0"/>
                  <a:t>b</a:t>
                </a:r>
              </a:p>
            </p:txBody>
          </p:sp>
          <p:sp>
            <p:nvSpPr>
              <p:cNvPr id="115" name="Text Box 34">
                <a:extLst>
                  <a:ext uri="{FF2B5EF4-FFF2-40B4-BE49-F238E27FC236}">
                    <a16:creationId xmlns:a16="http://schemas.microsoft.com/office/drawing/2014/main" id="{CE231EBA-0644-AA55-EF17-B7BC2F9D51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7" y="2120"/>
                <a:ext cx="181" cy="36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1200" b="1" dirty="0"/>
                  <a:t>a</a:t>
                </a:r>
              </a:p>
            </p:txBody>
          </p:sp>
        </p:grpSp>
        <p:grpSp>
          <p:nvGrpSpPr>
            <p:cNvPr id="108" name="Group 46">
              <a:extLst>
                <a:ext uri="{FF2B5EF4-FFF2-40B4-BE49-F238E27FC236}">
                  <a16:creationId xmlns:a16="http://schemas.microsoft.com/office/drawing/2014/main" id="{07A2704D-E8D2-7C91-EF18-D5D31AC7FF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50230" y="3228019"/>
              <a:ext cx="4403006" cy="1559066"/>
              <a:chOff x="733" y="100"/>
              <a:chExt cx="3324" cy="1177"/>
            </a:xfrm>
            <a:grpFill/>
          </p:grpSpPr>
          <p:pic>
            <p:nvPicPr>
              <p:cNvPr id="110" name="Picture 11">
                <a:extLst>
                  <a:ext uri="{FF2B5EF4-FFF2-40B4-BE49-F238E27FC236}">
                    <a16:creationId xmlns:a16="http://schemas.microsoft.com/office/drawing/2014/main" id="{E7E483B7-CF6A-AE33-0E9A-16DEB2D1F8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96" y="100"/>
                <a:ext cx="961" cy="116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2">
                <a:extLst>
                  <a:ext uri="{FF2B5EF4-FFF2-40B4-BE49-F238E27FC236}">
                    <a16:creationId xmlns:a16="http://schemas.microsoft.com/office/drawing/2014/main" id="{7FCA0AE6-5210-9F0B-052B-714609514A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3" y="100"/>
                <a:ext cx="965" cy="11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6">
                <a:extLst>
                  <a:ext uri="{FF2B5EF4-FFF2-40B4-BE49-F238E27FC236}">
                    <a16:creationId xmlns:a16="http://schemas.microsoft.com/office/drawing/2014/main" id="{5D59446D-B5CC-4024-514C-5EB5E41070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8" y="100"/>
                <a:ext cx="992" cy="117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A9F9513-26E5-3696-8C92-65ABD83D26B8}"/>
                </a:ext>
              </a:extLst>
            </p:cNvPr>
            <p:cNvSpPr txBox="1"/>
            <p:nvPr/>
          </p:nvSpPr>
          <p:spPr>
            <a:xfrm>
              <a:off x="1292052" y="2724531"/>
              <a:ext cx="3286406" cy="618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VPSC models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6AE97069-212E-237A-F7E9-7D0A7AEF5985}"/>
              </a:ext>
            </a:extLst>
          </p:cNvPr>
          <p:cNvSpPr txBox="1"/>
          <p:nvPr/>
        </p:nvSpPr>
        <p:spPr>
          <a:xfrm>
            <a:off x="4161693" y="638912"/>
            <a:ext cx="5814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Visco-plastic self consistent code </a:t>
            </a:r>
            <a:r>
              <a:rPr lang="en-US" sz="1400" dirty="0"/>
              <a:t>(</a:t>
            </a:r>
            <a:r>
              <a:rPr lang="en-US" sz="1400" dirty="0" err="1"/>
              <a:t>Lebensohn</a:t>
            </a:r>
            <a:r>
              <a:rPr lang="en-US" sz="1400" dirty="0"/>
              <a:t> and Tome 1993)</a:t>
            </a:r>
            <a:r>
              <a:rPr lang="en-US" dirty="0"/>
              <a:t>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D93B313-5415-0108-B5AB-CF58B44652A2}"/>
              </a:ext>
            </a:extLst>
          </p:cNvPr>
          <p:cNvSpPr txBox="1"/>
          <p:nvPr/>
        </p:nvSpPr>
        <p:spPr>
          <a:xfrm>
            <a:off x="1219200" y="1576759"/>
            <a:ext cx="247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 consistent modeling</a:t>
            </a:r>
          </a:p>
        </p:txBody>
      </p:sp>
      <p:sp>
        <p:nvSpPr>
          <p:cNvPr id="121" name="Right Arrow 22">
            <a:extLst>
              <a:ext uri="{FF2B5EF4-FFF2-40B4-BE49-F238E27FC236}">
                <a16:creationId xmlns:a16="http://schemas.microsoft.com/office/drawing/2014/main" id="{A73EE6A1-55A9-7FB1-76E1-6B8AC53905A8}"/>
              </a:ext>
            </a:extLst>
          </p:cNvPr>
          <p:cNvSpPr/>
          <p:nvPr/>
        </p:nvSpPr>
        <p:spPr>
          <a:xfrm rot="19705930">
            <a:off x="4552902" y="2146672"/>
            <a:ext cx="535012" cy="369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5F06C09-5221-D519-0331-2DE3750C4101}"/>
              </a:ext>
            </a:extLst>
          </p:cNvPr>
          <p:cNvSpPr txBox="1"/>
          <p:nvPr/>
        </p:nvSpPr>
        <p:spPr>
          <a:xfrm>
            <a:off x="4800600" y="302886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Elasto</a:t>
            </a:r>
            <a:r>
              <a:rPr lang="en-US" dirty="0"/>
              <a:t>-plastic self consistent code </a:t>
            </a:r>
            <a:r>
              <a:rPr lang="en-US" sz="1400" dirty="0"/>
              <a:t>(Turner and Tome 1993; Merkel et al 2009)</a:t>
            </a:r>
            <a:r>
              <a:rPr lang="en-US" dirty="0"/>
              <a:t> </a:t>
            </a:r>
          </a:p>
        </p:txBody>
      </p:sp>
      <p:pic>
        <p:nvPicPr>
          <p:cNvPr id="123" name="Picture 2">
            <a:extLst>
              <a:ext uri="{FF2B5EF4-FFF2-40B4-BE49-F238E27FC236}">
                <a16:creationId xmlns:a16="http://schemas.microsoft.com/office/drawing/2014/main" id="{9C231418-B409-8C0E-DE77-E9D6BB660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5812" y="3692439"/>
            <a:ext cx="3063788" cy="2303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4" name="Right Arrow 28">
            <a:extLst>
              <a:ext uri="{FF2B5EF4-FFF2-40B4-BE49-F238E27FC236}">
                <a16:creationId xmlns:a16="http://schemas.microsoft.com/office/drawing/2014/main" id="{93E2FC52-9DA2-6373-C948-52ECFC0F9CC2}"/>
              </a:ext>
            </a:extLst>
          </p:cNvPr>
          <p:cNvSpPr/>
          <p:nvPr/>
        </p:nvSpPr>
        <p:spPr>
          <a:xfrm rot="1656294">
            <a:off x="4550928" y="4205713"/>
            <a:ext cx="535012" cy="369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ight Arrow 29">
            <a:extLst>
              <a:ext uri="{FF2B5EF4-FFF2-40B4-BE49-F238E27FC236}">
                <a16:creationId xmlns:a16="http://schemas.microsoft.com/office/drawing/2014/main" id="{ABC1309E-7890-A537-21E1-A770D89A1231}"/>
              </a:ext>
            </a:extLst>
          </p:cNvPr>
          <p:cNvSpPr/>
          <p:nvPr/>
        </p:nvSpPr>
        <p:spPr>
          <a:xfrm rot="19705930">
            <a:off x="8362901" y="3685473"/>
            <a:ext cx="535012" cy="369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Arrow 30">
            <a:extLst>
              <a:ext uri="{FF2B5EF4-FFF2-40B4-BE49-F238E27FC236}">
                <a16:creationId xmlns:a16="http://schemas.microsoft.com/office/drawing/2014/main" id="{3DAE90D4-A70E-B0C5-E812-B0DE07F010BF}"/>
              </a:ext>
            </a:extLst>
          </p:cNvPr>
          <p:cNvSpPr/>
          <p:nvPr/>
        </p:nvSpPr>
        <p:spPr>
          <a:xfrm rot="1656294">
            <a:off x="8360928" y="2517891"/>
            <a:ext cx="535012" cy="369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84762C-364C-A174-8253-AF731EDB0C36}"/>
              </a:ext>
            </a:extLst>
          </p:cNvPr>
          <p:cNvSpPr txBox="1"/>
          <p:nvPr/>
        </p:nvSpPr>
        <p:spPr>
          <a:xfrm>
            <a:off x="8880749" y="2491160"/>
            <a:ext cx="1679434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EVPSC</a:t>
            </a:r>
          </a:p>
          <a:p>
            <a:pPr algn="ctr"/>
            <a:r>
              <a:rPr lang="en-US" sz="1600" b="1" dirty="0"/>
              <a:t>(Wang et al 2010)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Applied to </a:t>
            </a:r>
          </a:p>
          <a:p>
            <a:pPr algn="ctr"/>
            <a:r>
              <a:rPr lang="en-US" sz="1600" b="1" dirty="0"/>
              <a:t>high pressure</a:t>
            </a:r>
          </a:p>
          <a:p>
            <a:pPr algn="ctr"/>
            <a:r>
              <a:rPr lang="en-US" sz="1600" b="1" dirty="0"/>
              <a:t>(Lin et al., 2017)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3F594730-F751-8494-25C0-E5CBE096AFA3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540" y="4506257"/>
            <a:ext cx="3787609" cy="1515043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5BDF2CAB-5186-8594-5F79-08E4E6EE0ACE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9832" y="1195907"/>
            <a:ext cx="1408300" cy="1707030"/>
          </a:xfrm>
          <a:prstGeom prst="rect">
            <a:avLst/>
          </a:prstGeom>
        </p:spPr>
      </p:pic>
      <p:pic>
        <p:nvPicPr>
          <p:cNvPr id="1026" name="Picture 2" descr="SolMech 2026">
            <a:extLst>
              <a:ext uri="{FF2B5EF4-FFF2-40B4-BE49-F238E27FC236}">
                <a16:creationId xmlns:a16="http://schemas.microsoft.com/office/drawing/2014/main" id="{29665CA6-5C3B-D51E-E0DE-42569AECE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29736" y="3675191"/>
            <a:ext cx="1408300" cy="16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6925BB9A-CE92-8CBD-FB5A-7EE0508A2B37}"/>
              </a:ext>
            </a:extLst>
          </p:cNvPr>
          <p:cNvSpPr txBox="1"/>
          <p:nvPr/>
        </p:nvSpPr>
        <p:spPr>
          <a:xfrm>
            <a:off x="10652161" y="2917596"/>
            <a:ext cx="136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Carlos Tomé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B790B49-D291-DFEB-85E8-4638EA61A868}"/>
              </a:ext>
            </a:extLst>
          </p:cNvPr>
          <p:cNvSpPr txBox="1"/>
          <p:nvPr/>
        </p:nvSpPr>
        <p:spPr>
          <a:xfrm>
            <a:off x="10615328" y="5430856"/>
            <a:ext cx="139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Ricardo </a:t>
            </a:r>
            <a:r>
              <a:rPr lang="en-US" dirty="0" err="1"/>
              <a:t>Lebensohn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875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6A22-EB68-0957-1548-A9FBE9AE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41B7394-5430-A2A5-688A-B42F4B22AC93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NSA1">
            <a:extLst>
              <a:ext uri="{FF2B5EF4-FFF2-40B4-BE49-F238E27FC236}">
                <a16:creationId xmlns:a16="http://schemas.microsoft.com/office/drawing/2014/main" id="{D6675F7A-37B5-7A86-BABF-E2C880E8D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5437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5823C3-3862-E9F8-351A-357EEF1C6B4A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B022EE11-CABC-5FDF-9A21-422E77A6C4C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714" y="6245400"/>
            <a:ext cx="1541196" cy="4747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7E59E4-9CF1-9432-9B02-4C9EED340DB0}"/>
              </a:ext>
            </a:extLst>
          </p:cNvPr>
          <p:cNvSpPr txBox="1">
            <a:spLocks/>
          </p:cNvSpPr>
          <p:nvPr/>
        </p:nvSpPr>
        <p:spPr>
          <a:xfrm>
            <a:off x="-1" y="14824"/>
            <a:ext cx="12188825" cy="6482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5A0BBE-2A88-932B-999B-8193D2223D57}"/>
              </a:ext>
            </a:extLst>
          </p:cNvPr>
          <p:cNvGrpSpPr>
            <a:grpSpLocks noChangeAspect="1"/>
          </p:cNvGrpSpPr>
          <p:nvPr/>
        </p:nvGrpSpPr>
        <p:grpSpPr>
          <a:xfrm>
            <a:off x="3963294" y="771171"/>
            <a:ext cx="3844968" cy="2259804"/>
            <a:chOff x="893514" y="1392198"/>
            <a:chExt cx="2614938" cy="15510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C5441C-6C39-5876-F2A9-5341C07E66D2}"/>
                </a:ext>
              </a:extLst>
            </p:cNvPr>
            <p:cNvSpPr/>
            <p:nvPr/>
          </p:nvSpPr>
          <p:spPr>
            <a:xfrm>
              <a:off x="893515" y="1408674"/>
              <a:ext cx="2546659" cy="153457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F3FA0BB-3EF1-A524-8A0C-10AF6B39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14" y="1815547"/>
              <a:ext cx="1310400" cy="1127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139D7B4-2DA9-A744-BFFB-0C21676CB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65992" y="1877311"/>
              <a:ext cx="1166903" cy="93501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F8E0F7-00AA-2979-F273-99809AF6DC2F}"/>
                </a:ext>
              </a:extLst>
            </p:cNvPr>
            <p:cNvSpPr txBox="1"/>
            <p:nvPr/>
          </p:nvSpPr>
          <p:spPr>
            <a:xfrm>
              <a:off x="955592" y="1392198"/>
              <a:ext cx="1478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Experiment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C0CA92A-766F-7DC7-B410-51DB02B970F9}"/>
                </a:ext>
              </a:extLst>
            </p:cNvPr>
            <p:cNvSpPr txBox="1"/>
            <p:nvPr/>
          </p:nvSpPr>
          <p:spPr>
            <a:xfrm>
              <a:off x="2445771" y="1394927"/>
              <a:ext cx="10626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EVPSC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7000A79-41B7-8A31-60C5-8EEE650ED1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457" y="3030974"/>
            <a:ext cx="3543300" cy="29351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419089-4240-F407-6A89-8B3645369EB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062" y="761999"/>
            <a:ext cx="3611188" cy="5225906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7D6A37B3-B57D-8907-7C05-BB0C2249F399}"/>
              </a:ext>
            </a:extLst>
          </p:cNvPr>
          <p:cNvSpPr txBox="1">
            <a:spLocks/>
          </p:cNvSpPr>
          <p:nvPr/>
        </p:nvSpPr>
        <p:spPr>
          <a:xfrm>
            <a:off x="3175" y="-4412"/>
            <a:ext cx="12188825" cy="6482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Deformation of CeO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 </a:t>
            </a:r>
            <a:r>
              <a:rPr lang="en-US" sz="3200" b="1" dirty="0" err="1">
                <a:solidFill>
                  <a:srgbClr val="661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Cerianite</a:t>
            </a:r>
            <a:r>
              <a:rPr lang="en-US" sz="3200" b="1" dirty="0">
                <a:solidFill>
                  <a:srgbClr val="661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(Huston et al., 2022)</a:t>
            </a:r>
            <a:endParaRPr kumimoji="0" lang="en-US" sz="3200" b="1" i="0" u="none" strike="noStrike" kern="1200" cap="none" spc="0" normalizeH="0" baseline="-2500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FA8B9D-C26B-82BD-8165-3CED742AC5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50" y="812475"/>
            <a:ext cx="2853283" cy="24403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FFBA5B8-2EA0-E85F-5872-C8B6B7F58C4C}"/>
              </a:ext>
            </a:extLst>
          </p:cNvPr>
          <p:cNvSpPr txBox="1"/>
          <p:nvPr/>
        </p:nvSpPr>
        <p:spPr>
          <a:xfrm>
            <a:off x="11998" y="3578812"/>
            <a:ext cx="39512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Pratt et al 1966 - fluorite primary slip system is {100}&lt;110&gt;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FCC metals – slip on {111}&lt;1-10&gt;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83BB0E8-5845-4FC8-A4BB-227EFB8403F8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5581" y="6040596"/>
            <a:ext cx="2210897" cy="884359"/>
          </a:xfrm>
          <a:prstGeom prst="rect">
            <a:avLst/>
          </a:prstGeom>
        </p:spPr>
      </p:pic>
      <p:pic>
        <p:nvPicPr>
          <p:cNvPr id="29" name="Picture 3" descr="C:\Users\Lowell\Documents\Research\AGU\AGU_2013\Hi T poster\UtahLogo-300x78.png">
            <a:extLst>
              <a:ext uri="{FF2B5EF4-FFF2-40B4-BE49-F238E27FC236}">
                <a16:creationId xmlns:a16="http://schemas.microsoft.com/office/drawing/2014/main" id="{98D28F5B-DCD4-BA3E-1F18-12A2E3519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29814" y="6249745"/>
            <a:ext cx="1903387" cy="49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148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B6329-79F0-36EB-9586-3FDEC84A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9E66890-00DF-E4B5-BC76-6538B1E61977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NSA1">
            <a:extLst>
              <a:ext uri="{FF2B5EF4-FFF2-40B4-BE49-F238E27FC236}">
                <a16:creationId xmlns:a16="http://schemas.microsoft.com/office/drawing/2014/main" id="{CA670CEE-42E2-8643-1083-4675187E2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5437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D8CBAC-BD3A-F269-88DD-5D644DD40781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9DA89C7C-EABE-3CA6-D342-1A203808079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714" y="6245400"/>
            <a:ext cx="1541196" cy="4747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2A88618-D369-F6CA-8652-C828FB01E429}"/>
              </a:ext>
            </a:extLst>
          </p:cNvPr>
          <p:cNvSpPr txBox="1">
            <a:spLocks/>
          </p:cNvSpPr>
          <p:nvPr/>
        </p:nvSpPr>
        <p:spPr>
          <a:xfrm>
            <a:off x="-1" y="14824"/>
            <a:ext cx="12188825" cy="6482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0E25CB-1A64-EDAE-661C-18F54B375DB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19" y="754348"/>
            <a:ext cx="3560670" cy="2582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319EE2-35B5-B28B-F51F-80B06F85D3C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19" y="3444548"/>
            <a:ext cx="3560670" cy="25824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F025777-561D-7FBE-04B9-E13D53C755A7}"/>
              </a:ext>
            </a:extLst>
          </p:cNvPr>
          <p:cNvSpPr txBox="1">
            <a:spLocks/>
          </p:cNvSpPr>
          <p:nvPr/>
        </p:nvSpPr>
        <p:spPr>
          <a:xfrm>
            <a:off x="3175" y="48737"/>
            <a:ext cx="12188825" cy="6482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Deformation of Irradiated CeO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Cerianite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	(200 MeV Xe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22AEB3-A071-FC2C-4EB9-66AC3992843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7236" y="715106"/>
            <a:ext cx="4466492" cy="28419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C5831E-6D53-7DFB-3BDE-8D9F9F7424C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7235" y="3551644"/>
            <a:ext cx="4466493" cy="24752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3C5742C-72AF-06F2-0CB1-B345B2079EF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9018" y="1059226"/>
            <a:ext cx="2837729" cy="189066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AD8BB1C-F47C-906E-CA71-8ECF7C6C362D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343" y="3050797"/>
            <a:ext cx="3560188" cy="27479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B662F46-0939-F59C-6E8A-A7146235226C}"/>
              </a:ext>
            </a:extLst>
          </p:cNvPr>
          <p:cNvSpPr txBox="1"/>
          <p:nvPr/>
        </p:nvSpPr>
        <p:spPr>
          <a:xfrm>
            <a:off x="9591371" y="3397755"/>
            <a:ext cx="155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{110}&lt;1-11&gt;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078609-EDAF-C388-BF6F-09A780FF5E84}"/>
              </a:ext>
            </a:extLst>
          </p:cNvPr>
          <p:cNvSpPr txBox="1"/>
          <p:nvPr/>
        </p:nvSpPr>
        <p:spPr>
          <a:xfrm>
            <a:off x="9408297" y="4582876"/>
            <a:ext cx="1753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{112}&lt;111&gt; twinning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93B5D5-6031-71BD-BC42-62E0164BC62F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056" y="5737640"/>
            <a:ext cx="3224519" cy="14902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6DFB4C-0772-0078-7288-DE0AC5362290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3161" y="6026918"/>
            <a:ext cx="2210897" cy="884359"/>
          </a:xfrm>
          <a:prstGeom prst="rect">
            <a:avLst/>
          </a:prstGeom>
        </p:spPr>
      </p:pic>
      <p:pic>
        <p:nvPicPr>
          <p:cNvPr id="33" name="Picture 3" descr="C:\Users\Lowell\Documents\Research\AGU\AGU_2013\Hi T poster\UtahLogo-300x78.png">
            <a:extLst>
              <a:ext uri="{FF2B5EF4-FFF2-40B4-BE49-F238E27FC236}">
                <a16:creationId xmlns:a16="http://schemas.microsoft.com/office/drawing/2014/main" id="{7CF6F548-7238-1A7A-0FA3-DF9CB1CB1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42034" y="6206920"/>
            <a:ext cx="1903387" cy="49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646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3B1C6-3553-AAE9-AE2C-7494DFDF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239D32-495D-9638-94A6-0624A1C5A945}"/>
              </a:ext>
            </a:extLst>
          </p:cNvPr>
          <p:cNvCxnSpPr/>
          <p:nvPr/>
        </p:nvCxnSpPr>
        <p:spPr>
          <a:xfrm>
            <a:off x="-1" y="663075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NSA1">
            <a:extLst>
              <a:ext uri="{FF2B5EF4-FFF2-40B4-BE49-F238E27FC236}">
                <a16:creationId xmlns:a16="http://schemas.microsoft.com/office/drawing/2014/main" id="{18BEA25F-986A-BFD9-D2F7-AC8DFFE54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5437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02BEE1-A521-CDC4-5866-8D0ADC5CB886}"/>
              </a:ext>
            </a:extLst>
          </p:cNvPr>
          <p:cNvCxnSpPr/>
          <p:nvPr/>
        </p:nvCxnSpPr>
        <p:spPr>
          <a:xfrm>
            <a:off x="0" y="6096000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480B4AEA-6324-9229-9943-B862F6F163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714" y="6245400"/>
            <a:ext cx="1541196" cy="4747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AD19008-14C9-ED5F-CE1A-967E918D1599}"/>
              </a:ext>
            </a:extLst>
          </p:cNvPr>
          <p:cNvSpPr txBox="1">
            <a:spLocks/>
          </p:cNvSpPr>
          <p:nvPr/>
        </p:nvSpPr>
        <p:spPr>
          <a:xfrm>
            <a:off x="-1" y="14824"/>
            <a:ext cx="12188825" cy="6482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66130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CF07EBD-637A-01C7-7D6F-F271F8400E9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13" y="696990"/>
            <a:ext cx="3668567" cy="2660720"/>
          </a:xfrm>
          <a:prstGeom prst="rect">
            <a:avLst/>
          </a:prstGeom>
        </p:spPr>
      </p:pic>
      <p:pic>
        <p:nvPicPr>
          <p:cNvPr id="29" name="Picture 28" descr="A graph of pressure and pressure&#10;&#10;AI-generated content may be incorrect.">
            <a:extLst>
              <a:ext uri="{FF2B5EF4-FFF2-40B4-BE49-F238E27FC236}">
                <a16:creationId xmlns:a16="http://schemas.microsoft.com/office/drawing/2014/main" id="{8EFD72D3-F2AE-5005-C43F-0D04169AFD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05821" y="3475722"/>
            <a:ext cx="3842005" cy="254981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8B49295-7883-DDA2-35DB-44E293FF5CE4}"/>
              </a:ext>
            </a:extLst>
          </p:cNvPr>
          <p:cNvSpPr txBox="1"/>
          <p:nvPr/>
        </p:nvSpPr>
        <p:spPr>
          <a:xfrm>
            <a:off x="10856302" y="5689430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Berlin in prep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7745006-4F0B-3ED1-3305-4DC50172D80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52" y="3318097"/>
            <a:ext cx="3682959" cy="2688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82A15-076E-E14B-E031-BAD96E46EC4B}"/>
              </a:ext>
            </a:extLst>
          </p:cNvPr>
          <p:cNvSpPr txBox="1"/>
          <p:nvPr/>
        </p:nvSpPr>
        <p:spPr>
          <a:xfrm>
            <a:off x="1718910" y="3498631"/>
            <a:ext cx="22415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 err="1">
                <a:latin typeface="Arial" panose="020B0604020202020204" pitchFamily="34" charset="0"/>
                <a:cs typeface="Arial" panose="020B0604020202020204" pitchFamily="34" charset="0"/>
              </a:rPr>
              <a:t>Kiessner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 et al., in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prep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1BB041-9E29-46AD-B81D-B499CA7AF1FA}"/>
              </a:ext>
            </a:extLst>
          </p:cNvPr>
          <p:cNvCxnSpPr>
            <a:cxnSpLocks/>
          </p:cNvCxnSpPr>
          <p:nvPr/>
        </p:nvCxnSpPr>
        <p:spPr>
          <a:xfrm>
            <a:off x="8203574" y="730902"/>
            <a:ext cx="31308" cy="5331185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F02B1B3-6B38-7C39-5327-0973B2EA6CFD}"/>
              </a:ext>
            </a:extLst>
          </p:cNvPr>
          <p:cNvSpPr txBox="1"/>
          <p:nvPr/>
        </p:nvSpPr>
        <p:spPr>
          <a:xfrm>
            <a:off x="3727511" y="696989"/>
            <a:ext cx="437606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Radiation damage in nano and micro CeO</a:t>
            </a:r>
            <a:r>
              <a:rPr lang="en-US" sz="2200" baseline="-25000" dirty="0"/>
              <a:t>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Grain size reduction increases strength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Grain size reduction changes deformation mechanisms (increased twinning)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Irradiated samples are stronger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Radiation damage changes deformation mechanisms (suppresses twinning)</a:t>
            </a:r>
          </a:p>
          <a:p>
            <a:pPr marL="342900" indent="-342900">
              <a:buFont typeface="+mj-lt"/>
              <a:buAutoNum type="arabicPeriod"/>
            </a:pPr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Mechanism of strengthening in irradiated samples is distinct from grain size reduction</a:t>
            </a:r>
          </a:p>
          <a:p>
            <a:endParaRPr lang="en-US" sz="220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E29E7E7F-0987-D46F-12FD-4015CF2683A3}"/>
              </a:ext>
            </a:extLst>
          </p:cNvPr>
          <p:cNvSpPr txBox="1">
            <a:spLocks/>
          </p:cNvSpPr>
          <p:nvPr/>
        </p:nvSpPr>
        <p:spPr>
          <a:xfrm>
            <a:off x="-14105" y="14824"/>
            <a:ext cx="12188825" cy="64825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6130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Impact of Defect Structure on Materials Behavior Under Extremes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CE9F1D-C0CF-4524-A76D-645CA941B691}"/>
              </a:ext>
            </a:extLst>
          </p:cNvPr>
          <p:cNvSpPr txBox="1"/>
          <p:nvPr/>
        </p:nvSpPr>
        <p:spPr>
          <a:xfrm>
            <a:off x="8305443" y="679938"/>
            <a:ext cx="38085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about other materials?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CDAC student A. Berlin.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WC irradiated with 946 MeV 197Au 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work: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Defect modeling materials (</a:t>
            </a:r>
            <a:r>
              <a:rPr lang="en-US" dirty="0" err="1"/>
              <a:t>Ertikin</a:t>
            </a:r>
            <a:r>
              <a:rPr lang="en-US" dirty="0"/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Elasticity measurements (Jacobsen).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61B79AF-E043-90BD-FDD0-4B4853FDAB1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8221" y="5992897"/>
            <a:ext cx="2161563" cy="99900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41F2673-88A3-B892-4CCA-5DDFED971F1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1084" y="6174077"/>
            <a:ext cx="1541195" cy="63664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AE2217E-6488-FE7B-6285-897067382094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4636" y="6314669"/>
            <a:ext cx="1759720" cy="355463"/>
          </a:xfrm>
          <a:prstGeom prst="rect">
            <a:avLst/>
          </a:prstGeom>
        </p:spPr>
      </p:pic>
      <p:pic>
        <p:nvPicPr>
          <p:cNvPr id="52" name="Picture 3" descr="C:\Users\Lowell\Documents\Research\AGU\AGU_2013\Hi T poster\UtahLogo-300x78.png">
            <a:extLst>
              <a:ext uri="{FF2B5EF4-FFF2-40B4-BE49-F238E27FC236}">
                <a16:creationId xmlns:a16="http://schemas.microsoft.com/office/drawing/2014/main" id="{CEE80894-B609-A018-96F4-5A48F41DD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7725" y="6296464"/>
            <a:ext cx="1507199" cy="39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179D0B5-C224-E114-B74F-F726F1ACEBC8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4220" y="6180016"/>
            <a:ext cx="1561921" cy="62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06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599F9-FB99-00B5-C1C2-5AED9D7D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33F66C7-BD42-5A78-919A-F8874162F7E3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9F32952D-177B-DDAA-9069-FF9FADBC2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78350709-9982-B3B2-3BAD-4767144D9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773C01D2-04CD-4B84-EBC1-2723638A0AC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79AED157-50A1-93FB-E666-7A9D5D5AE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2" y="2395490"/>
            <a:ext cx="10553700" cy="1818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Influence of Defect Structure on Elastic Response </a:t>
            </a: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Steven Jacobsen, Ph.D.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Professor,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University of Colorado, Boulder, </a:t>
            </a:r>
            <a:r>
              <a:rPr lang="en-US" sz="2500" i="1" u="sng" dirty="0">
                <a:solidFill>
                  <a:srgbClr val="0066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steven.jacobsen@colorado.edu</a:t>
            </a:r>
            <a:endParaRPr lang="en-US" sz="2500" i="1" dirty="0">
              <a:solidFill>
                <a:srgbClr val="0066FF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F4BFB-ACE9-4EA8-2652-2AD39FBCBF14}"/>
              </a:ext>
            </a:extLst>
          </p:cNvPr>
          <p:cNvSpPr txBox="1"/>
          <p:nvPr/>
        </p:nvSpPr>
        <p:spPr>
          <a:xfrm>
            <a:off x="4430210" y="1639877"/>
            <a:ext cx="8084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accent4">
                    <a:lumMod val="50000"/>
                  </a:schemeClr>
                </a:solidFill>
                <a:latin typeface="Century Schoolbook" panose="02040604050505020304" pitchFamily="18" charset="0"/>
              </a:rPr>
              <a:t>Influence of Defect Structure on Elastic Response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127EB-9545-2E40-C515-3B1FBD833D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60710" y="4494698"/>
            <a:ext cx="1251665" cy="9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40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C6CA-B93B-36FC-0342-B6D5DC1A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B08054E0-5C7D-18D0-9E84-08A7083E9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4FD78BFD-DCE7-0024-C034-F077E42F1E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795" y="6198087"/>
            <a:ext cx="1647405" cy="522065"/>
          </a:xfrm>
          <a:prstGeom prst="rect">
            <a:avLst/>
          </a:prstGeom>
        </p:spPr>
      </p:pic>
      <p:sp>
        <p:nvSpPr>
          <p:cNvPr id="67" name="Title 2">
            <a:extLst>
              <a:ext uri="{FF2B5EF4-FFF2-40B4-BE49-F238E27FC236}">
                <a16:creationId xmlns:a16="http://schemas.microsoft.com/office/drawing/2014/main" id="{62DC1373-944A-6DFC-EE31-E33C8DA4C65D}"/>
              </a:ext>
            </a:extLst>
          </p:cNvPr>
          <p:cNvSpPr txBox="1">
            <a:spLocks/>
          </p:cNvSpPr>
          <p:nvPr/>
        </p:nvSpPr>
        <p:spPr>
          <a:xfrm>
            <a:off x="85015" y="93688"/>
            <a:ext cx="1098076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GHz-ultrasonics: a unique capability of the Center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FE5B2-DAFC-C903-B131-057EB2D367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10783" y="6198087"/>
            <a:ext cx="703974" cy="522066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8E815F7E-9E47-FD60-F99D-424DB49F72FA}"/>
              </a:ext>
            </a:extLst>
          </p:cNvPr>
          <p:cNvSpPr txBox="1"/>
          <p:nvPr/>
        </p:nvSpPr>
        <p:spPr>
          <a:xfrm>
            <a:off x="9890934" y="95322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I. 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2DC91B-0CF8-13AA-2186-29313523CCE7}"/>
              </a:ext>
            </a:extLst>
          </p:cNvPr>
          <p:cNvCxnSpPr/>
          <p:nvPr/>
        </p:nvCxnSpPr>
        <p:spPr>
          <a:xfrm>
            <a:off x="-4009" y="687310"/>
            <a:ext cx="1219041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14">
            <a:extLst>
              <a:ext uri="{FF2B5EF4-FFF2-40B4-BE49-F238E27FC236}">
                <a16:creationId xmlns:a16="http://schemas.microsoft.com/office/drawing/2014/main" id="{3A1F04D1-15C3-8B1B-17E4-D7072DD0F4ED}"/>
              </a:ext>
            </a:extLst>
          </p:cNvPr>
          <p:cNvSpPr txBox="1"/>
          <p:nvPr/>
        </p:nvSpPr>
        <p:spPr>
          <a:xfrm>
            <a:off x="9890932" y="379585"/>
            <a:ext cx="2148693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Future Directions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13" descr="Jacobsen_GHz_Cover_Medium.jpg">
            <a:extLst>
              <a:ext uri="{FF2B5EF4-FFF2-40B4-BE49-F238E27FC236}">
                <a16:creationId xmlns:a16="http://schemas.microsoft.com/office/drawing/2014/main" id="{A59149F3-35C9-1B47-8B24-E5115AB52E7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557" y="1863327"/>
            <a:ext cx="4947313" cy="353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yag_second_step5">
            <a:extLst>
              <a:ext uri="{FF2B5EF4-FFF2-40B4-BE49-F238E27FC236}">
                <a16:creationId xmlns:a16="http://schemas.microsoft.com/office/drawing/2014/main" id="{AA135AA8-579A-68F8-18BC-9C2BE5197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6520" y="4084488"/>
            <a:ext cx="2106680" cy="175556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E9672E-FF04-E17C-7791-7AD6A0C5FD31}"/>
              </a:ext>
            </a:extLst>
          </p:cNvPr>
          <p:cNvCxnSpPr>
            <a:cxnSpLocks/>
          </p:cNvCxnSpPr>
          <p:nvPr/>
        </p:nvCxnSpPr>
        <p:spPr>
          <a:xfrm flipH="1">
            <a:off x="1120116" y="4888699"/>
            <a:ext cx="2160797" cy="21092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580CE5-B94C-C09D-9D17-787EF474F39F}"/>
              </a:ext>
            </a:extLst>
          </p:cNvPr>
          <p:cNvSpPr txBox="1"/>
          <p:nvPr/>
        </p:nvSpPr>
        <p:spPr>
          <a:xfrm>
            <a:off x="12325" y="728729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4EC0B8-9A58-AD9D-1BB2-1513CD48ECC4}"/>
              </a:ext>
            </a:extLst>
          </p:cNvPr>
          <p:cNvSpPr txBox="1"/>
          <p:nvPr/>
        </p:nvSpPr>
        <p:spPr>
          <a:xfrm>
            <a:off x="85015" y="1076384"/>
            <a:ext cx="5227638" cy="73866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Measure high-precision acoustic velocities in samples that are too small or opaque for conventional methods (MHz-ultrasonics, Brillouin): Irradiated samples and deformation experiments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82BF2-4689-BE11-F93C-A914273363F3}"/>
              </a:ext>
            </a:extLst>
          </p:cNvPr>
          <p:cNvSpPr txBox="1"/>
          <p:nvPr/>
        </p:nvSpPr>
        <p:spPr>
          <a:xfrm>
            <a:off x="9854561" y="322627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</a:p>
        </p:txBody>
      </p:sp>
      <p:pic>
        <p:nvPicPr>
          <p:cNvPr id="28" name="Picture 27" descr="A picture containing projectile&#10;&#10;Description automatically generated">
            <a:extLst>
              <a:ext uri="{FF2B5EF4-FFF2-40B4-BE49-F238E27FC236}">
                <a16:creationId xmlns:a16="http://schemas.microsoft.com/office/drawing/2014/main" id="{553BD0AF-EC3B-1E58-9925-22191DB0EF6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7184" y="1017654"/>
            <a:ext cx="2844800" cy="2133600"/>
          </a:xfrm>
          <a:prstGeom prst="rect">
            <a:avLst/>
          </a:prstGeom>
        </p:spPr>
      </p:pic>
      <p:pic>
        <p:nvPicPr>
          <p:cNvPr id="29" name="Picture 28" descr="A picture containing text&#10;&#10;Description automatically generated">
            <a:extLst>
              <a:ext uri="{FF2B5EF4-FFF2-40B4-BE49-F238E27FC236}">
                <a16:creationId xmlns:a16="http://schemas.microsoft.com/office/drawing/2014/main" id="{694F5E9A-7043-92B3-FC3D-95B4E732C6D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5343" y="995561"/>
            <a:ext cx="2844801" cy="21336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3F20E14-A540-4155-7A62-38A93C20027A}"/>
              </a:ext>
            </a:extLst>
          </p:cNvPr>
          <p:cNvSpPr txBox="1"/>
          <p:nvPr/>
        </p:nvSpPr>
        <p:spPr>
          <a:xfrm>
            <a:off x="8504617" y="963839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en-US" dirty="0">
                <a:solidFill>
                  <a:schemeClr val="tx2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diameter probe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CD9C6A-727E-07A8-297A-4E750F803DB4}"/>
              </a:ext>
            </a:extLst>
          </p:cNvPr>
          <p:cNvSpPr txBox="1"/>
          <p:nvPr/>
        </p:nvSpPr>
        <p:spPr>
          <a:xfrm>
            <a:off x="5394525" y="95450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P-to-S conversion</a:t>
            </a:r>
          </a:p>
        </p:txBody>
      </p:sp>
      <p:pic>
        <p:nvPicPr>
          <p:cNvPr id="32" name="Picture 31" descr="A picture containing text, electronics, worktable&#10;&#10;Description automatically generated">
            <a:extLst>
              <a:ext uri="{FF2B5EF4-FFF2-40B4-BE49-F238E27FC236}">
                <a16:creationId xmlns:a16="http://schemas.microsoft.com/office/drawing/2014/main" id="{F0E5D897-99F9-4E0C-A857-C4BBC725C11A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5343" y="3305980"/>
            <a:ext cx="4469218" cy="335191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CF5CF85-58DB-F736-5B7D-BBB658DF070A}"/>
              </a:ext>
            </a:extLst>
          </p:cNvPr>
          <p:cNvSpPr txBox="1"/>
          <p:nvPr/>
        </p:nvSpPr>
        <p:spPr>
          <a:xfrm>
            <a:off x="9907971" y="3595611"/>
            <a:ext cx="2008417" cy="246221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conjunction with sample-length interferometry, we can use GHz P-wave and S-wave measurements to determine highly accurate elastic constants in sub-mm crystals, glasses, and nanopolycrystalline materials.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8DFA4D-0257-AF24-ED04-0E44C4831426}"/>
              </a:ext>
            </a:extLst>
          </p:cNvPr>
          <p:cNvSpPr txBox="1"/>
          <p:nvPr/>
        </p:nvSpPr>
        <p:spPr>
          <a:xfrm>
            <a:off x="2270723" y="5396907"/>
            <a:ext cx="30879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Developed thin-film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ZnO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transducers to produce acoustic waves with near-optical wavelength at 1-2 GHz</a:t>
            </a:r>
          </a:p>
        </p:txBody>
      </p:sp>
    </p:spTree>
    <p:extLst>
      <p:ext uri="{BB962C8B-B14F-4D97-AF65-F5344CB8AC3E}">
        <p14:creationId xmlns:p14="http://schemas.microsoft.com/office/powerpoint/2010/main" val="1548008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A486-042B-B703-C3D7-0CA4392B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03AC7981-1C5C-D8CD-E103-8DD680B9D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D510F059-D7EF-C36B-1180-02C93D3F1A5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795" y="6198087"/>
            <a:ext cx="1647405" cy="52206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CC0198-64FC-6B72-B0F1-53C0627E2821}"/>
              </a:ext>
            </a:extLst>
          </p:cNvPr>
          <p:cNvCxnSpPr/>
          <p:nvPr/>
        </p:nvCxnSpPr>
        <p:spPr>
          <a:xfrm>
            <a:off x="-4009" y="687310"/>
            <a:ext cx="1219041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402DAA6-C680-20FD-B7A2-8773DDF2DE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10783" y="6198087"/>
            <a:ext cx="703974" cy="522066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06071124-E16B-ACC9-261F-A7EB26B53514}"/>
              </a:ext>
            </a:extLst>
          </p:cNvPr>
          <p:cNvSpPr txBox="1"/>
          <p:nvPr/>
        </p:nvSpPr>
        <p:spPr>
          <a:xfrm>
            <a:off x="9890934" y="95322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I. 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CAEE2E6-9A29-8532-22D9-D375E079005F}"/>
              </a:ext>
            </a:extLst>
          </p:cNvPr>
          <p:cNvSpPr txBox="1"/>
          <p:nvPr/>
        </p:nvSpPr>
        <p:spPr>
          <a:xfrm>
            <a:off x="9890932" y="379585"/>
            <a:ext cx="2148693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Future Directions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FEAF2307-36D5-7993-DBA6-88BE8D03FED1}"/>
              </a:ext>
            </a:extLst>
          </p:cNvPr>
          <p:cNvSpPr txBox="1">
            <a:spLocks/>
          </p:cNvSpPr>
          <p:nvPr/>
        </p:nvSpPr>
        <p:spPr>
          <a:xfrm>
            <a:off x="85015" y="93688"/>
            <a:ext cx="10980760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GHz-ultrasonics: a unique capability of the Center 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13151081-CF96-E70A-2C72-753648AD50F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8733" y="2696333"/>
            <a:ext cx="18113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AC3B54CD-95AB-3BF0-5078-B1BED98950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311" y="4298973"/>
            <a:ext cx="2341658" cy="20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>
            <a:extLst>
              <a:ext uri="{FF2B5EF4-FFF2-40B4-BE49-F238E27FC236}">
                <a16:creationId xmlns:a16="http://schemas.microsoft.com/office/drawing/2014/main" id="{92D471CD-3E3A-222B-7DAF-F14B98F4C5D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1592" y="1492816"/>
            <a:ext cx="1840460" cy="1578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6">
            <a:extLst>
              <a:ext uri="{FF2B5EF4-FFF2-40B4-BE49-F238E27FC236}">
                <a16:creationId xmlns:a16="http://schemas.microsoft.com/office/drawing/2014/main" id="{A5EF6C0A-41A7-62D2-DB38-C9676DD3E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497" y="2239133"/>
            <a:ext cx="190949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Acetaminophen </a:t>
            </a:r>
          </a:p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(RDX analog) elastic tensor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E79DA443-0B09-8502-A3F9-C3AD58DF7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1493" y="1106495"/>
            <a:ext cx="301643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Anomalous compression of </a:t>
            </a:r>
            <a:r>
              <a:rPr lang="en-US" altLang="en-US" sz="11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-SiO</a:t>
            </a:r>
            <a:r>
              <a:rPr lang="en-US" altLang="en-US" sz="1100" b="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FA8661B1-AF4C-222B-B039-FA149F5AB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953" y="4058653"/>
            <a:ext cx="15398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NPD</a:t>
            </a:r>
            <a:endParaRPr lang="en-US" altLang="en-US" sz="1100" b="0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1B8A31-0FAE-4F10-A6BF-47BBD858E05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37"/>
          <a:stretch/>
        </p:blipFill>
        <p:spPr bwMode="auto">
          <a:xfrm>
            <a:off x="148528" y="1254101"/>
            <a:ext cx="2442742" cy="16008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32443A8-5F7F-521D-CAC0-1B012869922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12" y="2901388"/>
            <a:ext cx="2442742" cy="227989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CAD4DD5-7385-B2F1-8F12-32EF0356F1CB}"/>
              </a:ext>
            </a:extLst>
          </p:cNvPr>
          <p:cNvSpPr txBox="1"/>
          <p:nvPr/>
        </p:nvSpPr>
        <p:spPr>
          <a:xfrm>
            <a:off x="371640" y="838374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Opaque Crystals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E66055-5568-6F7B-584F-8B70BEAD1DF2}"/>
              </a:ext>
            </a:extLst>
          </p:cNvPr>
          <p:cNvSpPr txBox="1"/>
          <p:nvPr/>
        </p:nvSpPr>
        <p:spPr>
          <a:xfrm>
            <a:off x="3152497" y="1916379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Molecular Crystals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E77A51A-BCCD-90A4-C86A-BC071F80E52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7802" y="4593484"/>
            <a:ext cx="2782033" cy="21056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C762F8C-5BF1-F1F9-A1E5-E18AFE7250AA}"/>
              </a:ext>
            </a:extLst>
          </p:cNvPr>
          <p:cNvSpPr txBox="1"/>
          <p:nvPr/>
        </p:nvSpPr>
        <p:spPr>
          <a:xfrm>
            <a:off x="5642208" y="9183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Superhard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Materials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5EAFE1-6D0E-B23D-40F5-6EBCCCC86021}"/>
              </a:ext>
            </a:extLst>
          </p:cNvPr>
          <p:cNvSpPr txBox="1"/>
          <p:nvPr/>
        </p:nvSpPr>
        <p:spPr>
          <a:xfrm>
            <a:off x="5689835" y="3729608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Nanocrystalline Materials</a:t>
            </a: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F0033C09-018D-8E27-35FD-AC734F63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23" y="6357153"/>
            <a:ext cx="222048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 et al. (2014) PEPI 228:47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89DF7F7-0EEC-3381-4847-A3E82768C6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8685" y="1320001"/>
            <a:ext cx="2504153" cy="1742020"/>
          </a:xfrm>
          <a:prstGeom prst="rect">
            <a:avLst/>
          </a:prstGeom>
        </p:spPr>
      </p:pic>
      <p:sp>
        <p:nvSpPr>
          <p:cNvPr id="37" name="TextBox 6">
            <a:extLst>
              <a:ext uri="{FF2B5EF4-FFF2-40B4-BE49-F238E27FC236}">
                <a16:creationId xmlns:a16="http://schemas.microsoft.com/office/drawing/2014/main" id="{6723AB93-D417-A46C-EE1D-1B8EFB8F8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431" y="3071650"/>
            <a:ext cx="22445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Liu et al. (2017) Sci Rep 7:42921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4CD9C56E-4B11-0AC9-9490-3C44FBD02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7" y="5202863"/>
            <a:ext cx="2610268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Jacobsen et al. (2004) PNAS 101:5867</a:t>
            </a:r>
          </a:p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(note: this study shown because it informs the current ZFSP project)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D75FB4-7A78-68FE-D5EF-75744CBBA243}"/>
              </a:ext>
            </a:extLst>
          </p:cNvPr>
          <p:cNvSpPr txBox="1"/>
          <p:nvPr/>
        </p:nvSpPr>
        <p:spPr>
          <a:xfrm>
            <a:off x="9220571" y="779343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Amorphous Materials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28987E4-488D-2435-ABB3-A3002F4AEBB6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2814" y="1455796"/>
            <a:ext cx="1946812" cy="1615854"/>
          </a:xfrm>
          <a:prstGeom prst="rect">
            <a:avLst/>
          </a:prstGeom>
        </p:spPr>
      </p:pic>
      <p:sp>
        <p:nvSpPr>
          <p:cNvPr id="41" name="TextBox 6">
            <a:extLst>
              <a:ext uri="{FF2B5EF4-FFF2-40B4-BE49-F238E27FC236}">
                <a16:creationId xmlns:a16="http://schemas.microsoft.com/office/drawing/2014/main" id="{0C06D30A-5971-34BB-88FC-1D814C3FB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5727" y="3065556"/>
            <a:ext cx="233910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Clark et al. (2014) PRB 90:174110</a:t>
            </a: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9EC307F3-F48E-5B5F-EACD-253C8C9CD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864" y="4162949"/>
            <a:ext cx="253018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collaboration with K. Ramos and C. </a:t>
            </a:r>
            <a:r>
              <a:rPr lang="en-US" altLang="en-US" sz="11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Bolme</a:t>
            </a:r>
            <a:r>
              <a:rPr lang="en-US" alt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LANL (work in prep)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880C05-67D4-9E4B-FAE1-35954E9648E7}"/>
              </a:ext>
            </a:extLst>
          </p:cNvPr>
          <p:cNvSpPr txBox="1"/>
          <p:nvPr/>
        </p:nvSpPr>
        <p:spPr>
          <a:xfrm>
            <a:off x="9096284" y="352692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DIRECTION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53A851-B7E7-A7D3-76D7-FB3ED23B49B5}"/>
              </a:ext>
            </a:extLst>
          </p:cNvPr>
          <p:cNvSpPr txBox="1"/>
          <p:nvPr/>
        </p:nvSpPr>
        <p:spPr>
          <a:xfrm>
            <a:off x="8567733" y="3948112"/>
            <a:ext cx="3475102" cy="206210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CDAC Partners Jacobsen (CU Boulder), Lowell Miyagi (Utah) and Maik Lang (Tennessee) plan to collaborate on using GHz-ultrasonics to determine the ambient shear modulus for dynamic-DAC data interpretation, deformation experiments, and irradiated samples 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3D3FCB1-11C4-E490-3573-BBB1FB70B922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3718" y="925604"/>
            <a:ext cx="1909497" cy="100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6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5C9D-8CD6-C7AD-D79B-CD190241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CF1B7DA6-52E2-F21B-3795-B7C74902A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47" y="2420901"/>
            <a:ext cx="11619053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Thrust 3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3300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Multiple Extremes: Technique Development; Next Steps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endParaRPr lang="en-US" sz="15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Maik Lang, University of Tennessee, 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mlang2@utk.edu</a:t>
            </a:r>
            <a:endParaRPr lang="en-US" sz="25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Elif Ertekin, University of Illinois Urbana-Champaign, 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ertekin@illinois.edu</a:t>
            </a:r>
            <a:r>
              <a:rPr lang="en-US" sz="2500" i="1" dirty="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  </a:t>
            </a:r>
            <a:endParaRPr lang="en-US" sz="3300" i="1" dirty="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EED16-7E86-6ECB-458C-4617EBEB159A}"/>
              </a:ext>
            </a:extLst>
          </p:cNvPr>
          <p:cNvSpPr txBox="1"/>
          <p:nvPr/>
        </p:nvSpPr>
        <p:spPr>
          <a:xfrm>
            <a:off x="8315576" y="5184981"/>
            <a:ext cx="4266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Stewardship Science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Academic Alliances</a:t>
            </a:r>
          </a:p>
        </p:txBody>
      </p:sp>
      <p:pic>
        <p:nvPicPr>
          <p:cNvPr id="23" name="Picture 8" descr="NNSA1">
            <a:extLst>
              <a:ext uri="{FF2B5EF4-FFF2-40B4-BE49-F238E27FC236}">
                <a16:creationId xmlns:a16="http://schemas.microsoft.com/office/drawing/2014/main" id="{AA1E5CB6-83E6-DF97-90FA-B0302B5EA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95414" y="5981606"/>
            <a:ext cx="2895600" cy="65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A02FE037-9BF3-7EA6-D5CD-DB3AB444F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86" y="5892867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Center Review Meeting</a:t>
            </a:r>
          </a:p>
          <a:p>
            <a:pPr>
              <a:lnSpc>
                <a:spcPct val="90000"/>
              </a:lnSpc>
              <a:spcBef>
                <a:spcPct val="20000"/>
              </a:spcBef>
              <a:buSzPct val="70000"/>
              <a:defRPr/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/>
                <a:cs typeface="Arial"/>
              </a:rPr>
              <a:t>April 15, 2026 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596D2A9D-197F-9B0D-15B8-F167107FE2B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3542" y="444277"/>
            <a:ext cx="3142486" cy="995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A643D-04E7-8BB3-6059-DC821FC46DA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6328" y="4753850"/>
            <a:ext cx="1287636" cy="862262"/>
          </a:xfrm>
          <a:prstGeom prst="rect">
            <a:avLst/>
          </a:prstGeom>
        </p:spPr>
      </p:pic>
      <p:pic>
        <p:nvPicPr>
          <p:cNvPr id="1026" name="Picture 2" descr="2024 BEIC Fellows">
            <a:extLst>
              <a:ext uri="{FF2B5EF4-FFF2-40B4-BE49-F238E27FC236}">
                <a16:creationId xmlns:a16="http://schemas.microsoft.com/office/drawing/2014/main" id="{B7A26D8A-BA3A-9EAA-442F-3986A3391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9895" y="4852456"/>
            <a:ext cx="1986133" cy="81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467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0316-A36B-F704-EACA-C62F44E5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872F804A-8C6B-5515-6B26-7ACFA8635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E78B5-BCD1-7FFE-8B65-CB672EDF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E1751C3-604F-B29E-B5F5-DC46ECC2B97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EBA342-ECFD-AE93-8F38-8FB0AB9D041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E016017B-8731-6B7E-C00D-45A9CBF2EF40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559075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Advanced Approach to Couple Extremes  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F12118B-3F03-2BBB-FEBA-E84545253EAC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1453D-6118-C2BA-B62E-26F4DBD1D657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01479-EB7C-53CA-8B56-E51B8E15286C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EBC8E183-CAD6-A44C-DB94-CAFA4D98C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5118" y="1117718"/>
            <a:ext cx="1366346" cy="902880"/>
          </a:xfrm>
          <a:prstGeom prst="rect">
            <a:avLst/>
          </a:prstGeom>
          <a:noFill/>
          <a:ln w="38100" algn="ctr">
            <a:solidFill>
              <a:srgbClr val="008000"/>
            </a:solidFill>
            <a:miter lim="800000"/>
            <a:headEnd/>
            <a:tailEnd/>
          </a:ln>
        </p:spPr>
      </p:pic>
      <p:pic>
        <p:nvPicPr>
          <p:cNvPr id="6" name="Picture 111" descr="Strahlrohr">
            <a:extLst>
              <a:ext uri="{FF2B5EF4-FFF2-40B4-BE49-F238E27FC236}">
                <a16:creationId xmlns:a16="http://schemas.microsoft.com/office/drawing/2014/main" id="{345074BF-4A30-A01C-11F6-C92EF4BF5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6682" y="1181134"/>
            <a:ext cx="1081864" cy="747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112">
            <a:extLst>
              <a:ext uri="{FF2B5EF4-FFF2-40B4-BE49-F238E27FC236}">
                <a16:creationId xmlns:a16="http://schemas.microsoft.com/office/drawing/2014/main" id="{0BA77CD9-1454-B4B5-1BF7-DA3E339AE2F6}"/>
              </a:ext>
            </a:extLst>
          </p:cNvPr>
          <p:cNvGrpSpPr>
            <a:grpSpLocks/>
          </p:cNvGrpSpPr>
          <p:nvPr/>
        </p:nvGrpSpPr>
        <p:grpSpPr bwMode="auto">
          <a:xfrm>
            <a:off x="746847" y="1422978"/>
            <a:ext cx="2478307" cy="292361"/>
            <a:chOff x="2200" y="2432"/>
            <a:chExt cx="2903" cy="272"/>
          </a:xfrm>
        </p:grpSpPr>
        <p:sp>
          <p:nvSpPr>
            <p:cNvPr id="8" name="AutoShape 113">
              <a:extLst>
                <a:ext uri="{FF2B5EF4-FFF2-40B4-BE49-F238E27FC236}">
                  <a16:creationId xmlns:a16="http://schemas.microsoft.com/office/drawing/2014/main" id="{3FA4C271-4278-43D7-C25F-F7B0EDEC9CE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0" y="2432"/>
              <a:ext cx="2903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Freeform 114">
              <a:extLst>
                <a:ext uri="{FF2B5EF4-FFF2-40B4-BE49-F238E27FC236}">
                  <a16:creationId xmlns:a16="http://schemas.microsoft.com/office/drawing/2014/main" id="{8123B643-B194-CC8E-1F68-94861204C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13"/>
              <a:ext cx="25" cy="16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5" y="147"/>
                  </a:moveTo>
                  <a:lnTo>
                    <a:pt x="82" y="147"/>
                  </a:lnTo>
                  <a:lnTo>
                    <a:pt x="90" y="145"/>
                  </a:lnTo>
                  <a:lnTo>
                    <a:pt x="97" y="143"/>
                  </a:lnTo>
                  <a:lnTo>
                    <a:pt x="103" y="141"/>
                  </a:lnTo>
                  <a:lnTo>
                    <a:pt x="110" y="138"/>
                  </a:lnTo>
                  <a:lnTo>
                    <a:pt x="116" y="134"/>
                  </a:lnTo>
                  <a:lnTo>
                    <a:pt x="122" y="129"/>
                  </a:lnTo>
                  <a:lnTo>
                    <a:pt x="127" y="125"/>
                  </a:lnTo>
                  <a:lnTo>
                    <a:pt x="131" y="120"/>
                  </a:lnTo>
                  <a:lnTo>
                    <a:pt x="136" y="114"/>
                  </a:lnTo>
                  <a:lnTo>
                    <a:pt x="140" y="108"/>
                  </a:lnTo>
                  <a:lnTo>
                    <a:pt x="143" y="102"/>
                  </a:lnTo>
                  <a:lnTo>
                    <a:pt x="146" y="95"/>
                  </a:lnTo>
                  <a:lnTo>
                    <a:pt x="148" y="88"/>
                  </a:lnTo>
                  <a:lnTo>
                    <a:pt x="149" y="81"/>
                  </a:lnTo>
                  <a:lnTo>
                    <a:pt x="149" y="74"/>
                  </a:lnTo>
                  <a:lnTo>
                    <a:pt x="149" y="66"/>
                  </a:lnTo>
                  <a:lnTo>
                    <a:pt x="148" y="59"/>
                  </a:lnTo>
                  <a:lnTo>
                    <a:pt x="146" y="51"/>
                  </a:lnTo>
                  <a:lnTo>
                    <a:pt x="143" y="45"/>
                  </a:lnTo>
                  <a:lnTo>
                    <a:pt x="140" y="38"/>
                  </a:lnTo>
                  <a:lnTo>
                    <a:pt x="136" y="32"/>
                  </a:lnTo>
                  <a:lnTo>
                    <a:pt x="131" y="26"/>
                  </a:lnTo>
                  <a:lnTo>
                    <a:pt x="127" y="21"/>
                  </a:lnTo>
                  <a:lnTo>
                    <a:pt x="122" y="17"/>
                  </a:lnTo>
                  <a:lnTo>
                    <a:pt x="116" y="13"/>
                  </a:lnTo>
                  <a:lnTo>
                    <a:pt x="110" y="9"/>
                  </a:lnTo>
                  <a:lnTo>
                    <a:pt x="103" y="6"/>
                  </a:lnTo>
                  <a:lnTo>
                    <a:pt x="97" y="3"/>
                  </a:lnTo>
                  <a:lnTo>
                    <a:pt x="90" y="2"/>
                  </a:lnTo>
                  <a:lnTo>
                    <a:pt x="82" y="1"/>
                  </a:ln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1" y="21"/>
                  </a:lnTo>
                  <a:lnTo>
                    <a:pt x="17" y="26"/>
                  </a:lnTo>
                  <a:lnTo>
                    <a:pt x="13" y="32"/>
                  </a:lnTo>
                  <a:lnTo>
                    <a:pt x="9" y="38"/>
                  </a:lnTo>
                  <a:lnTo>
                    <a:pt x="6" y="45"/>
                  </a:lnTo>
                  <a:lnTo>
                    <a:pt x="3" y="51"/>
                  </a:lnTo>
                  <a:lnTo>
                    <a:pt x="2" y="59"/>
                  </a:lnTo>
                  <a:lnTo>
                    <a:pt x="1" y="66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2" y="88"/>
                  </a:lnTo>
                  <a:lnTo>
                    <a:pt x="3" y="95"/>
                  </a:lnTo>
                  <a:lnTo>
                    <a:pt x="6" y="102"/>
                  </a:lnTo>
                  <a:lnTo>
                    <a:pt x="9" y="108"/>
                  </a:lnTo>
                  <a:lnTo>
                    <a:pt x="13" y="114"/>
                  </a:lnTo>
                  <a:lnTo>
                    <a:pt x="17" y="120"/>
                  </a:lnTo>
                  <a:lnTo>
                    <a:pt x="21" y="125"/>
                  </a:lnTo>
                  <a:lnTo>
                    <a:pt x="27" y="129"/>
                  </a:lnTo>
                  <a:lnTo>
                    <a:pt x="33" y="134"/>
                  </a:lnTo>
                  <a:lnTo>
                    <a:pt x="39" y="138"/>
                  </a:lnTo>
                  <a:lnTo>
                    <a:pt x="45" y="141"/>
                  </a:lnTo>
                  <a:lnTo>
                    <a:pt x="52" y="143"/>
                  </a:lnTo>
                  <a:lnTo>
                    <a:pt x="60" y="145"/>
                  </a:lnTo>
                  <a:lnTo>
                    <a:pt x="67" y="147"/>
                  </a:lnTo>
                  <a:lnTo>
                    <a:pt x="75" y="147"/>
                  </a:lnTo>
                  <a:close/>
                </a:path>
              </a:pathLst>
            </a:cu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sp>
          <p:nvSpPr>
            <p:cNvPr id="11" name="Freeform 115">
              <a:extLst>
                <a:ext uri="{FF2B5EF4-FFF2-40B4-BE49-F238E27FC236}">
                  <a16:creationId xmlns:a16="http://schemas.microsoft.com/office/drawing/2014/main" id="{9A4F601E-0297-F5C2-B0D4-ABF7FF087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13"/>
              <a:ext cx="25" cy="16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5" y="147"/>
                  </a:moveTo>
                  <a:lnTo>
                    <a:pt x="82" y="147"/>
                  </a:lnTo>
                  <a:lnTo>
                    <a:pt x="90" y="145"/>
                  </a:lnTo>
                  <a:lnTo>
                    <a:pt x="97" y="143"/>
                  </a:lnTo>
                  <a:lnTo>
                    <a:pt x="103" y="141"/>
                  </a:lnTo>
                  <a:lnTo>
                    <a:pt x="110" y="138"/>
                  </a:lnTo>
                  <a:lnTo>
                    <a:pt x="116" y="134"/>
                  </a:lnTo>
                  <a:lnTo>
                    <a:pt x="122" y="129"/>
                  </a:lnTo>
                  <a:lnTo>
                    <a:pt x="127" y="125"/>
                  </a:lnTo>
                  <a:lnTo>
                    <a:pt x="131" y="120"/>
                  </a:lnTo>
                  <a:lnTo>
                    <a:pt x="136" y="114"/>
                  </a:lnTo>
                  <a:lnTo>
                    <a:pt x="140" y="108"/>
                  </a:lnTo>
                  <a:lnTo>
                    <a:pt x="143" y="102"/>
                  </a:lnTo>
                  <a:lnTo>
                    <a:pt x="146" y="95"/>
                  </a:lnTo>
                  <a:lnTo>
                    <a:pt x="148" y="88"/>
                  </a:lnTo>
                  <a:lnTo>
                    <a:pt x="149" y="81"/>
                  </a:lnTo>
                  <a:lnTo>
                    <a:pt x="149" y="74"/>
                  </a:lnTo>
                  <a:lnTo>
                    <a:pt x="149" y="66"/>
                  </a:lnTo>
                  <a:lnTo>
                    <a:pt x="148" y="59"/>
                  </a:lnTo>
                  <a:lnTo>
                    <a:pt x="146" y="51"/>
                  </a:lnTo>
                  <a:lnTo>
                    <a:pt x="143" y="45"/>
                  </a:lnTo>
                  <a:lnTo>
                    <a:pt x="140" y="38"/>
                  </a:lnTo>
                  <a:lnTo>
                    <a:pt x="136" y="32"/>
                  </a:lnTo>
                  <a:lnTo>
                    <a:pt x="131" y="26"/>
                  </a:lnTo>
                  <a:lnTo>
                    <a:pt x="127" y="21"/>
                  </a:lnTo>
                  <a:lnTo>
                    <a:pt x="122" y="17"/>
                  </a:lnTo>
                  <a:lnTo>
                    <a:pt x="116" y="13"/>
                  </a:lnTo>
                  <a:lnTo>
                    <a:pt x="110" y="9"/>
                  </a:lnTo>
                  <a:lnTo>
                    <a:pt x="103" y="6"/>
                  </a:lnTo>
                  <a:lnTo>
                    <a:pt x="97" y="3"/>
                  </a:lnTo>
                  <a:lnTo>
                    <a:pt x="90" y="2"/>
                  </a:lnTo>
                  <a:lnTo>
                    <a:pt x="82" y="1"/>
                  </a:ln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1" y="21"/>
                  </a:lnTo>
                  <a:lnTo>
                    <a:pt x="17" y="26"/>
                  </a:lnTo>
                  <a:lnTo>
                    <a:pt x="13" y="32"/>
                  </a:lnTo>
                  <a:lnTo>
                    <a:pt x="9" y="38"/>
                  </a:lnTo>
                  <a:lnTo>
                    <a:pt x="6" y="45"/>
                  </a:lnTo>
                  <a:lnTo>
                    <a:pt x="3" y="51"/>
                  </a:lnTo>
                  <a:lnTo>
                    <a:pt x="2" y="59"/>
                  </a:lnTo>
                  <a:lnTo>
                    <a:pt x="1" y="66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2" y="88"/>
                  </a:lnTo>
                  <a:lnTo>
                    <a:pt x="3" y="95"/>
                  </a:lnTo>
                  <a:lnTo>
                    <a:pt x="6" y="102"/>
                  </a:lnTo>
                  <a:lnTo>
                    <a:pt x="9" y="108"/>
                  </a:lnTo>
                  <a:lnTo>
                    <a:pt x="13" y="114"/>
                  </a:lnTo>
                  <a:lnTo>
                    <a:pt x="17" y="120"/>
                  </a:lnTo>
                  <a:lnTo>
                    <a:pt x="21" y="125"/>
                  </a:lnTo>
                  <a:lnTo>
                    <a:pt x="27" y="129"/>
                  </a:lnTo>
                  <a:lnTo>
                    <a:pt x="33" y="134"/>
                  </a:lnTo>
                  <a:lnTo>
                    <a:pt x="39" y="138"/>
                  </a:lnTo>
                  <a:lnTo>
                    <a:pt x="45" y="141"/>
                  </a:lnTo>
                  <a:lnTo>
                    <a:pt x="52" y="143"/>
                  </a:lnTo>
                  <a:lnTo>
                    <a:pt x="60" y="145"/>
                  </a:lnTo>
                  <a:lnTo>
                    <a:pt x="67" y="147"/>
                  </a:lnTo>
                  <a:lnTo>
                    <a:pt x="75" y="147"/>
                  </a:lnTo>
                  <a:close/>
                </a:path>
              </a:pathLst>
            </a:custGeom>
            <a:noFill/>
            <a:ln w="7938">
              <a:solidFill>
                <a:srgbClr val="2A2A29"/>
              </a:solidFill>
              <a:round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sp>
          <p:nvSpPr>
            <p:cNvPr id="12" name="Freeform 116">
              <a:extLst>
                <a:ext uri="{FF2B5EF4-FFF2-40B4-BE49-F238E27FC236}">
                  <a16:creationId xmlns:a16="http://schemas.microsoft.com/office/drawing/2014/main" id="{1CD2AE18-1D61-4E9F-2C4A-F93F6413D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2569"/>
              <a:ext cx="25" cy="17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4" y="147"/>
                  </a:moveTo>
                  <a:lnTo>
                    <a:pt x="82" y="146"/>
                  </a:lnTo>
                  <a:lnTo>
                    <a:pt x="90" y="144"/>
                  </a:lnTo>
                  <a:lnTo>
                    <a:pt x="97" y="143"/>
                  </a:lnTo>
                  <a:lnTo>
                    <a:pt x="104" y="140"/>
                  </a:lnTo>
                  <a:lnTo>
                    <a:pt x="110" y="137"/>
                  </a:lnTo>
                  <a:lnTo>
                    <a:pt x="117" y="134"/>
                  </a:lnTo>
                  <a:lnTo>
                    <a:pt x="122" y="129"/>
                  </a:lnTo>
                  <a:lnTo>
                    <a:pt x="128" y="125"/>
                  </a:lnTo>
                  <a:lnTo>
                    <a:pt x="132" y="120"/>
                  </a:lnTo>
                  <a:lnTo>
                    <a:pt x="136" y="113"/>
                  </a:lnTo>
                  <a:lnTo>
                    <a:pt x="141" y="108"/>
                  </a:lnTo>
                  <a:lnTo>
                    <a:pt x="143" y="102"/>
                  </a:lnTo>
                  <a:lnTo>
                    <a:pt x="146" y="95"/>
                  </a:lnTo>
                  <a:lnTo>
                    <a:pt x="147" y="88"/>
                  </a:lnTo>
                  <a:lnTo>
                    <a:pt x="148" y="80"/>
                  </a:lnTo>
                  <a:lnTo>
                    <a:pt x="149" y="73"/>
                  </a:lnTo>
                  <a:lnTo>
                    <a:pt x="148" y="65"/>
                  </a:lnTo>
                  <a:lnTo>
                    <a:pt x="147" y="58"/>
                  </a:lnTo>
                  <a:lnTo>
                    <a:pt x="146" y="51"/>
                  </a:lnTo>
                  <a:lnTo>
                    <a:pt x="143" y="45"/>
                  </a:lnTo>
                  <a:lnTo>
                    <a:pt x="141" y="38"/>
                  </a:lnTo>
                  <a:lnTo>
                    <a:pt x="136" y="32"/>
                  </a:lnTo>
                  <a:lnTo>
                    <a:pt x="132" y="27"/>
                  </a:lnTo>
                  <a:lnTo>
                    <a:pt x="128" y="21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8"/>
                  </a:lnTo>
                  <a:lnTo>
                    <a:pt x="104" y="5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4" y="0"/>
                  </a:lnTo>
                  <a:lnTo>
                    <a:pt x="67" y="0"/>
                  </a:lnTo>
                  <a:lnTo>
                    <a:pt x="60" y="1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39" y="8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2" y="21"/>
                  </a:lnTo>
                  <a:lnTo>
                    <a:pt x="18" y="27"/>
                  </a:lnTo>
                  <a:lnTo>
                    <a:pt x="13" y="32"/>
                  </a:lnTo>
                  <a:lnTo>
                    <a:pt x="9" y="38"/>
                  </a:lnTo>
                  <a:lnTo>
                    <a:pt x="6" y="45"/>
                  </a:lnTo>
                  <a:lnTo>
                    <a:pt x="4" y="51"/>
                  </a:lnTo>
                  <a:lnTo>
                    <a:pt x="2" y="58"/>
                  </a:lnTo>
                  <a:lnTo>
                    <a:pt x="0" y="65"/>
                  </a:lnTo>
                  <a:lnTo>
                    <a:pt x="0" y="73"/>
                  </a:lnTo>
                  <a:lnTo>
                    <a:pt x="0" y="80"/>
                  </a:lnTo>
                  <a:lnTo>
                    <a:pt x="2" y="88"/>
                  </a:lnTo>
                  <a:lnTo>
                    <a:pt x="4" y="95"/>
                  </a:lnTo>
                  <a:lnTo>
                    <a:pt x="6" y="102"/>
                  </a:lnTo>
                  <a:lnTo>
                    <a:pt x="9" y="108"/>
                  </a:lnTo>
                  <a:lnTo>
                    <a:pt x="13" y="113"/>
                  </a:lnTo>
                  <a:lnTo>
                    <a:pt x="18" y="120"/>
                  </a:lnTo>
                  <a:lnTo>
                    <a:pt x="22" y="125"/>
                  </a:lnTo>
                  <a:lnTo>
                    <a:pt x="28" y="129"/>
                  </a:lnTo>
                  <a:lnTo>
                    <a:pt x="33" y="134"/>
                  </a:lnTo>
                  <a:lnTo>
                    <a:pt x="39" y="137"/>
                  </a:lnTo>
                  <a:lnTo>
                    <a:pt x="46" y="140"/>
                  </a:lnTo>
                  <a:lnTo>
                    <a:pt x="53" y="143"/>
                  </a:lnTo>
                  <a:lnTo>
                    <a:pt x="60" y="144"/>
                  </a:lnTo>
                  <a:lnTo>
                    <a:pt x="67" y="146"/>
                  </a:lnTo>
                  <a:lnTo>
                    <a:pt x="74" y="147"/>
                  </a:lnTo>
                  <a:close/>
                </a:path>
              </a:pathLst>
            </a:cu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sp>
          <p:nvSpPr>
            <p:cNvPr id="13" name="Freeform 117">
              <a:extLst>
                <a:ext uri="{FF2B5EF4-FFF2-40B4-BE49-F238E27FC236}">
                  <a16:creationId xmlns:a16="http://schemas.microsoft.com/office/drawing/2014/main" id="{E7503869-7CAA-7A78-C7F8-24F813D94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2569"/>
              <a:ext cx="25" cy="17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4" y="147"/>
                  </a:moveTo>
                  <a:lnTo>
                    <a:pt x="82" y="146"/>
                  </a:lnTo>
                  <a:lnTo>
                    <a:pt x="90" y="144"/>
                  </a:lnTo>
                  <a:lnTo>
                    <a:pt x="97" y="143"/>
                  </a:lnTo>
                  <a:lnTo>
                    <a:pt x="104" y="140"/>
                  </a:lnTo>
                  <a:lnTo>
                    <a:pt x="110" y="137"/>
                  </a:lnTo>
                  <a:lnTo>
                    <a:pt x="117" y="134"/>
                  </a:lnTo>
                  <a:lnTo>
                    <a:pt x="122" y="129"/>
                  </a:lnTo>
                  <a:lnTo>
                    <a:pt x="128" y="125"/>
                  </a:lnTo>
                  <a:lnTo>
                    <a:pt x="132" y="120"/>
                  </a:lnTo>
                  <a:lnTo>
                    <a:pt x="136" y="113"/>
                  </a:lnTo>
                  <a:lnTo>
                    <a:pt x="141" y="108"/>
                  </a:lnTo>
                  <a:lnTo>
                    <a:pt x="143" y="102"/>
                  </a:lnTo>
                  <a:lnTo>
                    <a:pt x="146" y="95"/>
                  </a:lnTo>
                  <a:lnTo>
                    <a:pt x="147" y="88"/>
                  </a:lnTo>
                  <a:lnTo>
                    <a:pt x="148" y="80"/>
                  </a:lnTo>
                  <a:lnTo>
                    <a:pt x="149" y="73"/>
                  </a:lnTo>
                  <a:lnTo>
                    <a:pt x="148" y="65"/>
                  </a:lnTo>
                  <a:lnTo>
                    <a:pt x="147" y="58"/>
                  </a:lnTo>
                  <a:lnTo>
                    <a:pt x="146" y="51"/>
                  </a:lnTo>
                  <a:lnTo>
                    <a:pt x="143" y="45"/>
                  </a:lnTo>
                  <a:lnTo>
                    <a:pt x="141" y="38"/>
                  </a:lnTo>
                  <a:lnTo>
                    <a:pt x="136" y="32"/>
                  </a:lnTo>
                  <a:lnTo>
                    <a:pt x="132" y="27"/>
                  </a:lnTo>
                  <a:lnTo>
                    <a:pt x="128" y="21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8"/>
                  </a:lnTo>
                  <a:lnTo>
                    <a:pt x="104" y="5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4" y="0"/>
                  </a:lnTo>
                  <a:lnTo>
                    <a:pt x="67" y="0"/>
                  </a:lnTo>
                  <a:lnTo>
                    <a:pt x="60" y="1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39" y="8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2" y="21"/>
                  </a:lnTo>
                  <a:lnTo>
                    <a:pt x="18" y="27"/>
                  </a:lnTo>
                  <a:lnTo>
                    <a:pt x="13" y="32"/>
                  </a:lnTo>
                  <a:lnTo>
                    <a:pt x="9" y="38"/>
                  </a:lnTo>
                  <a:lnTo>
                    <a:pt x="6" y="45"/>
                  </a:lnTo>
                  <a:lnTo>
                    <a:pt x="4" y="51"/>
                  </a:lnTo>
                  <a:lnTo>
                    <a:pt x="2" y="58"/>
                  </a:lnTo>
                  <a:lnTo>
                    <a:pt x="0" y="65"/>
                  </a:lnTo>
                  <a:lnTo>
                    <a:pt x="0" y="73"/>
                  </a:lnTo>
                  <a:lnTo>
                    <a:pt x="0" y="80"/>
                  </a:lnTo>
                  <a:lnTo>
                    <a:pt x="2" y="88"/>
                  </a:lnTo>
                  <a:lnTo>
                    <a:pt x="4" y="95"/>
                  </a:lnTo>
                  <a:lnTo>
                    <a:pt x="6" y="102"/>
                  </a:lnTo>
                  <a:lnTo>
                    <a:pt x="9" y="108"/>
                  </a:lnTo>
                  <a:lnTo>
                    <a:pt x="13" y="113"/>
                  </a:lnTo>
                  <a:lnTo>
                    <a:pt x="18" y="120"/>
                  </a:lnTo>
                  <a:lnTo>
                    <a:pt x="22" y="125"/>
                  </a:lnTo>
                  <a:lnTo>
                    <a:pt x="28" y="129"/>
                  </a:lnTo>
                  <a:lnTo>
                    <a:pt x="33" y="134"/>
                  </a:lnTo>
                  <a:lnTo>
                    <a:pt x="39" y="137"/>
                  </a:lnTo>
                  <a:lnTo>
                    <a:pt x="46" y="140"/>
                  </a:lnTo>
                  <a:lnTo>
                    <a:pt x="53" y="143"/>
                  </a:lnTo>
                  <a:lnTo>
                    <a:pt x="60" y="144"/>
                  </a:lnTo>
                  <a:lnTo>
                    <a:pt x="67" y="146"/>
                  </a:lnTo>
                  <a:lnTo>
                    <a:pt x="74" y="147"/>
                  </a:lnTo>
                  <a:close/>
                </a:path>
              </a:pathLst>
            </a:custGeom>
            <a:noFill/>
            <a:ln w="7938">
              <a:solidFill>
                <a:srgbClr val="2A2A29"/>
              </a:solidFill>
              <a:round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pic>
          <p:nvPicPr>
            <p:cNvPr id="14" name="Picture 118">
              <a:extLst>
                <a:ext uri="{FF2B5EF4-FFF2-40B4-BE49-F238E27FC236}">
                  <a16:creationId xmlns:a16="http://schemas.microsoft.com/office/drawing/2014/main" id="{202BBBDE-DB9E-A8AD-18D2-0026A61E7E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2568"/>
              <a:ext cx="2215" cy="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19">
              <a:extLst>
                <a:ext uri="{FF2B5EF4-FFF2-40B4-BE49-F238E27FC236}">
                  <a16:creationId xmlns:a16="http://schemas.microsoft.com/office/drawing/2014/main" id="{CD41ADE1-91D1-3801-5E53-AB6278458B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2" y="2511"/>
              <a:ext cx="2238" cy="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120">
              <a:extLst>
                <a:ext uri="{FF2B5EF4-FFF2-40B4-BE49-F238E27FC236}">
                  <a16:creationId xmlns:a16="http://schemas.microsoft.com/office/drawing/2014/main" id="{72551256-6C4B-D89F-B96C-D108F5400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" y="2432"/>
              <a:ext cx="2741" cy="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121">
              <a:extLst>
                <a:ext uri="{FF2B5EF4-FFF2-40B4-BE49-F238E27FC236}">
                  <a16:creationId xmlns:a16="http://schemas.microsoft.com/office/drawing/2014/main" id="{D8D14DDD-4FDD-B06E-E3D6-A81377270F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2614"/>
              <a:ext cx="2828" cy="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Freeform 122">
              <a:extLst>
                <a:ext uri="{FF2B5EF4-FFF2-40B4-BE49-F238E27FC236}">
                  <a16:creationId xmlns:a16="http://schemas.microsoft.com/office/drawing/2014/main" id="{BF4C9EFE-1BFB-DA0B-E6FA-B508AAE6C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2686"/>
              <a:ext cx="25" cy="17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5" y="147"/>
                  </a:moveTo>
                  <a:lnTo>
                    <a:pt x="83" y="146"/>
                  </a:lnTo>
                  <a:lnTo>
                    <a:pt x="89" y="145"/>
                  </a:lnTo>
                  <a:lnTo>
                    <a:pt x="97" y="144"/>
                  </a:lnTo>
                  <a:lnTo>
                    <a:pt x="103" y="141"/>
                  </a:lnTo>
                  <a:lnTo>
                    <a:pt x="110" y="137"/>
                  </a:lnTo>
                  <a:lnTo>
                    <a:pt x="116" y="134"/>
                  </a:lnTo>
                  <a:lnTo>
                    <a:pt x="122" y="130"/>
                  </a:lnTo>
                  <a:lnTo>
                    <a:pt x="127" y="126"/>
                  </a:lnTo>
                  <a:lnTo>
                    <a:pt x="132" y="120"/>
                  </a:lnTo>
                  <a:lnTo>
                    <a:pt x="136" y="115"/>
                  </a:lnTo>
                  <a:lnTo>
                    <a:pt x="140" y="109"/>
                  </a:lnTo>
                  <a:lnTo>
                    <a:pt x="144" y="102"/>
                  </a:lnTo>
                  <a:lnTo>
                    <a:pt x="146" y="96"/>
                  </a:lnTo>
                  <a:lnTo>
                    <a:pt x="148" y="88"/>
                  </a:lnTo>
                  <a:lnTo>
                    <a:pt x="149" y="81"/>
                  </a:lnTo>
                  <a:lnTo>
                    <a:pt x="149" y="73"/>
                  </a:lnTo>
                  <a:lnTo>
                    <a:pt x="149" y="66"/>
                  </a:lnTo>
                  <a:lnTo>
                    <a:pt x="148" y="59"/>
                  </a:lnTo>
                  <a:lnTo>
                    <a:pt x="146" y="52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6" y="32"/>
                  </a:lnTo>
                  <a:lnTo>
                    <a:pt x="132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6" y="13"/>
                  </a:lnTo>
                  <a:lnTo>
                    <a:pt x="110" y="9"/>
                  </a:lnTo>
                  <a:lnTo>
                    <a:pt x="103" y="6"/>
                  </a:lnTo>
                  <a:lnTo>
                    <a:pt x="97" y="4"/>
                  </a:lnTo>
                  <a:lnTo>
                    <a:pt x="89" y="1"/>
                  </a:lnTo>
                  <a:lnTo>
                    <a:pt x="83" y="0"/>
                  </a:lnTo>
                  <a:lnTo>
                    <a:pt x="75" y="0"/>
                  </a:lnTo>
                  <a:lnTo>
                    <a:pt x="67" y="0"/>
                  </a:lnTo>
                  <a:lnTo>
                    <a:pt x="60" y="1"/>
                  </a:lnTo>
                  <a:lnTo>
                    <a:pt x="52" y="4"/>
                  </a:lnTo>
                  <a:lnTo>
                    <a:pt x="46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2"/>
                  </a:lnTo>
                  <a:lnTo>
                    <a:pt x="10" y="39"/>
                  </a:lnTo>
                  <a:lnTo>
                    <a:pt x="6" y="45"/>
                  </a:lnTo>
                  <a:lnTo>
                    <a:pt x="3" y="52"/>
                  </a:lnTo>
                  <a:lnTo>
                    <a:pt x="2" y="59"/>
                  </a:lnTo>
                  <a:lnTo>
                    <a:pt x="1" y="66"/>
                  </a:lnTo>
                  <a:lnTo>
                    <a:pt x="0" y="73"/>
                  </a:lnTo>
                  <a:lnTo>
                    <a:pt x="1" y="81"/>
                  </a:lnTo>
                  <a:lnTo>
                    <a:pt x="2" y="88"/>
                  </a:lnTo>
                  <a:lnTo>
                    <a:pt x="3" y="96"/>
                  </a:lnTo>
                  <a:lnTo>
                    <a:pt x="6" y="102"/>
                  </a:lnTo>
                  <a:lnTo>
                    <a:pt x="10" y="109"/>
                  </a:lnTo>
                  <a:lnTo>
                    <a:pt x="13" y="115"/>
                  </a:lnTo>
                  <a:lnTo>
                    <a:pt x="17" y="120"/>
                  </a:lnTo>
                  <a:lnTo>
                    <a:pt x="22" y="126"/>
                  </a:lnTo>
                  <a:lnTo>
                    <a:pt x="27" y="130"/>
                  </a:lnTo>
                  <a:lnTo>
                    <a:pt x="33" y="134"/>
                  </a:lnTo>
                  <a:lnTo>
                    <a:pt x="39" y="137"/>
                  </a:lnTo>
                  <a:lnTo>
                    <a:pt x="46" y="141"/>
                  </a:lnTo>
                  <a:lnTo>
                    <a:pt x="52" y="144"/>
                  </a:lnTo>
                  <a:lnTo>
                    <a:pt x="60" y="145"/>
                  </a:lnTo>
                  <a:lnTo>
                    <a:pt x="67" y="146"/>
                  </a:lnTo>
                  <a:lnTo>
                    <a:pt x="75" y="147"/>
                  </a:lnTo>
                  <a:close/>
                </a:path>
              </a:pathLst>
            </a:cu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sp>
          <p:nvSpPr>
            <p:cNvPr id="21" name="Freeform 123">
              <a:extLst>
                <a:ext uri="{FF2B5EF4-FFF2-40B4-BE49-F238E27FC236}">
                  <a16:creationId xmlns:a16="http://schemas.microsoft.com/office/drawing/2014/main" id="{0DA71293-CFD6-F0A3-C5ED-DF4E15318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2686"/>
              <a:ext cx="25" cy="17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5" y="147"/>
                  </a:moveTo>
                  <a:lnTo>
                    <a:pt x="83" y="146"/>
                  </a:lnTo>
                  <a:lnTo>
                    <a:pt x="89" y="145"/>
                  </a:lnTo>
                  <a:lnTo>
                    <a:pt x="97" y="144"/>
                  </a:lnTo>
                  <a:lnTo>
                    <a:pt x="103" y="141"/>
                  </a:lnTo>
                  <a:lnTo>
                    <a:pt x="110" y="137"/>
                  </a:lnTo>
                  <a:lnTo>
                    <a:pt x="116" y="134"/>
                  </a:lnTo>
                  <a:lnTo>
                    <a:pt x="122" y="130"/>
                  </a:lnTo>
                  <a:lnTo>
                    <a:pt x="127" y="126"/>
                  </a:lnTo>
                  <a:lnTo>
                    <a:pt x="132" y="120"/>
                  </a:lnTo>
                  <a:lnTo>
                    <a:pt x="136" y="115"/>
                  </a:lnTo>
                  <a:lnTo>
                    <a:pt x="140" y="109"/>
                  </a:lnTo>
                  <a:lnTo>
                    <a:pt x="144" y="102"/>
                  </a:lnTo>
                  <a:lnTo>
                    <a:pt x="146" y="96"/>
                  </a:lnTo>
                  <a:lnTo>
                    <a:pt x="148" y="88"/>
                  </a:lnTo>
                  <a:lnTo>
                    <a:pt x="149" y="81"/>
                  </a:lnTo>
                  <a:lnTo>
                    <a:pt x="149" y="73"/>
                  </a:lnTo>
                  <a:lnTo>
                    <a:pt x="149" y="66"/>
                  </a:lnTo>
                  <a:lnTo>
                    <a:pt x="148" y="59"/>
                  </a:lnTo>
                  <a:lnTo>
                    <a:pt x="146" y="52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6" y="32"/>
                  </a:lnTo>
                  <a:lnTo>
                    <a:pt x="132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6" y="13"/>
                  </a:lnTo>
                  <a:lnTo>
                    <a:pt x="110" y="9"/>
                  </a:lnTo>
                  <a:lnTo>
                    <a:pt x="103" y="6"/>
                  </a:lnTo>
                  <a:lnTo>
                    <a:pt x="97" y="4"/>
                  </a:lnTo>
                  <a:lnTo>
                    <a:pt x="89" y="1"/>
                  </a:lnTo>
                  <a:lnTo>
                    <a:pt x="83" y="0"/>
                  </a:lnTo>
                  <a:lnTo>
                    <a:pt x="75" y="0"/>
                  </a:lnTo>
                  <a:lnTo>
                    <a:pt x="67" y="0"/>
                  </a:lnTo>
                  <a:lnTo>
                    <a:pt x="60" y="1"/>
                  </a:lnTo>
                  <a:lnTo>
                    <a:pt x="52" y="4"/>
                  </a:lnTo>
                  <a:lnTo>
                    <a:pt x="46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2"/>
                  </a:lnTo>
                  <a:lnTo>
                    <a:pt x="10" y="39"/>
                  </a:lnTo>
                  <a:lnTo>
                    <a:pt x="6" y="45"/>
                  </a:lnTo>
                  <a:lnTo>
                    <a:pt x="3" y="52"/>
                  </a:lnTo>
                  <a:lnTo>
                    <a:pt x="2" y="59"/>
                  </a:lnTo>
                  <a:lnTo>
                    <a:pt x="1" y="66"/>
                  </a:lnTo>
                  <a:lnTo>
                    <a:pt x="0" y="73"/>
                  </a:lnTo>
                  <a:lnTo>
                    <a:pt x="1" y="81"/>
                  </a:lnTo>
                  <a:lnTo>
                    <a:pt x="2" y="88"/>
                  </a:lnTo>
                  <a:lnTo>
                    <a:pt x="3" y="96"/>
                  </a:lnTo>
                  <a:lnTo>
                    <a:pt x="6" y="102"/>
                  </a:lnTo>
                  <a:lnTo>
                    <a:pt x="10" y="109"/>
                  </a:lnTo>
                  <a:lnTo>
                    <a:pt x="13" y="115"/>
                  </a:lnTo>
                  <a:lnTo>
                    <a:pt x="17" y="120"/>
                  </a:lnTo>
                  <a:lnTo>
                    <a:pt x="22" y="126"/>
                  </a:lnTo>
                  <a:lnTo>
                    <a:pt x="27" y="130"/>
                  </a:lnTo>
                  <a:lnTo>
                    <a:pt x="33" y="134"/>
                  </a:lnTo>
                  <a:lnTo>
                    <a:pt x="39" y="137"/>
                  </a:lnTo>
                  <a:lnTo>
                    <a:pt x="46" y="141"/>
                  </a:lnTo>
                  <a:lnTo>
                    <a:pt x="52" y="144"/>
                  </a:lnTo>
                  <a:lnTo>
                    <a:pt x="60" y="145"/>
                  </a:lnTo>
                  <a:lnTo>
                    <a:pt x="67" y="146"/>
                  </a:lnTo>
                  <a:lnTo>
                    <a:pt x="75" y="147"/>
                  </a:lnTo>
                  <a:close/>
                </a:path>
              </a:pathLst>
            </a:custGeom>
            <a:noFill/>
            <a:ln w="7938">
              <a:solidFill>
                <a:srgbClr val="2A2A29"/>
              </a:solidFill>
              <a:round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sp>
          <p:nvSpPr>
            <p:cNvPr id="22" name="Freeform 124">
              <a:extLst>
                <a:ext uri="{FF2B5EF4-FFF2-40B4-BE49-F238E27FC236}">
                  <a16:creationId xmlns:a16="http://schemas.microsoft.com/office/drawing/2014/main" id="{F23E6B57-5E46-F8F0-A6B2-A38DBA6C0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434"/>
              <a:ext cx="25" cy="16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4" y="147"/>
                  </a:moveTo>
                  <a:lnTo>
                    <a:pt x="81" y="147"/>
                  </a:lnTo>
                  <a:lnTo>
                    <a:pt x="89" y="146"/>
                  </a:lnTo>
                  <a:lnTo>
                    <a:pt x="97" y="144"/>
                  </a:lnTo>
                  <a:lnTo>
                    <a:pt x="103" y="142"/>
                  </a:lnTo>
                  <a:lnTo>
                    <a:pt x="110" y="138"/>
                  </a:lnTo>
                  <a:lnTo>
                    <a:pt x="116" y="134"/>
                  </a:lnTo>
                  <a:lnTo>
                    <a:pt x="122" y="131"/>
                  </a:lnTo>
                  <a:lnTo>
                    <a:pt x="127" y="126"/>
                  </a:lnTo>
                  <a:lnTo>
                    <a:pt x="132" y="120"/>
                  </a:lnTo>
                  <a:lnTo>
                    <a:pt x="136" y="115"/>
                  </a:lnTo>
                  <a:lnTo>
                    <a:pt x="139" y="108"/>
                  </a:lnTo>
                  <a:lnTo>
                    <a:pt x="142" y="102"/>
                  </a:lnTo>
                  <a:lnTo>
                    <a:pt x="146" y="96"/>
                  </a:lnTo>
                  <a:lnTo>
                    <a:pt x="147" y="89"/>
                  </a:lnTo>
                  <a:lnTo>
                    <a:pt x="148" y="82"/>
                  </a:lnTo>
                  <a:lnTo>
                    <a:pt x="149" y="74"/>
                  </a:lnTo>
                  <a:lnTo>
                    <a:pt x="148" y="67"/>
                  </a:lnTo>
                  <a:lnTo>
                    <a:pt x="147" y="59"/>
                  </a:lnTo>
                  <a:lnTo>
                    <a:pt x="146" y="52"/>
                  </a:lnTo>
                  <a:lnTo>
                    <a:pt x="142" y="45"/>
                  </a:lnTo>
                  <a:lnTo>
                    <a:pt x="139" y="39"/>
                  </a:lnTo>
                  <a:lnTo>
                    <a:pt x="136" y="33"/>
                  </a:lnTo>
                  <a:lnTo>
                    <a:pt x="132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6" y="13"/>
                  </a:lnTo>
                  <a:lnTo>
                    <a:pt x="110" y="10"/>
                  </a:lnTo>
                  <a:lnTo>
                    <a:pt x="103" y="7"/>
                  </a:lnTo>
                  <a:lnTo>
                    <a:pt x="97" y="3"/>
                  </a:lnTo>
                  <a:lnTo>
                    <a:pt x="89" y="2"/>
                  </a:lnTo>
                  <a:lnTo>
                    <a:pt x="81" y="1"/>
                  </a:lnTo>
                  <a:lnTo>
                    <a:pt x="74" y="0"/>
                  </a:lnTo>
                  <a:lnTo>
                    <a:pt x="66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6" y="7"/>
                  </a:lnTo>
                  <a:lnTo>
                    <a:pt x="39" y="10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5" y="45"/>
                  </a:lnTo>
                  <a:lnTo>
                    <a:pt x="3" y="52"/>
                  </a:lnTo>
                  <a:lnTo>
                    <a:pt x="1" y="59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0" y="82"/>
                  </a:lnTo>
                  <a:lnTo>
                    <a:pt x="1" y="89"/>
                  </a:lnTo>
                  <a:lnTo>
                    <a:pt x="3" y="96"/>
                  </a:lnTo>
                  <a:lnTo>
                    <a:pt x="5" y="102"/>
                  </a:lnTo>
                  <a:lnTo>
                    <a:pt x="9" y="108"/>
                  </a:lnTo>
                  <a:lnTo>
                    <a:pt x="13" y="115"/>
                  </a:lnTo>
                  <a:lnTo>
                    <a:pt x="17" y="120"/>
                  </a:lnTo>
                  <a:lnTo>
                    <a:pt x="22" y="126"/>
                  </a:lnTo>
                  <a:lnTo>
                    <a:pt x="27" y="131"/>
                  </a:lnTo>
                  <a:lnTo>
                    <a:pt x="32" y="134"/>
                  </a:lnTo>
                  <a:lnTo>
                    <a:pt x="39" y="138"/>
                  </a:lnTo>
                  <a:lnTo>
                    <a:pt x="46" y="142"/>
                  </a:lnTo>
                  <a:lnTo>
                    <a:pt x="52" y="144"/>
                  </a:lnTo>
                  <a:lnTo>
                    <a:pt x="60" y="146"/>
                  </a:lnTo>
                  <a:lnTo>
                    <a:pt x="66" y="147"/>
                  </a:lnTo>
                  <a:lnTo>
                    <a:pt x="74" y="147"/>
                  </a:lnTo>
                  <a:close/>
                </a:path>
              </a:pathLst>
            </a:cu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  <p:sp>
          <p:nvSpPr>
            <p:cNvPr id="23" name="Freeform 125">
              <a:extLst>
                <a:ext uri="{FF2B5EF4-FFF2-40B4-BE49-F238E27FC236}">
                  <a16:creationId xmlns:a16="http://schemas.microsoft.com/office/drawing/2014/main" id="{223B65E3-A632-30FD-8AA6-26A229181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434"/>
              <a:ext cx="25" cy="16"/>
            </a:xfrm>
            <a:custGeom>
              <a:avLst/>
              <a:gdLst>
                <a:gd name="T0" fmla="*/ 0 w 149"/>
                <a:gd name="T1" fmla="*/ 0 h 147"/>
                <a:gd name="T2" fmla="*/ 0 w 149"/>
                <a:gd name="T3" fmla="*/ 0 h 147"/>
                <a:gd name="T4" fmla="*/ 0 w 149"/>
                <a:gd name="T5" fmla="*/ 0 h 147"/>
                <a:gd name="T6" fmla="*/ 0 w 149"/>
                <a:gd name="T7" fmla="*/ 0 h 147"/>
                <a:gd name="T8" fmla="*/ 0 w 149"/>
                <a:gd name="T9" fmla="*/ 0 h 147"/>
                <a:gd name="T10" fmla="*/ 0 w 149"/>
                <a:gd name="T11" fmla="*/ 0 h 147"/>
                <a:gd name="T12" fmla="*/ 0 w 149"/>
                <a:gd name="T13" fmla="*/ 0 h 147"/>
                <a:gd name="T14" fmla="*/ 0 w 149"/>
                <a:gd name="T15" fmla="*/ 0 h 147"/>
                <a:gd name="T16" fmla="*/ 0 w 149"/>
                <a:gd name="T17" fmla="*/ 0 h 147"/>
                <a:gd name="T18" fmla="*/ 0 w 149"/>
                <a:gd name="T19" fmla="*/ 0 h 147"/>
                <a:gd name="T20" fmla="*/ 0 w 149"/>
                <a:gd name="T21" fmla="*/ 0 h 147"/>
                <a:gd name="T22" fmla="*/ 0 w 149"/>
                <a:gd name="T23" fmla="*/ 0 h 147"/>
                <a:gd name="T24" fmla="*/ 0 w 149"/>
                <a:gd name="T25" fmla="*/ 0 h 147"/>
                <a:gd name="T26" fmla="*/ 0 w 149"/>
                <a:gd name="T27" fmla="*/ 0 h 147"/>
                <a:gd name="T28" fmla="*/ 0 w 149"/>
                <a:gd name="T29" fmla="*/ 0 h 147"/>
                <a:gd name="T30" fmla="*/ 0 w 149"/>
                <a:gd name="T31" fmla="*/ 0 h 147"/>
                <a:gd name="T32" fmla="*/ 0 w 149"/>
                <a:gd name="T33" fmla="*/ 0 h 147"/>
                <a:gd name="T34" fmla="*/ 0 w 149"/>
                <a:gd name="T35" fmla="*/ 0 h 147"/>
                <a:gd name="T36" fmla="*/ 0 w 149"/>
                <a:gd name="T37" fmla="*/ 0 h 147"/>
                <a:gd name="T38" fmla="*/ 0 w 149"/>
                <a:gd name="T39" fmla="*/ 0 h 147"/>
                <a:gd name="T40" fmla="*/ 0 w 149"/>
                <a:gd name="T41" fmla="*/ 0 h 147"/>
                <a:gd name="T42" fmla="*/ 0 w 149"/>
                <a:gd name="T43" fmla="*/ 0 h 147"/>
                <a:gd name="T44" fmla="*/ 0 w 149"/>
                <a:gd name="T45" fmla="*/ 0 h 147"/>
                <a:gd name="T46" fmla="*/ 0 w 149"/>
                <a:gd name="T47" fmla="*/ 0 h 147"/>
                <a:gd name="T48" fmla="*/ 0 w 149"/>
                <a:gd name="T49" fmla="*/ 0 h 147"/>
                <a:gd name="T50" fmla="*/ 0 w 149"/>
                <a:gd name="T51" fmla="*/ 0 h 147"/>
                <a:gd name="T52" fmla="*/ 0 w 149"/>
                <a:gd name="T53" fmla="*/ 0 h 147"/>
                <a:gd name="T54" fmla="*/ 0 w 149"/>
                <a:gd name="T55" fmla="*/ 0 h 147"/>
                <a:gd name="T56" fmla="*/ 0 w 149"/>
                <a:gd name="T57" fmla="*/ 0 h 147"/>
                <a:gd name="T58" fmla="*/ 0 w 149"/>
                <a:gd name="T59" fmla="*/ 0 h 147"/>
                <a:gd name="T60" fmla="*/ 0 w 149"/>
                <a:gd name="T61" fmla="*/ 0 h 147"/>
                <a:gd name="T62" fmla="*/ 0 w 149"/>
                <a:gd name="T63" fmla="*/ 0 h 1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147"/>
                <a:gd name="T98" fmla="*/ 149 w 149"/>
                <a:gd name="T99" fmla="*/ 147 h 14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147">
                  <a:moveTo>
                    <a:pt x="74" y="147"/>
                  </a:moveTo>
                  <a:lnTo>
                    <a:pt x="81" y="147"/>
                  </a:lnTo>
                  <a:lnTo>
                    <a:pt x="89" y="146"/>
                  </a:lnTo>
                  <a:lnTo>
                    <a:pt x="97" y="144"/>
                  </a:lnTo>
                  <a:lnTo>
                    <a:pt x="103" y="142"/>
                  </a:lnTo>
                  <a:lnTo>
                    <a:pt x="110" y="138"/>
                  </a:lnTo>
                  <a:lnTo>
                    <a:pt x="116" y="134"/>
                  </a:lnTo>
                  <a:lnTo>
                    <a:pt x="122" y="131"/>
                  </a:lnTo>
                  <a:lnTo>
                    <a:pt x="127" y="126"/>
                  </a:lnTo>
                  <a:lnTo>
                    <a:pt x="132" y="120"/>
                  </a:lnTo>
                  <a:lnTo>
                    <a:pt x="136" y="115"/>
                  </a:lnTo>
                  <a:lnTo>
                    <a:pt x="139" y="108"/>
                  </a:lnTo>
                  <a:lnTo>
                    <a:pt x="142" y="102"/>
                  </a:lnTo>
                  <a:lnTo>
                    <a:pt x="146" y="96"/>
                  </a:lnTo>
                  <a:lnTo>
                    <a:pt x="147" y="89"/>
                  </a:lnTo>
                  <a:lnTo>
                    <a:pt x="148" y="82"/>
                  </a:lnTo>
                  <a:lnTo>
                    <a:pt x="149" y="74"/>
                  </a:lnTo>
                  <a:lnTo>
                    <a:pt x="148" y="67"/>
                  </a:lnTo>
                  <a:lnTo>
                    <a:pt x="147" y="59"/>
                  </a:lnTo>
                  <a:lnTo>
                    <a:pt x="146" y="52"/>
                  </a:lnTo>
                  <a:lnTo>
                    <a:pt x="142" y="45"/>
                  </a:lnTo>
                  <a:lnTo>
                    <a:pt x="139" y="39"/>
                  </a:lnTo>
                  <a:lnTo>
                    <a:pt x="136" y="33"/>
                  </a:lnTo>
                  <a:lnTo>
                    <a:pt x="132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6" y="13"/>
                  </a:lnTo>
                  <a:lnTo>
                    <a:pt x="110" y="10"/>
                  </a:lnTo>
                  <a:lnTo>
                    <a:pt x="103" y="7"/>
                  </a:lnTo>
                  <a:lnTo>
                    <a:pt x="97" y="3"/>
                  </a:lnTo>
                  <a:lnTo>
                    <a:pt x="89" y="2"/>
                  </a:lnTo>
                  <a:lnTo>
                    <a:pt x="81" y="1"/>
                  </a:lnTo>
                  <a:lnTo>
                    <a:pt x="74" y="0"/>
                  </a:lnTo>
                  <a:lnTo>
                    <a:pt x="66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6" y="7"/>
                  </a:lnTo>
                  <a:lnTo>
                    <a:pt x="39" y="10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5" y="45"/>
                  </a:lnTo>
                  <a:lnTo>
                    <a:pt x="3" y="52"/>
                  </a:lnTo>
                  <a:lnTo>
                    <a:pt x="1" y="59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0" y="82"/>
                  </a:lnTo>
                  <a:lnTo>
                    <a:pt x="1" y="89"/>
                  </a:lnTo>
                  <a:lnTo>
                    <a:pt x="3" y="96"/>
                  </a:lnTo>
                  <a:lnTo>
                    <a:pt x="5" y="102"/>
                  </a:lnTo>
                  <a:lnTo>
                    <a:pt x="9" y="108"/>
                  </a:lnTo>
                  <a:lnTo>
                    <a:pt x="13" y="115"/>
                  </a:lnTo>
                  <a:lnTo>
                    <a:pt x="17" y="120"/>
                  </a:lnTo>
                  <a:lnTo>
                    <a:pt x="22" y="126"/>
                  </a:lnTo>
                  <a:lnTo>
                    <a:pt x="27" y="131"/>
                  </a:lnTo>
                  <a:lnTo>
                    <a:pt x="32" y="134"/>
                  </a:lnTo>
                  <a:lnTo>
                    <a:pt x="39" y="138"/>
                  </a:lnTo>
                  <a:lnTo>
                    <a:pt x="46" y="142"/>
                  </a:lnTo>
                  <a:lnTo>
                    <a:pt x="52" y="144"/>
                  </a:lnTo>
                  <a:lnTo>
                    <a:pt x="60" y="146"/>
                  </a:lnTo>
                  <a:lnTo>
                    <a:pt x="66" y="147"/>
                  </a:lnTo>
                  <a:lnTo>
                    <a:pt x="74" y="147"/>
                  </a:lnTo>
                  <a:close/>
                </a:path>
              </a:pathLst>
            </a:custGeom>
            <a:noFill/>
            <a:ln w="7938">
              <a:solidFill>
                <a:srgbClr val="2A2A29"/>
              </a:solidFill>
              <a:round/>
              <a:headEnd/>
              <a:tailEnd/>
            </a:ln>
          </p:spPr>
          <p:txBody>
            <a:bodyPr/>
            <a:lstStyle/>
            <a:p>
              <a:pPr marL="40640" marR="40640" defTabSz="910828" hangingPunct="0"/>
              <a:endParaRPr lang="en-US" sz="1600" kern="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Arial"/>
                <a:cs typeface="MS PGothic"/>
                <a:sym typeface="Arial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198289-F7A7-17BB-3727-355A7FE7FB8E}"/>
              </a:ext>
            </a:extLst>
          </p:cNvPr>
          <p:cNvCxnSpPr/>
          <p:nvPr/>
        </p:nvCxnSpPr>
        <p:spPr>
          <a:xfrm>
            <a:off x="2421234" y="1274490"/>
            <a:ext cx="42155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8429E9E-190B-D23B-703D-731BC85FE22D}"/>
              </a:ext>
            </a:extLst>
          </p:cNvPr>
          <p:cNvSpPr txBox="1"/>
          <p:nvPr/>
        </p:nvSpPr>
        <p:spPr>
          <a:xfrm>
            <a:off x="2406511" y="1087048"/>
            <a:ext cx="438770" cy="161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640" marR="40640" defTabSz="910828" hangingPunct="0"/>
            <a:r>
              <a:rPr lang="en-US" sz="800" kern="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  <a:sym typeface="Arial"/>
              </a:rPr>
              <a:t>2 mm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71EDFE8-59BD-1A03-0271-B0B89450156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455562" y="1178326"/>
            <a:ext cx="864492" cy="13593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11" descr="http://www.esrf.eu/news/spotlight/spotlight101/spotlight101-fig1.gif">
            <a:extLst>
              <a:ext uri="{FF2B5EF4-FFF2-40B4-BE49-F238E27FC236}">
                <a16:creationId xmlns:a16="http://schemas.microsoft.com/office/drawing/2014/main" id="{7C00FC47-E1A0-B681-F40A-E054B65A3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9684" y="2557812"/>
            <a:ext cx="3168553" cy="26735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B0731C-7771-6430-C9D0-F4B62753C568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87808" y="4859004"/>
            <a:ext cx="1816798" cy="1399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0DB833F-51D3-3B35-C9B1-6004430BC9AD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121" y="4664287"/>
            <a:ext cx="1811920" cy="1396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3FBC48-7F3A-2BDD-E4D3-E6F22940292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270861" y="4869955"/>
            <a:ext cx="755549" cy="28820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F456B4D-668D-286D-720D-75C93CCE5D96}"/>
              </a:ext>
            </a:extLst>
          </p:cNvPr>
          <p:cNvSpPr/>
          <p:nvPr/>
        </p:nvSpPr>
        <p:spPr>
          <a:xfrm>
            <a:off x="2107244" y="4761148"/>
            <a:ext cx="82894" cy="82894"/>
          </a:xfrm>
          <a:prstGeom prst="ellipse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FAAEF8C-536D-2A9D-69AE-CF6760AC8074}"/>
              </a:ext>
            </a:extLst>
          </p:cNvPr>
          <p:cNvSpPr/>
          <p:nvPr/>
        </p:nvSpPr>
        <p:spPr>
          <a:xfrm>
            <a:off x="3764878" y="4761147"/>
            <a:ext cx="82894" cy="8289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E49E97-70B7-B251-92AD-C409C51907B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91436" y="4821181"/>
            <a:ext cx="1403445" cy="26420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B7222A1-7D97-A0A5-904B-7F5C8D56593B}"/>
              </a:ext>
            </a:extLst>
          </p:cNvPr>
          <p:cNvSpPr txBox="1"/>
          <p:nvPr/>
        </p:nvSpPr>
        <p:spPr>
          <a:xfrm>
            <a:off x="1978647" y="5705046"/>
            <a:ext cx="3878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ð"/>
            </a:pPr>
            <a:r>
              <a:rPr lang="en-US" sz="17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Synchrotron XRD:                  amorphization of ice III</a:t>
            </a:r>
          </a:p>
          <a:p>
            <a:endParaRPr lang="en-US" sz="300" dirty="0">
              <a:latin typeface="Arial" panose="020B0604020202020204" pitchFamily="34" charset="0"/>
              <a:ea typeface="Cambria Math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ð"/>
            </a:pPr>
            <a:r>
              <a:rPr lang="en-US" sz="17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Molecular amorphous CO</a:t>
            </a:r>
            <a:r>
              <a:rPr lang="en-US" sz="1700" baseline="-250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2</a:t>
            </a:r>
            <a:r>
              <a:rPr lang="en-US" sz="17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 phase?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259B97-8CD0-2E57-6A83-A64974278EB5}"/>
              </a:ext>
            </a:extLst>
          </p:cNvPr>
          <p:cNvSpPr/>
          <p:nvPr/>
        </p:nvSpPr>
        <p:spPr>
          <a:xfrm>
            <a:off x="2721494" y="2128064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CO</a:t>
            </a:r>
            <a:r>
              <a:rPr lang="en-US" b="1" baseline="-250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2</a:t>
            </a:r>
            <a:endParaRPr lang="en-US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D1BB76A-B752-3C64-D64A-742DC6508E51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4287" y="2770276"/>
            <a:ext cx="604465" cy="7040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DD51494-8528-F735-58E2-A932312A709F}"/>
              </a:ext>
            </a:extLst>
          </p:cNvPr>
          <p:cNvSpPr/>
          <p:nvPr/>
        </p:nvSpPr>
        <p:spPr>
          <a:xfrm>
            <a:off x="6692795" y="5027209"/>
            <a:ext cx="2113118" cy="1479883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A2EC98-4121-1864-99DC-CCB24D196E68}"/>
              </a:ext>
            </a:extLst>
          </p:cNvPr>
          <p:cNvSpPr txBox="1"/>
          <p:nvPr/>
        </p:nvSpPr>
        <p:spPr>
          <a:xfrm>
            <a:off x="6712993" y="5922967"/>
            <a:ext cx="20703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Synchrotron-IR measurements of CO</a:t>
            </a:r>
            <a:r>
              <a:rPr lang="en-US" sz="1500" baseline="-250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2</a:t>
            </a:r>
            <a:endParaRPr lang="en-US" sz="15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C1BF122-210C-A868-651E-A680C8C6B4C8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967" t="1606" r="51245" b="78366"/>
          <a:stretch/>
        </p:blipFill>
        <p:spPr>
          <a:xfrm>
            <a:off x="7010500" y="5132215"/>
            <a:ext cx="731970" cy="731520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BDD6E0C-AE54-73D1-D8F3-991A10AE13E9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9" t="-2141"/>
          <a:stretch/>
        </p:blipFill>
        <p:spPr>
          <a:xfrm>
            <a:off x="7794918" y="5108283"/>
            <a:ext cx="632921" cy="768096"/>
          </a:xfrm>
          <a:prstGeom prst="rect">
            <a:avLst/>
          </a:prstGeom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A5D859-B020-D064-B071-E2B817CFD0D3}"/>
              </a:ext>
            </a:extLst>
          </p:cNvPr>
          <p:cNvCxnSpPr>
            <a:cxnSpLocks/>
          </p:cNvCxnSpPr>
          <p:nvPr/>
        </p:nvCxnSpPr>
        <p:spPr>
          <a:xfrm>
            <a:off x="5807592" y="1013554"/>
            <a:ext cx="0" cy="3789040"/>
          </a:xfrm>
          <a:prstGeom prst="line">
            <a:avLst/>
          </a:prstGeom>
          <a:ln w="38100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6ABA329-9554-2ADB-B16D-5753D0E6C11F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4831" y="1082851"/>
            <a:ext cx="3945842" cy="263996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4433795-C9CB-CFDD-DFDD-7AE83E3489A2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2809" y="1135936"/>
            <a:ext cx="1239241" cy="995722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2B8C4E1E-E318-A080-3997-6C0C01BE297F}"/>
              </a:ext>
            </a:extLst>
          </p:cNvPr>
          <p:cNvSpPr/>
          <p:nvPr/>
        </p:nvSpPr>
        <p:spPr>
          <a:xfrm>
            <a:off x="8804208" y="1563967"/>
            <a:ext cx="672791" cy="155152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B169335-3313-D38F-70E1-894DC608196D}"/>
              </a:ext>
            </a:extLst>
          </p:cNvPr>
          <p:cNvCxnSpPr>
            <a:cxnSpLocks/>
            <a:stCxn id="46" idx="7"/>
          </p:cNvCxnSpPr>
          <p:nvPr/>
        </p:nvCxnSpPr>
        <p:spPr>
          <a:xfrm flipV="1">
            <a:off x="9378471" y="1301330"/>
            <a:ext cx="1239260" cy="2853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97FC4FF-ADE1-68D6-B7F2-11CE1DFAF5AE}"/>
              </a:ext>
            </a:extLst>
          </p:cNvPr>
          <p:cNvCxnSpPr>
            <a:cxnSpLocks/>
            <a:stCxn id="46" idx="6"/>
          </p:cNvCxnSpPr>
          <p:nvPr/>
        </p:nvCxnSpPr>
        <p:spPr>
          <a:xfrm>
            <a:off x="9476999" y="1641543"/>
            <a:ext cx="1090379" cy="3773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C771DD2-CAA2-E523-0E74-06D4EA752E61}"/>
              </a:ext>
            </a:extLst>
          </p:cNvPr>
          <p:cNvSpPr txBox="1"/>
          <p:nvPr/>
        </p:nvSpPr>
        <p:spPr>
          <a:xfrm>
            <a:off x="470266" y="2052638"/>
            <a:ext cx="162332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7 GeV </a:t>
            </a:r>
            <a:r>
              <a:rPr lang="en-US" sz="1300" b="1" baseline="300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238</a:t>
            </a:r>
            <a:r>
              <a:rPr lang="en-US" sz="1300" b="1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U ions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9D49C2-6E33-C54C-E08F-75FE6140F7FB}"/>
              </a:ext>
            </a:extLst>
          </p:cNvPr>
          <p:cNvSpPr txBox="1"/>
          <p:nvPr/>
        </p:nvSpPr>
        <p:spPr>
          <a:xfrm>
            <a:off x="3815053" y="1054267"/>
            <a:ext cx="7542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45 </a:t>
            </a:r>
            <a:r>
              <a:rPr lang="en-US" sz="1300" b="1" dirty="0" err="1"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GPa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A9DCD6A-5849-3DE9-3C8F-D52D4B9A1ECC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0795" y="3851170"/>
            <a:ext cx="3207937" cy="220422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60DD9BD-481C-8D5D-9453-8A886DAF5729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0843" y="2380530"/>
            <a:ext cx="3519952" cy="2639964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9527EA9-F7E0-4037-5A9B-39CEE7F2B799}"/>
              </a:ext>
            </a:extLst>
          </p:cNvPr>
          <p:cNvSpPr/>
          <p:nvPr/>
        </p:nvSpPr>
        <p:spPr>
          <a:xfrm>
            <a:off x="7524046" y="2719137"/>
            <a:ext cx="185627" cy="1805501"/>
          </a:xfrm>
          <a:prstGeom prst="rect">
            <a:avLst/>
          </a:prstGeom>
          <a:solidFill>
            <a:srgbClr val="33CC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E13E8E-71AD-F26C-9A55-149B9C498376}"/>
              </a:ext>
            </a:extLst>
          </p:cNvPr>
          <p:cNvSpPr/>
          <p:nvPr/>
        </p:nvSpPr>
        <p:spPr>
          <a:xfrm>
            <a:off x="10350926" y="3915314"/>
            <a:ext cx="92814" cy="1805501"/>
          </a:xfrm>
          <a:prstGeom prst="rect">
            <a:avLst/>
          </a:prstGeom>
          <a:solidFill>
            <a:srgbClr val="33CC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4B3EB5-42F1-76CF-578C-698FA88B9169}"/>
              </a:ext>
            </a:extLst>
          </p:cNvPr>
          <p:cNvSpPr/>
          <p:nvPr/>
        </p:nvSpPr>
        <p:spPr>
          <a:xfrm>
            <a:off x="11155360" y="3975069"/>
            <a:ext cx="8451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Raman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5F6B95D-CC3B-DA3F-E2D6-9AC1DC6C87B2}"/>
              </a:ext>
            </a:extLst>
          </p:cNvPr>
          <p:cNvSpPr/>
          <p:nvPr/>
        </p:nvSpPr>
        <p:spPr>
          <a:xfrm>
            <a:off x="7917288" y="3138106"/>
            <a:ext cx="3898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IR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B545043-E0E3-7523-6D88-57DEF445A2D5}"/>
              </a:ext>
            </a:extLst>
          </p:cNvPr>
          <p:cNvSpPr/>
          <p:nvPr/>
        </p:nvSpPr>
        <p:spPr>
          <a:xfrm>
            <a:off x="9927851" y="2719215"/>
            <a:ext cx="22328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Tzifas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Review research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(2026)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(CDAC supported)</a:t>
            </a:r>
          </a:p>
          <a:p>
            <a:pPr algn="ctr"/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66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6" grpId="0" animBg="1"/>
      <p:bldP spid="53" grpId="0" animBg="1"/>
      <p:bldP spid="54" grpId="0" animBg="1"/>
      <p:bldP spid="55" grpId="0"/>
      <p:bldP spid="56" grpId="0"/>
      <p:bldP spid="5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11AF-E4C9-DA0F-749D-2865EB4A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02CA152A-81EC-422A-80BA-BC66A0BAC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C5E4D7-838D-2310-3FD3-350B25DD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21093A3-E6EE-D12E-806A-F4C6BAB336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995470-8AC5-932F-18DA-B72DAF82F2FC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A5099F7A-EB9C-153C-316D-574290CA252A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7384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Coupling High-Pressure with Displacive Damage 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BE51A2-F21C-12E4-3BA6-713B7390C1CD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1095E-8620-87DB-4B3B-94DD971F1459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6B852-1E4B-7548-D486-58689A9A3F5A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7B2CA-F66B-9CF4-E559-79593F28116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0998" y="1047106"/>
            <a:ext cx="3238854" cy="2528395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982FB809-9762-CD91-D073-4E9EAFC0D56C}"/>
              </a:ext>
            </a:extLst>
          </p:cNvPr>
          <p:cNvSpPr txBox="1"/>
          <p:nvPr/>
        </p:nvSpPr>
        <p:spPr>
          <a:xfrm>
            <a:off x="222422" y="1358390"/>
            <a:ext cx="3076431" cy="1354217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MOTIVATION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Simulate defective microstructure from self-decay of actinides and test impact on high-pressure and high-temperature behavior 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B44FE85-F296-CA9F-EBFA-CED07196A66A}"/>
              </a:ext>
            </a:extLst>
          </p:cNvPr>
          <p:cNvSpPr txBox="1"/>
          <p:nvPr/>
        </p:nvSpPr>
        <p:spPr>
          <a:xfrm>
            <a:off x="222422" y="3291647"/>
            <a:ext cx="3076431" cy="2662267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APPROACH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Need low-energy accelerator facility 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Determine dose level profile and optimize displacive damage within microscopic sample 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Perform high-pressure/temperature experiments after ion-beam exposure at HPCAT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Correlate experimental results with model predictions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04154971-1844-050E-25BA-70088D843752}"/>
              </a:ext>
            </a:extLst>
          </p:cNvPr>
          <p:cNvSpPr txBox="1"/>
          <p:nvPr/>
        </p:nvSpPr>
        <p:spPr>
          <a:xfrm>
            <a:off x="7362909" y="3471199"/>
            <a:ext cx="4676715" cy="2739211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Significance 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First assessment of how defects and a damaged microstructure affect material behavior under extremes  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Refinement and expansion of existing equilibrium phase diagrams that are only based on pristine materials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>
              <a:sym typeface="Wingdings" panose="05000000000000000000" pitchFamily="2" charset="2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Important data to predict impact of actinide delf-decay on phase stability and behavior under extremes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>
              <a:sym typeface="Wingdings" panose="05000000000000000000" pitchFamily="2" charset="2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Insight whether defect engineering can be used to enhance materials resistance under extremes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>
                <a:sym typeface="Wingdings" panose="05000000000000000000" pitchFamily="2" charset="2"/>
              </a:rPr>
              <a:t>Essential training opportunity for students in key field </a:t>
            </a:r>
          </a:p>
        </p:txBody>
      </p:sp>
      <p:pic>
        <p:nvPicPr>
          <p:cNvPr id="1026" name="Picture 2" descr="Tennessee Ion Beam Materials Laboratory - Tennessee Ion Beam Materials  Laboratory">
            <a:extLst>
              <a:ext uri="{FF2B5EF4-FFF2-40B4-BE49-F238E27FC236}">
                <a16:creationId xmlns:a16="http://schemas.microsoft.com/office/drawing/2014/main" id="{AD466A09-11B9-9EF0-4891-1D477C3D5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1629" y="1006013"/>
            <a:ext cx="2382976" cy="158987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e Rates - Tennessee Ion Beam Materials Laboratory">
            <a:extLst>
              <a:ext uri="{FF2B5EF4-FFF2-40B4-BE49-F238E27FC236}">
                <a16:creationId xmlns:a16="http://schemas.microsoft.com/office/drawing/2014/main" id="{58767707-86A5-3CC1-B1F9-1C56A867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23201" y="1527104"/>
            <a:ext cx="2482103" cy="165554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6C6412-77B1-68F8-DC34-A2640867982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83095" y="3731581"/>
            <a:ext cx="3802859" cy="28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8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73EE-1D5C-E3AF-5A04-1E332AFD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5464CFE9-D3E9-328E-5C57-55625710F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83DA84-0D95-1B56-4FC5-5A35B75B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A6D2E2AA-FEA4-DCEA-D3B5-B64E66C4BB7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14654E-0939-B806-81DC-7F82A434F6D5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203BCBDB-D131-0B4D-4DB6-10D101309496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Developing Neutron Scattering for Small Samples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DBF8E3E-A509-F23D-A911-E3D99A446CAC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309A6-BDCA-8D60-61F0-C858E7348626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3BC45-C700-6F96-B869-5468EF45D9AC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E577345-417A-5FD3-37DD-56ECFD780796}"/>
              </a:ext>
            </a:extLst>
          </p:cNvPr>
          <p:cNvSpPr txBox="1"/>
          <p:nvPr/>
        </p:nvSpPr>
        <p:spPr>
          <a:xfrm>
            <a:off x="222422" y="1045876"/>
            <a:ext cx="3076431" cy="2000548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MOTIVATION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Enable neutron total scattering and PDF analysis for small sample quantities to (</a:t>
            </a:r>
            <a:r>
              <a:rPr lang="en-US" sz="1400" i="1" dirty="0"/>
              <a:t>i</a:t>
            </a:r>
            <a:r>
              <a:rPr lang="en-US" sz="1400" dirty="0"/>
              <a:t>) obtain short-range order information with sensitivity to both cations and anions, and                 (</a:t>
            </a:r>
            <a:r>
              <a:rPr lang="en-US" sz="1400" i="1" dirty="0"/>
              <a:t>ii</a:t>
            </a:r>
            <a:r>
              <a:rPr lang="en-US" sz="1400" dirty="0"/>
              <a:t>) enable high-throughput studies of irradiated materials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D4C1D-D598-C5F8-2CCF-A5FE26DF9113}"/>
              </a:ext>
            </a:extLst>
          </p:cNvPr>
          <p:cNvSpPr txBox="1"/>
          <p:nvPr/>
        </p:nvSpPr>
        <p:spPr>
          <a:xfrm>
            <a:off x="222422" y="3222203"/>
            <a:ext cx="3076431" cy="2877711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APPROACH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Utilize existing SNAP facility at SNS currently utilized only for diffraction experiments (focused neutron beam) 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Develop background removal procedures to obtain useable total scattering data  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Test applicability to diamond anvil cells, capillaries, and microscopic ion-beam sample holders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8934A37-FDFB-B99B-70A1-E5986A8816E5}"/>
              </a:ext>
            </a:extLst>
          </p:cNvPr>
          <p:cNvSpPr txBox="1"/>
          <p:nvPr/>
        </p:nvSpPr>
        <p:spPr>
          <a:xfrm>
            <a:off x="7346582" y="4252425"/>
            <a:ext cx="4676715" cy="1938992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Significance 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Significant enhancement of advanced structural characterization of ion irradiated materials    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Sample minimization allows measurement of highly radioactive materials</a:t>
            </a:r>
          </a:p>
          <a:p>
            <a:pPr>
              <a:buSzPct val="100000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>
              <a:sym typeface="Wingdings" panose="05000000000000000000" pitchFamily="2" charset="2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Short-range order accessible for high-pressure studies to better understand impact on phase transformations</a:t>
            </a: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2E157834-E3C0-40B4-803E-55485249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5271" y="1705594"/>
            <a:ext cx="19081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sz="1350" b="1" dirty="0">
                <a:latin typeface="+mn-lt"/>
                <a:sym typeface="Wingdings" pitchFamily="2" charset="2"/>
              </a:rPr>
              <a:t>Sample chambers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diameter:  100 </a:t>
            </a:r>
            <a:r>
              <a:rPr lang="el-GR" sz="1300" dirty="0">
                <a:latin typeface="+mn-lt"/>
                <a:sym typeface="Wingdings" pitchFamily="2" charset="2"/>
              </a:rPr>
              <a:t>μ</a:t>
            </a:r>
            <a:r>
              <a:rPr lang="en-US" sz="1300" dirty="0">
                <a:latin typeface="+mn-lt"/>
                <a:sym typeface="Wingdings" pitchFamily="2" charset="2"/>
              </a:rPr>
              <a:t>m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thickness:   25 </a:t>
            </a:r>
            <a:r>
              <a:rPr lang="el-GR" sz="1300" dirty="0">
                <a:latin typeface="+mn-lt"/>
                <a:sym typeface="Wingdings" pitchFamily="2" charset="2"/>
              </a:rPr>
              <a:t>μ</a:t>
            </a:r>
            <a:r>
              <a:rPr lang="en-US" sz="1300" dirty="0">
                <a:latin typeface="+mn-lt"/>
                <a:sym typeface="Wingdings" pitchFamily="2" charset="2"/>
              </a:rPr>
              <a:t>m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mass:  ~1 µg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F33FF1-97A3-D690-393A-960548E1DC26}"/>
              </a:ext>
            </a:extLst>
          </p:cNvPr>
          <p:cNvSpPr txBox="1"/>
          <p:nvPr/>
        </p:nvSpPr>
        <p:spPr>
          <a:xfrm>
            <a:off x="8394054" y="1249586"/>
            <a:ext cx="2112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950 MeV Au ions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10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</p:txBody>
      </p:sp>
      <p:pic>
        <p:nvPicPr>
          <p:cNvPr id="37" name="Picture 36" descr="Diagram&#10;&#10;Description automatically generated">
            <a:extLst>
              <a:ext uri="{FF2B5EF4-FFF2-40B4-BE49-F238E27FC236}">
                <a16:creationId xmlns:a16="http://schemas.microsoft.com/office/drawing/2014/main" id="{4F526840-2813-1EEF-EDE5-54D9B782B1E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1802" y="2738718"/>
            <a:ext cx="954726" cy="819697"/>
          </a:xfrm>
          <a:prstGeom prst="rect">
            <a:avLst/>
          </a:prstGeom>
        </p:spPr>
      </p:pic>
      <p:sp>
        <p:nvSpPr>
          <p:cNvPr id="38" name="Text Box 10">
            <a:extLst>
              <a:ext uri="{FF2B5EF4-FFF2-40B4-BE49-F238E27FC236}">
                <a16:creationId xmlns:a16="http://schemas.microsoft.com/office/drawing/2014/main" id="{C1462DDF-F2F7-5733-E0BC-D53383103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7718" y="1716070"/>
            <a:ext cx="19081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488" indent="-4763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sz="1350" b="1" dirty="0">
                <a:latin typeface="+mn-lt"/>
                <a:sym typeface="Wingdings" pitchFamily="2" charset="2"/>
              </a:rPr>
              <a:t>Sample chambers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diameter:  9 x 1 cm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thickness:   25 </a:t>
            </a:r>
            <a:r>
              <a:rPr lang="el-GR" sz="1300" dirty="0">
                <a:latin typeface="+mn-lt"/>
                <a:sym typeface="Wingdings" pitchFamily="2" charset="2"/>
              </a:rPr>
              <a:t>μ</a:t>
            </a:r>
            <a:r>
              <a:rPr lang="en-US" sz="1300" dirty="0">
                <a:latin typeface="+mn-lt"/>
                <a:sym typeface="Wingdings" pitchFamily="2" charset="2"/>
              </a:rPr>
              <a:t>m</a:t>
            </a:r>
          </a:p>
          <a:p>
            <a:pPr>
              <a:spcBef>
                <a:spcPts val="300"/>
              </a:spcBef>
              <a:defRPr/>
            </a:pPr>
            <a:r>
              <a:rPr lang="en-US" sz="1300" dirty="0">
                <a:latin typeface="+mn-lt"/>
                <a:sym typeface="Wingdings" pitchFamily="2" charset="2"/>
              </a:rPr>
              <a:t>mass:  ~100 mg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169ED9-18BA-A6C9-D9F5-A9CAE6A1B38B}"/>
              </a:ext>
            </a:extLst>
          </p:cNvPr>
          <p:cNvSpPr txBox="1"/>
          <p:nvPr/>
        </p:nvSpPr>
        <p:spPr>
          <a:xfrm>
            <a:off x="10323156" y="1243928"/>
            <a:ext cx="2112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 GeV Au ions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14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</a:t>
            </a:r>
            <a:r>
              <a:rPr lang="en-US" sz="1400" baseline="30000" dirty="0">
                <a:solidFill>
                  <a:schemeClr val="accent6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</p:txBody>
      </p:sp>
      <p:sp>
        <p:nvSpPr>
          <p:cNvPr id="40" name="Content Placeholder 6">
            <a:extLst>
              <a:ext uri="{FF2B5EF4-FFF2-40B4-BE49-F238E27FC236}">
                <a16:creationId xmlns:a16="http://schemas.microsoft.com/office/drawing/2014/main" id="{77E18B16-61B1-69D1-E4D0-83213CA26255}"/>
              </a:ext>
            </a:extLst>
          </p:cNvPr>
          <p:cNvSpPr txBox="1">
            <a:spLocks/>
          </p:cNvSpPr>
          <p:nvPr/>
        </p:nvSpPr>
        <p:spPr>
          <a:xfrm>
            <a:off x="8580403" y="890261"/>
            <a:ext cx="3785893" cy="55791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3B3C3E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       X-Rays</a:t>
            </a:r>
            <a:r>
              <a:rPr lang="en-US" sz="1800" b="1" dirty="0"/>
              <a:t>                   </a:t>
            </a:r>
            <a:r>
              <a:rPr lang="en-US" sz="1700" dirty="0"/>
              <a:t>Neutrons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EA93227-3C84-C182-A661-51CC4CEC12D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0098" y="2921919"/>
            <a:ext cx="694350" cy="5199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AFC6A7D-B7F9-46C6-2177-A60D80E09BB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76729" y="2776184"/>
            <a:ext cx="5616420" cy="9836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DF43129-0F87-90CE-5291-82C5A69CF28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7779" y="4678339"/>
            <a:ext cx="925481" cy="683637"/>
          </a:xfrm>
          <a:prstGeom prst="rect">
            <a:avLst/>
          </a:prstGeom>
          <a:solidFill>
            <a:srgbClr val="F9F2E7"/>
          </a:solidFill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11FB59B-0B7F-2350-468C-6547A805714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7852" y="887932"/>
            <a:ext cx="2395400" cy="176308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244A488-757C-14DF-E492-DDD6D793DA28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8666" y="806660"/>
            <a:ext cx="2451201" cy="1875749"/>
          </a:xfrm>
          <a:prstGeom prst="rect">
            <a:avLst/>
          </a:prstGeom>
        </p:spPr>
      </p:pic>
      <p:sp>
        <p:nvSpPr>
          <p:cNvPr id="51" name="Arrow: Right 50">
            <a:extLst>
              <a:ext uri="{FF2B5EF4-FFF2-40B4-BE49-F238E27FC236}">
                <a16:creationId xmlns:a16="http://schemas.microsoft.com/office/drawing/2014/main" id="{D75E1BD4-6DA4-84D3-C1E9-694731EAD96A}"/>
              </a:ext>
            </a:extLst>
          </p:cNvPr>
          <p:cNvSpPr/>
          <p:nvPr/>
        </p:nvSpPr>
        <p:spPr>
          <a:xfrm>
            <a:off x="5537610" y="1161149"/>
            <a:ext cx="447848" cy="194131"/>
          </a:xfrm>
          <a:prstGeom prst="right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19FFA0-A6F6-AEEF-ED65-3F387805A6D5}"/>
              </a:ext>
            </a:extLst>
          </p:cNvPr>
          <p:cNvGrpSpPr/>
          <p:nvPr/>
        </p:nvGrpSpPr>
        <p:grpSpPr>
          <a:xfrm>
            <a:off x="3376941" y="4274533"/>
            <a:ext cx="2904301" cy="2024400"/>
            <a:chOff x="3417455" y="4331951"/>
            <a:chExt cx="2904301" cy="20244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24CC4F-24D5-F5EB-196F-F235170AA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090" b="52779"/>
            <a:stretch>
              <a:fillRect/>
            </a:stretch>
          </p:blipFill>
          <p:spPr>
            <a:xfrm>
              <a:off x="3417455" y="4331951"/>
              <a:ext cx="2898514" cy="17691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11B5CE3-E3AD-5D65-D4CA-07E5A74B3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7" t="86721" r="-317" b="1437"/>
            <a:stretch>
              <a:fillRect/>
            </a:stretch>
          </p:blipFill>
          <p:spPr>
            <a:xfrm>
              <a:off x="3423242" y="5870609"/>
              <a:ext cx="2898514" cy="485742"/>
            </a:xfrm>
            <a:prstGeom prst="rect">
              <a:avLst/>
            </a:prstGeom>
          </p:spPr>
        </p:pic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A80F6706-AE2A-DEB3-DF52-35FD1DA3ECAF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9928" y="3804684"/>
            <a:ext cx="2096773" cy="8736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FE42B6-FA36-5CE8-3ACF-BE177F1754A8}"/>
              </a:ext>
            </a:extLst>
          </p:cNvPr>
          <p:cNvSpPr txBox="1"/>
          <p:nvPr/>
        </p:nvSpPr>
        <p:spPr>
          <a:xfrm>
            <a:off x="3487810" y="3755892"/>
            <a:ext cx="99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800" b="1" dirty="0">
                <a:latin typeface="+mn-lt"/>
                <a:sym typeface="Wingdings" pitchFamily="2" charset="2"/>
              </a:rPr>
              <a:t>A</a:t>
            </a:r>
            <a:r>
              <a:rPr lang="en-US" sz="1800" b="1" baseline="-25000" dirty="0">
                <a:latin typeface="+mn-lt"/>
                <a:sym typeface="Wingdings" pitchFamily="2" charset="2"/>
              </a:rPr>
              <a:t>2</a:t>
            </a:r>
            <a:r>
              <a:rPr lang="en-US" sz="1800" b="1" dirty="0">
                <a:latin typeface="+mn-lt"/>
                <a:sym typeface="Wingdings" pitchFamily="2" charset="2"/>
              </a:rPr>
              <a:t>B</a:t>
            </a:r>
            <a:r>
              <a:rPr lang="en-US" sz="1800" b="1" baseline="-25000" dirty="0">
                <a:latin typeface="+mn-lt"/>
                <a:sym typeface="Wingdings" pitchFamily="2" charset="2"/>
              </a:rPr>
              <a:t>2</a:t>
            </a:r>
            <a:r>
              <a:rPr lang="en-US" sz="1800" b="1" dirty="0">
                <a:latin typeface="+mn-lt"/>
                <a:sym typeface="Wingdings" pitchFamily="2" charset="2"/>
              </a:rPr>
              <a:t>O</a:t>
            </a:r>
            <a:r>
              <a:rPr lang="en-US" sz="1800" b="1" baseline="-25000" dirty="0">
                <a:latin typeface="+mn-lt"/>
                <a:sym typeface="Wingdings" pitchFamily="2" charset="2"/>
              </a:rPr>
              <a:t>7</a:t>
            </a:r>
          </a:p>
        </p:txBody>
      </p:sp>
      <p:pic>
        <p:nvPicPr>
          <p:cNvPr id="15" name="Picture 13" descr="test0.png">
            <a:extLst>
              <a:ext uri="{FF2B5EF4-FFF2-40B4-BE49-F238E27FC236}">
                <a16:creationId xmlns:a16="http://schemas.microsoft.com/office/drawing/2014/main" id="{37491DFD-DC60-58D5-0B5E-F5D7B668AE6B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17099" y="5298325"/>
            <a:ext cx="1371664" cy="71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C4BC34D-FAAC-7BDE-D35E-85612AA16DEC}"/>
              </a:ext>
            </a:extLst>
          </p:cNvPr>
          <p:cNvSpPr/>
          <p:nvPr/>
        </p:nvSpPr>
        <p:spPr>
          <a:xfrm>
            <a:off x="7392880" y="3690938"/>
            <a:ext cx="4409886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cs typeface="Arial" panose="020B0604020202020204" pitchFamily="34" charset="0"/>
              </a:rPr>
              <a:t>E.C. O’Quinn, </a:t>
            </a:r>
            <a:r>
              <a:rPr lang="en-US" sz="1300" i="1" dirty="0">
                <a:cs typeface="Arial" panose="020B0604020202020204" pitchFamily="34" charset="0"/>
              </a:rPr>
              <a:t>et al</a:t>
            </a:r>
            <a:r>
              <a:rPr lang="en-US" sz="1300" dirty="0">
                <a:cs typeface="Arial" panose="020B0604020202020204" pitchFamily="34" charset="0"/>
              </a:rPr>
              <a:t>., </a:t>
            </a:r>
            <a:r>
              <a:rPr lang="en-US" sz="1300" i="1" u="sng" dirty="0">
                <a:cs typeface="Arial" panose="020B0604020202020204" pitchFamily="34" charset="0"/>
              </a:rPr>
              <a:t>Nuclear Science and Engineering</a:t>
            </a:r>
            <a:r>
              <a:rPr lang="en-US" sz="1300" dirty="0">
                <a:cs typeface="Arial" panose="020B0604020202020204" pitchFamily="34" charset="0"/>
              </a:rPr>
              <a:t> (2025)</a:t>
            </a:r>
          </a:p>
          <a:p>
            <a:pPr algn="ctr"/>
            <a:endParaRPr lang="en-US" sz="300" dirty="0"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cs typeface="Arial" panose="020B0604020202020204" pitchFamily="34" charset="0"/>
              </a:rPr>
              <a:t>(CDAC supported)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F80303-AEE7-6D38-6115-00353BF28261}"/>
              </a:ext>
            </a:extLst>
          </p:cNvPr>
          <p:cNvSpPr txBox="1"/>
          <p:nvPr/>
        </p:nvSpPr>
        <p:spPr>
          <a:xfrm>
            <a:off x="4475903" y="5464804"/>
            <a:ext cx="995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600" b="1" dirty="0">
                <a:solidFill>
                  <a:schemeClr val="accent3"/>
                </a:solidFill>
                <a:latin typeface="+mn-lt"/>
                <a:sym typeface="Wingdings" pitchFamily="2" charset="2"/>
              </a:rPr>
              <a:t>pristine 6 GPa</a:t>
            </a:r>
            <a:endParaRPr lang="en-US" sz="1600" b="1" baseline="-25000" dirty="0">
              <a:solidFill>
                <a:schemeClr val="accent3"/>
              </a:solidFill>
              <a:latin typeface="+mn-lt"/>
              <a:sym typeface="Wingdings" pitchFamily="2" charset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020A4F-B5A4-546B-D2D6-BA7F555D1FC9}"/>
              </a:ext>
            </a:extLst>
          </p:cNvPr>
          <p:cNvSpPr txBox="1"/>
          <p:nvPr/>
        </p:nvSpPr>
        <p:spPr>
          <a:xfrm>
            <a:off x="6049429" y="3206955"/>
            <a:ext cx="20814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1600" b="1" dirty="0">
                <a:solidFill>
                  <a:schemeClr val="accent3"/>
                </a:solidFill>
                <a:latin typeface="+mn-lt"/>
                <a:sym typeface="Wingdings" pitchFamily="2" charset="2"/>
              </a:rPr>
              <a:t>irradiated - ambient</a:t>
            </a:r>
            <a:endParaRPr lang="en-US" sz="1600" b="1" baseline="-25000" dirty="0">
              <a:solidFill>
                <a:schemeClr val="accent3"/>
              </a:solidFill>
              <a:latin typeface="+mn-lt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5919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8" grpId="0"/>
      <p:bldP spid="39" grpId="0"/>
      <p:bldP spid="40" grpId="0"/>
      <p:bldP spid="14" grpId="0"/>
      <p:bldP spid="16" grpId="0"/>
      <p:bldP spid="19" grpId="0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F57A-B178-C157-5C32-18414E0E3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77D1B9B1-32BB-76FF-46C6-0C2DB5D54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4BEFE4-83AD-161B-0538-B690301D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C3C71A43-17BF-E59F-1DB9-93D33CA5C3F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FC811F-BD85-3C48-EC04-F07DFB886488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ACA2A9AF-D960-A49A-44FF-838336B93E17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Foundation MLIPs for Redox-Active Materials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6B091DB-09F0-EFAF-0C73-C97BF764F6D7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3629C-79EF-9A71-1272-921BE07E6BFD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6133E-6427-D9BE-FF99-6655A4856A53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CFE46F7-4A96-9775-E36C-CAB16BDD8B64}"/>
              </a:ext>
            </a:extLst>
          </p:cNvPr>
          <p:cNvSpPr txBox="1"/>
          <p:nvPr/>
        </p:nvSpPr>
        <p:spPr>
          <a:xfrm>
            <a:off x="222422" y="1358390"/>
            <a:ext cx="3580952" cy="1354217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MOTIVATION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Classical potentials cannot capture Ce³⁺/Ce⁴⁺ redox effects; accurate defect structures require charge/spin-aware MLIPs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1F167-50A1-40B1-176D-5F0D34A7E590}"/>
              </a:ext>
            </a:extLst>
          </p:cNvPr>
          <p:cNvSpPr txBox="1"/>
          <p:nvPr/>
        </p:nvSpPr>
        <p:spPr>
          <a:xfrm>
            <a:off x="222422" y="3009370"/>
            <a:ext cx="3580952" cy="2939266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APPROACH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Develop transferable neural network MLIP for CeO2 with explicit oxidation state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Neural network cluster expansion on GPU: long-timescale MD with spin/oxidation state degrees of freedom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Couple to two-temperature model for electron-phonon dynamics at ion-track timescales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Pretrain across compositions and damage conditions; fine-tune to specific irradiation regimes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A4DCBFB-1DCB-0AB6-6B89-D11728C2F3D6}"/>
              </a:ext>
            </a:extLst>
          </p:cNvPr>
          <p:cNvSpPr txBox="1"/>
          <p:nvPr/>
        </p:nvSpPr>
        <p:spPr>
          <a:xfrm>
            <a:off x="4085113" y="4366324"/>
            <a:ext cx="7954512" cy="1569660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Significance 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First charge/spin-aware MLIP for redox-active ceramics validated against experimental observables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Foundation model portable to other REE-oxides and actinide systems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Prerequisite for reliable defect phase diagram construction and mechanical property prediction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Training opportunity at the intersection of ML, atomic simulation, and extreme-condition materials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996654-AD09-9F89-D343-94BAEDECE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628" y="1207091"/>
            <a:ext cx="2255652" cy="28344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CE30BD-0A4A-CEF5-BEFC-22E427E17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701" y="1295557"/>
            <a:ext cx="35306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40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543A-EE02-0294-1EEB-987AB246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CEA53FE9-100E-2547-6C13-1D5B74F6A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F05F7-03CC-C692-FC01-300FF526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FF4B0D7-C145-4172-BA01-9E1C3C7216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8D1AAFE-CE83-2E75-B34B-DA9FEF0FBB6B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335BB5C7-EC52-4F61-5B31-FA6513184C84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661303"/>
                </a:solidFill>
                <a:latin typeface="Arial"/>
                <a:cs typeface="Arial"/>
              </a:rPr>
              <a:t>Exp-Driven MLIP Refinement, AI Accelerated Sampling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B7ACFE-DDBB-5CE1-1636-92517759DE9E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2CF36-02D6-62CA-8AAF-7D441A6E7593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51C8B-8E28-D5FD-06D0-8EA978078D1B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ACE9D0-6BCB-F67F-D135-30B1063F9C7F}"/>
              </a:ext>
            </a:extLst>
          </p:cNvPr>
          <p:cNvSpPr txBox="1"/>
          <p:nvPr/>
        </p:nvSpPr>
        <p:spPr>
          <a:xfrm>
            <a:off x="222422" y="1358390"/>
            <a:ext cx="3713474" cy="1354217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MOTIVATION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MD cannot exhaustively cover the high-dimensional coupled extreme condition space — experiment and computation must inform each other continuously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1B0F8-5E97-C7C2-0020-9D727D189543}"/>
              </a:ext>
            </a:extLst>
          </p:cNvPr>
          <p:cNvSpPr txBox="1"/>
          <p:nvPr/>
        </p:nvSpPr>
        <p:spPr>
          <a:xfrm>
            <a:off x="222422" y="3055067"/>
            <a:ext cx="3713474" cy="3016210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APPROACH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XANES measurements of Ce³⁺/Ce⁴⁺ redox changes as quantitative update signal for MLIP refinement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Symmetry-decomposed representations to characterize correlated disorder in MD snapshots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Surrogate models trained on validated MD snapshots for accelerated condition space sampling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Active learning prioritizes most informative (P, T, </a:t>
            </a:r>
            <a:r>
              <a:rPr lang="en-US" sz="1400" dirty="0" err="1"/>
              <a:t>dE</a:t>
            </a:r>
            <a:r>
              <a:rPr lang="en-US" sz="1400" dirty="0"/>
              <a:t>/dx, grain size) combinations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FB850EB-57B4-6923-62C8-1BB200580B1A}"/>
              </a:ext>
            </a:extLst>
          </p:cNvPr>
          <p:cNvSpPr txBox="1"/>
          <p:nvPr/>
        </p:nvSpPr>
        <p:spPr>
          <a:xfrm>
            <a:off x="4168240" y="4810942"/>
            <a:ext cx="7871385" cy="1354217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Significance 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Quantitative, automated feedback loop between XANES data and atomistic models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Symmetry-decomposed disorder descriptors: physically interpretable, transferable across material classes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Dramatic reduction in computational cost of condition space exploration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92D37-499B-4254-346B-1EC970D94B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3052" y="2035498"/>
            <a:ext cx="1854548" cy="1828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522D12-DDE8-2600-D424-4C04981FB0B8}"/>
              </a:ext>
            </a:extLst>
          </p:cNvPr>
          <p:cNvSpPr txBox="1"/>
          <p:nvPr/>
        </p:nvSpPr>
        <p:spPr>
          <a:xfrm>
            <a:off x="4028091" y="2925974"/>
            <a:ext cx="3298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XANES measurements: </a:t>
            </a:r>
          </a:p>
          <a:p>
            <a:pPr algn="ctr"/>
            <a:r>
              <a:rPr lang="en-US" dirty="0">
                <a:latin typeface="Avenir Book" panose="02000503020000020003" pitchFamily="2" charset="0"/>
              </a:rPr>
              <a:t>Quantify Ce</a:t>
            </a:r>
            <a:r>
              <a:rPr lang="en-US" baseline="30000" dirty="0">
                <a:latin typeface="Avenir Book" panose="02000503020000020003" pitchFamily="2" charset="0"/>
              </a:rPr>
              <a:t>3+</a:t>
            </a:r>
            <a:r>
              <a:rPr lang="en-US" dirty="0">
                <a:latin typeface="Avenir Book" panose="02000503020000020003" pitchFamily="2" charset="0"/>
              </a:rPr>
              <a:t>/Ce</a:t>
            </a:r>
            <a:r>
              <a:rPr lang="en-US" baseline="30000" dirty="0">
                <a:latin typeface="Avenir Book" panose="02000503020000020003" pitchFamily="2" charset="0"/>
              </a:rPr>
              <a:t>4+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7ED0B-97FE-48C3-1E3D-BCBEEEF67C38}"/>
              </a:ext>
            </a:extLst>
          </p:cNvPr>
          <p:cNvSpPr txBox="1"/>
          <p:nvPr/>
        </p:nvSpPr>
        <p:spPr>
          <a:xfrm>
            <a:off x="8332717" y="960653"/>
            <a:ext cx="2967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MLIP parameter updates; subsequent MD</a:t>
            </a:r>
            <a:endParaRPr lang="en-US" baseline="30000" dirty="0">
              <a:latin typeface="Avenir Book" panose="02000503020000020003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A7FDA5-435D-F9FD-5D14-18F8C414E265}"/>
              </a:ext>
            </a:extLst>
          </p:cNvPr>
          <p:cNvSpPr txBox="1"/>
          <p:nvPr/>
        </p:nvSpPr>
        <p:spPr>
          <a:xfrm>
            <a:off x="5982381" y="3876310"/>
            <a:ext cx="3669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Symmetry-decomposed analysis of MD damage profiles</a:t>
            </a:r>
            <a:endParaRPr lang="en-US" baseline="30000" dirty="0">
              <a:latin typeface="Avenir Book" panose="02000503020000020003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55FC75-DCF6-D6FF-4DCF-D25788A8B017}"/>
              </a:ext>
            </a:extLst>
          </p:cNvPr>
          <p:cNvGrpSpPr/>
          <p:nvPr/>
        </p:nvGrpSpPr>
        <p:grpSpPr>
          <a:xfrm>
            <a:off x="4455603" y="1071799"/>
            <a:ext cx="2308695" cy="1904951"/>
            <a:chOff x="302955" y="775445"/>
            <a:chExt cx="4056009" cy="3346697"/>
          </a:xfrm>
        </p:grpSpPr>
        <p:pic>
          <p:nvPicPr>
            <p:cNvPr id="14" name="Picture 13" descr="C:\Users\rpalomar\Google Drive\Research\CeO2 ThO2 Neutron\Figures\Total Correlation Functions.png">
              <a:extLst>
                <a:ext uri="{FF2B5EF4-FFF2-40B4-BE49-F238E27FC236}">
                  <a16:creationId xmlns:a16="http://schemas.microsoft.com/office/drawing/2014/main" id="{F0FE5862-DABD-E773-A8E6-7FD856F5CE00}"/>
                </a:ext>
              </a:extLst>
            </p:cNvPr>
            <p:cNvPicPr/>
            <p:nvPr/>
          </p:nvPicPr>
          <p:blipFill rotWithShape="1"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52737"/>
            <a:stretch/>
          </p:blipFill>
          <p:spPr bwMode="auto">
            <a:xfrm>
              <a:off x="304164" y="775445"/>
              <a:ext cx="4054800" cy="2874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 descr="C:\Users\rpalomar\Google Drive\Research\CeO2 ThO2 Neutron\Figures\Total Correlation Functions.png">
              <a:extLst>
                <a:ext uri="{FF2B5EF4-FFF2-40B4-BE49-F238E27FC236}">
                  <a16:creationId xmlns:a16="http://schemas.microsoft.com/office/drawing/2014/main" id="{29F215B2-DBF5-D132-1A9A-701616FD38A4}"/>
                </a:ext>
              </a:extLst>
            </p:cNvPr>
            <p:cNvPicPr/>
            <p:nvPr/>
          </p:nvPicPr>
          <p:blipFill rotWithShape="1"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91967"/>
            <a:stretch/>
          </p:blipFill>
          <p:spPr bwMode="auto">
            <a:xfrm>
              <a:off x="302955" y="3633507"/>
              <a:ext cx="4054800" cy="4886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2022BCF-8AB6-4183-62C1-C47A5668A9A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5043" y="1674071"/>
            <a:ext cx="2083439" cy="157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02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4010-630D-1740-8AAC-0D48F049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NSA1">
            <a:extLst>
              <a:ext uri="{FF2B5EF4-FFF2-40B4-BE49-F238E27FC236}">
                <a16:creationId xmlns:a16="http://schemas.microsoft.com/office/drawing/2014/main" id="{330297FA-92A3-0F44-B6C5-F6025A651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7026" y="6324600"/>
            <a:ext cx="1752599" cy="39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049783-497B-9662-F7C2-82A53389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119F-E1C9-451A-8747-A02CB17B93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DE08E869-FEEA-0C0F-55FB-73E361AD701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473" y="6245400"/>
            <a:ext cx="1541196" cy="4747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E3858D-F0FC-FA69-66E6-2C37FA9C45F0}"/>
              </a:ext>
            </a:extLst>
          </p:cNvPr>
          <p:cNvCxnSpPr/>
          <p:nvPr/>
        </p:nvCxnSpPr>
        <p:spPr>
          <a:xfrm>
            <a:off x="1613" y="786723"/>
            <a:ext cx="12188825" cy="0"/>
          </a:xfrm>
          <a:prstGeom prst="line">
            <a:avLst/>
          </a:prstGeom>
          <a:ln w="76200" cmpd="tri">
            <a:solidFill>
              <a:schemeClr val="tx1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2">
            <a:extLst>
              <a:ext uri="{FF2B5EF4-FFF2-40B4-BE49-F238E27FC236}">
                <a16:creationId xmlns:a16="http://schemas.microsoft.com/office/drawing/2014/main" id="{52EC985B-0C89-1274-70C8-FD22D28638ED}"/>
              </a:ext>
            </a:extLst>
          </p:cNvPr>
          <p:cNvSpPr txBox="1">
            <a:spLocks/>
          </p:cNvSpPr>
          <p:nvPr/>
        </p:nvSpPr>
        <p:spPr>
          <a:xfrm>
            <a:off x="1614" y="136524"/>
            <a:ext cx="9814882" cy="7281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1303"/>
                </a:solidFill>
                <a:latin typeface="Arial"/>
                <a:cs typeface="Arial"/>
              </a:rPr>
              <a:t>Toward Autonomous Discovery of Hidden Phases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246C1F1-4343-F83C-9A99-D9BA1BAE7A6E}"/>
              </a:ext>
            </a:extLst>
          </p:cNvPr>
          <p:cNvSpPr txBox="1">
            <a:spLocks/>
          </p:cNvSpPr>
          <p:nvPr/>
        </p:nvSpPr>
        <p:spPr>
          <a:xfrm>
            <a:off x="4594149" y="6567119"/>
            <a:ext cx="2989827" cy="30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3B3C3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115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0D5D8-5183-1CF1-A41E-5DAE0D29ADB1}"/>
              </a:ext>
            </a:extLst>
          </p:cNvPr>
          <p:cNvSpPr txBox="1"/>
          <p:nvPr/>
        </p:nvSpPr>
        <p:spPr>
          <a:xfrm>
            <a:off x="9874605" y="76984"/>
            <a:ext cx="2148692" cy="276999"/>
          </a:xfrm>
          <a:prstGeom prst="rect">
            <a:avLst/>
          </a:prstGeom>
          <a:solidFill>
            <a:srgbClr val="FFE6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4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II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MULTIPLE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B6C6B-A978-7FC0-0AE8-ACC964EF6097}"/>
              </a:ext>
            </a:extLst>
          </p:cNvPr>
          <p:cNvSpPr txBox="1"/>
          <p:nvPr/>
        </p:nvSpPr>
        <p:spPr>
          <a:xfrm>
            <a:off x="9816496" y="413728"/>
            <a:ext cx="2214814" cy="276999"/>
          </a:xfrm>
          <a:prstGeom prst="rect">
            <a:avLst/>
          </a:prstGeom>
          <a:solidFill>
            <a:srgbClr val="DAE3F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 defTabSz="3686671">
              <a:defRPr sz="1200" b="1" i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ctr" defTabSz="36866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Advanced Radiation Facility</a:t>
            </a:r>
            <a:endParaRPr kumimoji="0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430E65-7FEF-AC73-C7B2-C73A894DC8C3}"/>
              </a:ext>
            </a:extLst>
          </p:cNvPr>
          <p:cNvSpPr txBox="1"/>
          <p:nvPr/>
        </p:nvSpPr>
        <p:spPr>
          <a:xfrm>
            <a:off x="222422" y="1080095"/>
            <a:ext cx="3660465" cy="1354217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MOTIVATION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The coupled P-T-H-E condition space is vast — sequential human-guided exploration cannot efficiently locate hidden and metastable phases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2FAF8-11E3-418A-0CCA-00DC1991A2AB}"/>
              </a:ext>
            </a:extLst>
          </p:cNvPr>
          <p:cNvSpPr txBox="1"/>
          <p:nvPr/>
        </p:nvSpPr>
        <p:spPr>
          <a:xfrm>
            <a:off x="222422" y="2846334"/>
            <a:ext cx="3660465" cy="2939266"/>
          </a:xfrm>
          <a:prstGeom prst="rect">
            <a:avLst/>
          </a:prstGeom>
          <a:ln w="12700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APPROACH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Model-to-experiment: AI predictions guide irradiation experiments toward conditions most likely to yield hidden phases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Experiment-to-model: XANES and diffraction data update models continuously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One-shot damage structure generation: Feynman-Kac steering in diffusion models (early-stage work in progress)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Longer horizon: fully autonomous laboratory across P-T-H-E space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endParaRPr lang="en-US" sz="500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F003F71-87E9-F7BE-31AE-6593F448EBB0}"/>
              </a:ext>
            </a:extLst>
          </p:cNvPr>
          <p:cNvSpPr txBox="1"/>
          <p:nvPr/>
        </p:nvSpPr>
        <p:spPr>
          <a:xfrm>
            <a:off x="4049486" y="4132278"/>
            <a:ext cx="7973811" cy="2000548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rgbClr val="C00000"/>
                </a:solidFill>
              </a:rPr>
              <a:t>Significance </a:t>
            </a:r>
          </a:p>
          <a:p>
            <a:pPr>
              <a:defRPr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800" dirty="0"/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First closed-loop AI-driven discovery in coupled extreme condition space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Feynman-Kac/diffusion approach: physically grounded generative framework for disordered materials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Active learning protocol transferable to other CDAC material classes and condition combinations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Positions CDAC uniquely at the intersection of world-unique experiments and Genesis AI/ML framework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dirty="0"/>
              <a:t>Training opportunity at the frontier of AI for materials discovery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56930-836C-3A19-D4C9-DC85CA5C8F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372" y="1141861"/>
            <a:ext cx="3660465" cy="2531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B7C95C-62EB-102F-557C-34ADABC5E14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4163" y="1048264"/>
            <a:ext cx="3399813" cy="28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7425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DAC Review 2015">
      <a:dk1>
        <a:sysClr val="windowText" lastClr="000000"/>
      </a:dk1>
      <a:lt1>
        <a:srgbClr val="661303"/>
      </a:lt1>
      <a:dk2>
        <a:srgbClr val="EEEEEE"/>
      </a:dk2>
      <a:lt2>
        <a:srgbClr val="D3D3D3"/>
      </a:lt2>
      <a:accent1>
        <a:srgbClr val="355E8F"/>
      </a:accent1>
      <a:accent2>
        <a:srgbClr val="214E1E"/>
      </a:accent2>
      <a:accent3>
        <a:srgbClr val="661303"/>
      </a:accent3>
      <a:accent4>
        <a:srgbClr val="89AAD3"/>
      </a:accent4>
      <a:accent5>
        <a:srgbClr val="B4E1B1"/>
      </a:accent5>
      <a:accent6>
        <a:srgbClr val="FEEFEC"/>
      </a:accent6>
      <a:hlink>
        <a:srgbClr val="214E1E"/>
      </a:hlink>
      <a:folHlink>
        <a:srgbClr val="214E1E"/>
      </a:folHlink>
    </a:clrScheme>
    <a:fontScheme name="CDAC Review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Default Design">
  <a:themeElements>
    <a:clrScheme name="">
      <a:dk1>
        <a:srgbClr val="003399"/>
      </a:dk1>
      <a:lt1>
        <a:srgbClr val="FFFFFF"/>
      </a:lt1>
      <a:dk2>
        <a:srgbClr val="003399"/>
      </a:dk2>
      <a:lt2>
        <a:srgbClr val="777777"/>
      </a:lt2>
      <a:accent1>
        <a:srgbClr val="000099"/>
      </a:accent1>
      <a:accent2>
        <a:srgbClr val="00AFAF"/>
      </a:accent2>
      <a:accent3>
        <a:srgbClr val="FFFFFF"/>
      </a:accent3>
      <a:accent4>
        <a:srgbClr val="002A82"/>
      </a:accent4>
      <a:accent5>
        <a:srgbClr val="AAAACA"/>
      </a:accent5>
      <a:accent6>
        <a:srgbClr val="009E9E"/>
      </a:accent6>
      <a:hlink>
        <a:srgbClr val="FFCC66"/>
      </a:hlink>
      <a:folHlink>
        <a:srgbClr val="FF0000"/>
      </a:folHlink>
    </a:clrScheme>
    <a:fontScheme name="Default Design">
      <a:majorFont>
        <a:latin typeface="Times New Roman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accent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accent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Theme">
  <a:themeElements>
    <a:clrScheme name="CDAC Review 2015">
      <a:dk1>
        <a:sysClr val="windowText" lastClr="000000"/>
      </a:dk1>
      <a:lt1>
        <a:srgbClr val="661303"/>
      </a:lt1>
      <a:dk2>
        <a:srgbClr val="EEEEEE"/>
      </a:dk2>
      <a:lt2>
        <a:srgbClr val="D3D3D3"/>
      </a:lt2>
      <a:accent1>
        <a:srgbClr val="355E8F"/>
      </a:accent1>
      <a:accent2>
        <a:srgbClr val="214E1E"/>
      </a:accent2>
      <a:accent3>
        <a:srgbClr val="661303"/>
      </a:accent3>
      <a:accent4>
        <a:srgbClr val="89AAD3"/>
      </a:accent4>
      <a:accent5>
        <a:srgbClr val="B4E1B1"/>
      </a:accent5>
      <a:accent6>
        <a:srgbClr val="FEEFEC"/>
      </a:accent6>
      <a:hlink>
        <a:srgbClr val="214E1E"/>
      </a:hlink>
      <a:folHlink>
        <a:srgbClr val="214E1E"/>
      </a:folHlink>
    </a:clrScheme>
    <a:fontScheme name="CDAC Review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3601</TotalTime>
  <Words>4968</Words>
  <Application>Microsoft Macintosh PowerPoint</Application>
  <PresentationFormat>Widescreen</PresentationFormat>
  <Paragraphs>934</Paragraphs>
  <Slides>52</Slides>
  <Notes>51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Aptos</vt:lpstr>
      <vt:lpstr>Arial</vt:lpstr>
      <vt:lpstr>Arial Bold</vt:lpstr>
      <vt:lpstr>Avenir Book</vt:lpstr>
      <vt:lpstr>Calibri</vt:lpstr>
      <vt:lpstr>Cambria Math</vt:lpstr>
      <vt:lpstr>Century Schoolbook</vt:lpstr>
      <vt:lpstr>Helvetica</vt:lpstr>
      <vt:lpstr>Monotype Sorts</vt:lpstr>
      <vt:lpstr>Symbol</vt:lpstr>
      <vt:lpstr>Times New Roman</vt:lpstr>
      <vt:lpstr>Wingdings</vt:lpstr>
      <vt:lpstr>2_Office Theme</vt:lpstr>
      <vt:lpstr>7_Default Design</vt:lpstr>
      <vt:lpstr>3_Office Theme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Hemley, Russell J</dc:creator>
  <cp:lastModifiedBy>Ertekin, Elif</cp:lastModifiedBy>
  <cp:revision>196</cp:revision>
  <cp:lastPrinted>2025-09-04T17:40:07Z</cp:lastPrinted>
  <dcterms:created xsi:type="dcterms:W3CDTF">2021-01-17T16:13:54Z</dcterms:created>
  <dcterms:modified xsi:type="dcterms:W3CDTF">2026-07-17T16:21:29Z</dcterms:modified>
</cp:coreProperties>
</file>