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6" r:id="rId2"/>
    <p:sldId id="293" r:id="rId3"/>
    <p:sldId id="312" r:id="rId4"/>
    <p:sldId id="311" r:id="rId5"/>
    <p:sldId id="294" r:id="rId6"/>
    <p:sldId id="309" r:id="rId7"/>
    <p:sldId id="291" r:id="rId8"/>
    <p:sldId id="313" r:id="rId9"/>
    <p:sldId id="289" r:id="rId10"/>
    <p:sldId id="290" r:id="rId11"/>
    <p:sldId id="288" r:id="rId12"/>
    <p:sldId id="295" r:id="rId13"/>
    <p:sldId id="306" r:id="rId14"/>
    <p:sldId id="296" r:id="rId15"/>
    <p:sldId id="307" r:id="rId16"/>
    <p:sldId id="260" r:id="rId17"/>
    <p:sldId id="300" r:id="rId18"/>
    <p:sldId id="266" r:id="rId19"/>
    <p:sldId id="297" r:id="rId20"/>
    <p:sldId id="302" r:id="rId21"/>
    <p:sldId id="303" r:id="rId22"/>
    <p:sldId id="304" r:id="rId23"/>
    <p:sldId id="299" r:id="rId24"/>
    <p:sldId id="259" r:id="rId25"/>
    <p:sldId id="30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94B"/>
    <a:srgbClr val="FF5F05"/>
    <a:srgbClr val="006230"/>
    <a:srgbClr val="FCB316"/>
    <a:srgbClr val="00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7"/>
    <p:restoredTop sz="86476"/>
  </p:normalViewPr>
  <p:slideViewPr>
    <p:cSldViewPr snapToGrid="0" snapToObjects="1" showGuides="1">
      <p:cViewPr varScale="1">
        <p:scale>
          <a:sx n="115" d="100"/>
          <a:sy n="115" d="100"/>
        </p:scale>
        <p:origin x="1016" y="200"/>
      </p:cViewPr>
      <p:guideLst/>
    </p:cSldViewPr>
  </p:slideViewPr>
  <p:outlineViewPr>
    <p:cViewPr>
      <p:scale>
        <a:sx n="33" d="100"/>
        <a:sy n="33" d="100"/>
      </p:scale>
      <p:origin x="0" y="-166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239D73C-AF14-7643-8BC7-209F4FB10DDF}" type="datetimeFigureOut">
              <a:rPr lang="en-US" smtClean="0"/>
              <a:pPr/>
              <a:t>6/16/26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32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3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935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63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08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098E9-214B-6EF1-4EAC-980E57E7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DF05B-0025-77D2-719D-CE269EC75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4971D-5C6E-9C1F-8537-2F12E78C1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81A13-7579-6197-37D5-0034C4892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4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024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97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42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597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calibrate and select the parameter U by comparing features like electronic density of states, band gaps, and magnetic moments to experiment. </a:t>
            </a:r>
          </a:p>
          <a:p>
            <a:endParaRPr lang="en-US" dirty="0"/>
          </a:p>
          <a:p>
            <a:r>
              <a:rPr lang="en-US" dirty="0"/>
              <a:t>This is tricky in practice because these compounds exhibit different mixed valence Ce species and different magnetic moments on the Ce atoms.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52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699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02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382CD-B772-6209-68DB-DCAA508C1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2643D-739B-2FC6-613B-0FAE63C89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47765-474C-128E-0955-5E7661D95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3DE2E-0DD4-45C1-1769-C8A5F57F4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62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564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183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92D35-D49A-C771-B820-0B0436B4A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F3C59-1892-AC27-FA55-743B35C4E3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368" y="5769954"/>
            <a:ext cx="2800928" cy="72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0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rgbClr val="13294B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809DF-4FDB-0788-444C-AD956826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368" y="5888985"/>
            <a:ext cx="3542157" cy="60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8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rgbClr val="13294B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rgbClr val="FF5F0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92D35-D49A-C771-B820-0B0436B4A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81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92D35-D49A-C771-B820-0B0436B4A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CF9732-7D25-20B5-2911-D809F2411C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78130" y="995819"/>
            <a:ext cx="5113870" cy="5865356"/>
          </a:xfrm>
          <a:custGeom>
            <a:avLst/>
            <a:gdLst>
              <a:gd name="connsiteX0" fmla="*/ 852329 w 5113870"/>
              <a:gd name="connsiteY0" fmla="*/ 0 h 5862181"/>
              <a:gd name="connsiteX1" fmla="*/ 4261541 w 5113870"/>
              <a:gd name="connsiteY1" fmla="*/ 0 h 5862181"/>
              <a:gd name="connsiteX2" fmla="*/ 5113870 w 5113870"/>
              <a:gd name="connsiteY2" fmla="*/ 852329 h 5862181"/>
              <a:gd name="connsiteX3" fmla="*/ 5113870 w 5113870"/>
              <a:gd name="connsiteY3" fmla="*/ 5862181 h 5862181"/>
              <a:gd name="connsiteX4" fmla="*/ 5113870 w 5113870"/>
              <a:gd name="connsiteY4" fmla="*/ 5862181 h 5862181"/>
              <a:gd name="connsiteX5" fmla="*/ 0 w 5113870"/>
              <a:gd name="connsiteY5" fmla="*/ 5862181 h 5862181"/>
              <a:gd name="connsiteX6" fmla="*/ 0 w 5113870"/>
              <a:gd name="connsiteY6" fmla="*/ 5862181 h 5862181"/>
              <a:gd name="connsiteX7" fmla="*/ 0 w 5113870"/>
              <a:gd name="connsiteY7" fmla="*/ 852329 h 5862181"/>
              <a:gd name="connsiteX8" fmla="*/ 852329 w 5113870"/>
              <a:gd name="connsiteY8" fmla="*/ 0 h 5862181"/>
              <a:gd name="connsiteX0" fmla="*/ 852329 w 5294317"/>
              <a:gd name="connsiteY0" fmla="*/ 0 h 5862181"/>
              <a:gd name="connsiteX1" fmla="*/ 5074341 w 5294317"/>
              <a:gd name="connsiteY1" fmla="*/ 12700 h 5862181"/>
              <a:gd name="connsiteX2" fmla="*/ 5113870 w 5294317"/>
              <a:gd name="connsiteY2" fmla="*/ 852329 h 5862181"/>
              <a:gd name="connsiteX3" fmla="*/ 5113870 w 5294317"/>
              <a:gd name="connsiteY3" fmla="*/ 5862181 h 5862181"/>
              <a:gd name="connsiteX4" fmla="*/ 5113870 w 5294317"/>
              <a:gd name="connsiteY4" fmla="*/ 5862181 h 5862181"/>
              <a:gd name="connsiteX5" fmla="*/ 0 w 5294317"/>
              <a:gd name="connsiteY5" fmla="*/ 5862181 h 5862181"/>
              <a:gd name="connsiteX6" fmla="*/ 0 w 5294317"/>
              <a:gd name="connsiteY6" fmla="*/ 5862181 h 5862181"/>
              <a:gd name="connsiteX7" fmla="*/ 0 w 5294317"/>
              <a:gd name="connsiteY7" fmla="*/ 852329 h 5862181"/>
              <a:gd name="connsiteX8" fmla="*/ 852329 w 5294317"/>
              <a:gd name="connsiteY8" fmla="*/ 0 h 5862181"/>
              <a:gd name="connsiteX0" fmla="*/ 852329 w 5317339"/>
              <a:gd name="connsiteY0" fmla="*/ 0 h 5862181"/>
              <a:gd name="connsiteX1" fmla="*/ 5106091 w 5317339"/>
              <a:gd name="connsiteY1" fmla="*/ 15875 h 5862181"/>
              <a:gd name="connsiteX2" fmla="*/ 5113870 w 5317339"/>
              <a:gd name="connsiteY2" fmla="*/ 852329 h 5862181"/>
              <a:gd name="connsiteX3" fmla="*/ 5113870 w 5317339"/>
              <a:gd name="connsiteY3" fmla="*/ 5862181 h 5862181"/>
              <a:gd name="connsiteX4" fmla="*/ 5113870 w 5317339"/>
              <a:gd name="connsiteY4" fmla="*/ 5862181 h 5862181"/>
              <a:gd name="connsiteX5" fmla="*/ 0 w 5317339"/>
              <a:gd name="connsiteY5" fmla="*/ 5862181 h 5862181"/>
              <a:gd name="connsiteX6" fmla="*/ 0 w 5317339"/>
              <a:gd name="connsiteY6" fmla="*/ 5862181 h 5862181"/>
              <a:gd name="connsiteX7" fmla="*/ 0 w 5317339"/>
              <a:gd name="connsiteY7" fmla="*/ 852329 h 5862181"/>
              <a:gd name="connsiteX8" fmla="*/ 852329 w 5317339"/>
              <a:gd name="connsiteY8" fmla="*/ 0 h 5862181"/>
              <a:gd name="connsiteX0" fmla="*/ 852329 w 5118831"/>
              <a:gd name="connsiteY0" fmla="*/ 0 h 5862181"/>
              <a:gd name="connsiteX1" fmla="*/ 5106091 w 5118831"/>
              <a:gd name="connsiteY1" fmla="*/ 158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7043"/>
              <a:gd name="connsiteY0" fmla="*/ 6350 h 5868531"/>
              <a:gd name="connsiteX1" fmla="*/ 5102916 w 5117043"/>
              <a:gd name="connsiteY1" fmla="*/ 0 h 5868531"/>
              <a:gd name="connsiteX2" fmla="*/ 5113870 w 5117043"/>
              <a:gd name="connsiteY2" fmla="*/ 858679 h 5868531"/>
              <a:gd name="connsiteX3" fmla="*/ 5113870 w 5117043"/>
              <a:gd name="connsiteY3" fmla="*/ 5868531 h 5868531"/>
              <a:gd name="connsiteX4" fmla="*/ 5113870 w 5117043"/>
              <a:gd name="connsiteY4" fmla="*/ 5868531 h 5868531"/>
              <a:gd name="connsiteX5" fmla="*/ 0 w 5117043"/>
              <a:gd name="connsiteY5" fmla="*/ 5868531 h 5868531"/>
              <a:gd name="connsiteX6" fmla="*/ 0 w 5117043"/>
              <a:gd name="connsiteY6" fmla="*/ 5868531 h 5868531"/>
              <a:gd name="connsiteX7" fmla="*/ 0 w 5117043"/>
              <a:gd name="connsiteY7" fmla="*/ 858679 h 5868531"/>
              <a:gd name="connsiteX8" fmla="*/ 852329 w 5117043"/>
              <a:gd name="connsiteY8" fmla="*/ 6350 h 5868531"/>
              <a:gd name="connsiteX0" fmla="*/ 852329 w 5118831"/>
              <a:gd name="connsiteY0" fmla="*/ 0 h 5862181"/>
              <a:gd name="connsiteX1" fmla="*/ 5106091 w 5118831"/>
              <a:gd name="connsiteY1" fmla="*/ 31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3955"/>
              <a:gd name="connsiteY0" fmla="*/ 6350 h 5868531"/>
              <a:gd name="connsiteX1" fmla="*/ 5093391 w 5113955"/>
              <a:gd name="connsiteY1" fmla="*/ 0 h 5868531"/>
              <a:gd name="connsiteX2" fmla="*/ 5113870 w 5113955"/>
              <a:gd name="connsiteY2" fmla="*/ 858679 h 5868531"/>
              <a:gd name="connsiteX3" fmla="*/ 5113870 w 5113955"/>
              <a:gd name="connsiteY3" fmla="*/ 5868531 h 5868531"/>
              <a:gd name="connsiteX4" fmla="*/ 5113870 w 5113955"/>
              <a:gd name="connsiteY4" fmla="*/ 5868531 h 5868531"/>
              <a:gd name="connsiteX5" fmla="*/ 0 w 5113955"/>
              <a:gd name="connsiteY5" fmla="*/ 5868531 h 5868531"/>
              <a:gd name="connsiteX6" fmla="*/ 0 w 5113955"/>
              <a:gd name="connsiteY6" fmla="*/ 5868531 h 5868531"/>
              <a:gd name="connsiteX7" fmla="*/ 0 w 5113955"/>
              <a:gd name="connsiteY7" fmla="*/ 858679 h 5868531"/>
              <a:gd name="connsiteX8" fmla="*/ 852329 w 5113955"/>
              <a:gd name="connsiteY8" fmla="*/ 6350 h 5868531"/>
              <a:gd name="connsiteX0" fmla="*/ 852329 w 5117043"/>
              <a:gd name="connsiteY0" fmla="*/ 3175 h 5865356"/>
              <a:gd name="connsiteX1" fmla="*/ 5102916 w 5117043"/>
              <a:gd name="connsiteY1" fmla="*/ 0 h 5865356"/>
              <a:gd name="connsiteX2" fmla="*/ 5113870 w 5117043"/>
              <a:gd name="connsiteY2" fmla="*/ 855504 h 5865356"/>
              <a:gd name="connsiteX3" fmla="*/ 5113870 w 5117043"/>
              <a:gd name="connsiteY3" fmla="*/ 5865356 h 5865356"/>
              <a:gd name="connsiteX4" fmla="*/ 5113870 w 5117043"/>
              <a:gd name="connsiteY4" fmla="*/ 5865356 h 5865356"/>
              <a:gd name="connsiteX5" fmla="*/ 0 w 5117043"/>
              <a:gd name="connsiteY5" fmla="*/ 5865356 h 5865356"/>
              <a:gd name="connsiteX6" fmla="*/ 0 w 5117043"/>
              <a:gd name="connsiteY6" fmla="*/ 5865356 h 5865356"/>
              <a:gd name="connsiteX7" fmla="*/ 0 w 5117043"/>
              <a:gd name="connsiteY7" fmla="*/ 855504 h 5865356"/>
              <a:gd name="connsiteX8" fmla="*/ 852329 w 5117043"/>
              <a:gd name="connsiteY8" fmla="*/ 3175 h 5865356"/>
              <a:gd name="connsiteX0" fmla="*/ 852329 w 5421039"/>
              <a:gd name="connsiteY0" fmla="*/ 3175 h 5865356"/>
              <a:gd name="connsiteX1" fmla="*/ 5102916 w 5421039"/>
              <a:gd name="connsiteY1" fmla="*/ 0 h 5865356"/>
              <a:gd name="connsiteX2" fmla="*/ 5113870 w 5421039"/>
              <a:gd name="connsiteY2" fmla="*/ 5865356 h 5865356"/>
              <a:gd name="connsiteX3" fmla="*/ 5113870 w 5421039"/>
              <a:gd name="connsiteY3" fmla="*/ 5865356 h 5865356"/>
              <a:gd name="connsiteX4" fmla="*/ 0 w 5421039"/>
              <a:gd name="connsiteY4" fmla="*/ 5865356 h 5865356"/>
              <a:gd name="connsiteX5" fmla="*/ 0 w 5421039"/>
              <a:gd name="connsiteY5" fmla="*/ 5865356 h 5865356"/>
              <a:gd name="connsiteX6" fmla="*/ 0 w 5421039"/>
              <a:gd name="connsiteY6" fmla="*/ 855504 h 5865356"/>
              <a:gd name="connsiteX7" fmla="*/ 852329 w 5421039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113870"/>
              <a:gd name="connsiteY0" fmla="*/ 3175 h 5865356"/>
              <a:gd name="connsiteX1" fmla="*/ 5102916 w 5113870"/>
              <a:gd name="connsiteY1" fmla="*/ 0 h 5865356"/>
              <a:gd name="connsiteX2" fmla="*/ 5113870 w 5113870"/>
              <a:gd name="connsiteY2" fmla="*/ 5865356 h 5865356"/>
              <a:gd name="connsiteX3" fmla="*/ 5113870 w 5113870"/>
              <a:gd name="connsiteY3" fmla="*/ 5865356 h 5865356"/>
              <a:gd name="connsiteX4" fmla="*/ 0 w 5113870"/>
              <a:gd name="connsiteY4" fmla="*/ 5865356 h 5865356"/>
              <a:gd name="connsiteX5" fmla="*/ 0 w 5113870"/>
              <a:gd name="connsiteY5" fmla="*/ 5865356 h 5865356"/>
              <a:gd name="connsiteX6" fmla="*/ 0 w 5113870"/>
              <a:gd name="connsiteY6" fmla="*/ 855504 h 5865356"/>
              <a:gd name="connsiteX7" fmla="*/ 852329 w 5113870"/>
              <a:gd name="connsiteY7" fmla="*/ 3175 h 58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3870" h="5865356">
                <a:moveTo>
                  <a:pt x="852329" y="3175"/>
                </a:moveTo>
                <a:lnTo>
                  <a:pt x="5102916" y="0"/>
                </a:lnTo>
                <a:cubicBezTo>
                  <a:pt x="5108393" y="2932678"/>
                  <a:pt x="5112044" y="4887797"/>
                  <a:pt x="5113870" y="5865356"/>
                </a:cubicBezTo>
                <a:lnTo>
                  <a:pt x="5113870" y="5865356"/>
                </a:lnTo>
                <a:lnTo>
                  <a:pt x="0" y="5865356"/>
                </a:lnTo>
                <a:lnTo>
                  <a:pt x="0" y="5865356"/>
                </a:lnTo>
                <a:lnTo>
                  <a:pt x="0" y="855504"/>
                </a:lnTo>
                <a:cubicBezTo>
                  <a:pt x="0" y="384776"/>
                  <a:pt x="381601" y="3175"/>
                  <a:pt x="852329" y="317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9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CF9732-7D25-20B5-2911-D809F2411C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78130" y="995819"/>
            <a:ext cx="5114840" cy="5865356"/>
          </a:xfrm>
          <a:custGeom>
            <a:avLst/>
            <a:gdLst>
              <a:gd name="connsiteX0" fmla="*/ 852329 w 5113870"/>
              <a:gd name="connsiteY0" fmla="*/ 0 h 5862181"/>
              <a:gd name="connsiteX1" fmla="*/ 4261541 w 5113870"/>
              <a:gd name="connsiteY1" fmla="*/ 0 h 5862181"/>
              <a:gd name="connsiteX2" fmla="*/ 5113870 w 5113870"/>
              <a:gd name="connsiteY2" fmla="*/ 852329 h 5862181"/>
              <a:gd name="connsiteX3" fmla="*/ 5113870 w 5113870"/>
              <a:gd name="connsiteY3" fmla="*/ 5862181 h 5862181"/>
              <a:gd name="connsiteX4" fmla="*/ 5113870 w 5113870"/>
              <a:gd name="connsiteY4" fmla="*/ 5862181 h 5862181"/>
              <a:gd name="connsiteX5" fmla="*/ 0 w 5113870"/>
              <a:gd name="connsiteY5" fmla="*/ 5862181 h 5862181"/>
              <a:gd name="connsiteX6" fmla="*/ 0 w 5113870"/>
              <a:gd name="connsiteY6" fmla="*/ 5862181 h 5862181"/>
              <a:gd name="connsiteX7" fmla="*/ 0 w 5113870"/>
              <a:gd name="connsiteY7" fmla="*/ 852329 h 5862181"/>
              <a:gd name="connsiteX8" fmla="*/ 852329 w 5113870"/>
              <a:gd name="connsiteY8" fmla="*/ 0 h 5862181"/>
              <a:gd name="connsiteX0" fmla="*/ 852329 w 5294317"/>
              <a:gd name="connsiteY0" fmla="*/ 0 h 5862181"/>
              <a:gd name="connsiteX1" fmla="*/ 5074341 w 5294317"/>
              <a:gd name="connsiteY1" fmla="*/ 12700 h 5862181"/>
              <a:gd name="connsiteX2" fmla="*/ 5113870 w 5294317"/>
              <a:gd name="connsiteY2" fmla="*/ 852329 h 5862181"/>
              <a:gd name="connsiteX3" fmla="*/ 5113870 w 5294317"/>
              <a:gd name="connsiteY3" fmla="*/ 5862181 h 5862181"/>
              <a:gd name="connsiteX4" fmla="*/ 5113870 w 5294317"/>
              <a:gd name="connsiteY4" fmla="*/ 5862181 h 5862181"/>
              <a:gd name="connsiteX5" fmla="*/ 0 w 5294317"/>
              <a:gd name="connsiteY5" fmla="*/ 5862181 h 5862181"/>
              <a:gd name="connsiteX6" fmla="*/ 0 w 5294317"/>
              <a:gd name="connsiteY6" fmla="*/ 5862181 h 5862181"/>
              <a:gd name="connsiteX7" fmla="*/ 0 w 5294317"/>
              <a:gd name="connsiteY7" fmla="*/ 852329 h 5862181"/>
              <a:gd name="connsiteX8" fmla="*/ 852329 w 5294317"/>
              <a:gd name="connsiteY8" fmla="*/ 0 h 5862181"/>
              <a:gd name="connsiteX0" fmla="*/ 852329 w 5317339"/>
              <a:gd name="connsiteY0" fmla="*/ 0 h 5862181"/>
              <a:gd name="connsiteX1" fmla="*/ 5106091 w 5317339"/>
              <a:gd name="connsiteY1" fmla="*/ 15875 h 5862181"/>
              <a:gd name="connsiteX2" fmla="*/ 5113870 w 5317339"/>
              <a:gd name="connsiteY2" fmla="*/ 852329 h 5862181"/>
              <a:gd name="connsiteX3" fmla="*/ 5113870 w 5317339"/>
              <a:gd name="connsiteY3" fmla="*/ 5862181 h 5862181"/>
              <a:gd name="connsiteX4" fmla="*/ 5113870 w 5317339"/>
              <a:gd name="connsiteY4" fmla="*/ 5862181 h 5862181"/>
              <a:gd name="connsiteX5" fmla="*/ 0 w 5317339"/>
              <a:gd name="connsiteY5" fmla="*/ 5862181 h 5862181"/>
              <a:gd name="connsiteX6" fmla="*/ 0 w 5317339"/>
              <a:gd name="connsiteY6" fmla="*/ 5862181 h 5862181"/>
              <a:gd name="connsiteX7" fmla="*/ 0 w 5317339"/>
              <a:gd name="connsiteY7" fmla="*/ 852329 h 5862181"/>
              <a:gd name="connsiteX8" fmla="*/ 852329 w 5317339"/>
              <a:gd name="connsiteY8" fmla="*/ 0 h 5862181"/>
              <a:gd name="connsiteX0" fmla="*/ 852329 w 5118831"/>
              <a:gd name="connsiteY0" fmla="*/ 0 h 5862181"/>
              <a:gd name="connsiteX1" fmla="*/ 5106091 w 5118831"/>
              <a:gd name="connsiteY1" fmla="*/ 158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7043"/>
              <a:gd name="connsiteY0" fmla="*/ 6350 h 5868531"/>
              <a:gd name="connsiteX1" fmla="*/ 5102916 w 5117043"/>
              <a:gd name="connsiteY1" fmla="*/ 0 h 5868531"/>
              <a:gd name="connsiteX2" fmla="*/ 5113870 w 5117043"/>
              <a:gd name="connsiteY2" fmla="*/ 858679 h 5868531"/>
              <a:gd name="connsiteX3" fmla="*/ 5113870 w 5117043"/>
              <a:gd name="connsiteY3" fmla="*/ 5868531 h 5868531"/>
              <a:gd name="connsiteX4" fmla="*/ 5113870 w 5117043"/>
              <a:gd name="connsiteY4" fmla="*/ 5868531 h 5868531"/>
              <a:gd name="connsiteX5" fmla="*/ 0 w 5117043"/>
              <a:gd name="connsiteY5" fmla="*/ 5868531 h 5868531"/>
              <a:gd name="connsiteX6" fmla="*/ 0 w 5117043"/>
              <a:gd name="connsiteY6" fmla="*/ 5868531 h 5868531"/>
              <a:gd name="connsiteX7" fmla="*/ 0 w 5117043"/>
              <a:gd name="connsiteY7" fmla="*/ 858679 h 5868531"/>
              <a:gd name="connsiteX8" fmla="*/ 852329 w 5117043"/>
              <a:gd name="connsiteY8" fmla="*/ 6350 h 5868531"/>
              <a:gd name="connsiteX0" fmla="*/ 852329 w 5118831"/>
              <a:gd name="connsiteY0" fmla="*/ 0 h 5862181"/>
              <a:gd name="connsiteX1" fmla="*/ 5106091 w 5118831"/>
              <a:gd name="connsiteY1" fmla="*/ 31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3955"/>
              <a:gd name="connsiteY0" fmla="*/ 6350 h 5868531"/>
              <a:gd name="connsiteX1" fmla="*/ 5093391 w 5113955"/>
              <a:gd name="connsiteY1" fmla="*/ 0 h 5868531"/>
              <a:gd name="connsiteX2" fmla="*/ 5113870 w 5113955"/>
              <a:gd name="connsiteY2" fmla="*/ 858679 h 5868531"/>
              <a:gd name="connsiteX3" fmla="*/ 5113870 w 5113955"/>
              <a:gd name="connsiteY3" fmla="*/ 5868531 h 5868531"/>
              <a:gd name="connsiteX4" fmla="*/ 5113870 w 5113955"/>
              <a:gd name="connsiteY4" fmla="*/ 5868531 h 5868531"/>
              <a:gd name="connsiteX5" fmla="*/ 0 w 5113955"/>
              <a:gd name="connsiteY5" fmla="*/ 5868531 h 5868531"/>
              <a:gd name="connsiteX6" fmla="*/ 0 w 5113955"/>
              <a:gd name="connsiteY6" fmla="*/ 5868531 h 5868531"/>
              <a:gd name="connsiteX7" fmla="*/ 0 w 5113955"/>
              <a:gd name="connsiteY7" fmla="*/ 858679 h 5868531"/>
              <a:gd name="connsiteX8" fmla="*/ 852329 w 5113955"/>
              <a:gd name="connsiteY8" fmla="*/ 6350 h 5868531"/>
              <a:gd name="connsiteX0" fmla="*/ 852329 w 5117043"/>
              <a:gd name="connsiteY0" fmla="*/ 3175 h 5865356"/>
              <a:gd name="connsiteX1" fmla="*/ 5102916 w 5117043"/>
              <a:gd name="connsiteY1" fmla="*/ 0 h 5865356"/>
              <a:gd name="connsiteX2" fmla="*/ 5113870 w 5117043"/>
              <a:gd name="connsiteY2" fmla="*/ 855504 h 5865356"/>
              <a:gd name="connsiteX3" fmla="*/ 5113870 w 5117043"/>
              <a:gd name="connsiteY3" fmla="*/ 5865356 h 5865356"/>
              <a:gd name="connsiteX4" fmla="*/ 5113870 w 5117043"/>
              <a:gd name="connsiteY4" fmla="*/ 5865356 h 5865356"/>
              <a:gd name="connsiteX5" fmla="*/ 0 w 5117043"/>
              <a:gd name="connsiteY5" fmla="*/ 5865356 h 5865356"/>
              <a:gd name="connsiteX6" fmla="*/ 0 w 5117043"/>
              <a:gd name="connsiteY6" fmla="*/ 5865356 h 5865356"/>
              <a:gd name="connsiteX7" fmla="*/ 0 w 5117043"/>
              <a:gd name="connsiteY7" fmla="*/ 855504 h 5865356"/>
              <a:gd name="connsiteX8" fmla="*/ 852329 w 5117043"/>
              <a:gd name="connsiteY8" fmla="*/ 3175 h 5865356"/>
              <a:gd name="connsiteX0" fmla="*/ 852329 w 5421039"/>
              <a:gd name="connsiteY0" fmla="*/ 3175 h 5865356"/>
              <a:gd name="connsiteX1" fmla="*/ 5102916 w 5421039"/>
              <a:gd name="connsiteY1" fmla="*/ 0 h 5865356"/>
              <a:gd name="connsiteX2" fmla="*/ 5113870 w 5421039"/>
              <a:gd name="connsiteY2" fmla="*/ 5865356 h 5865356"/>
              <a:gd name="connsiteX3" fmla="*/ 5113870 w 5421039"/>
              <a:gd name="connsiteY3" fmla="*/ 5865356 h 5865356"/>
              <a:gd name="connsiteX4" fmla="*/ 0 w 5421039"/>
              <a:gd name="connsiteY4" fmla="*/ 5865356 h 5865356"/>
              <a:gd name="connsiteX5" fmla="*/ 0 w 5421039"/>
              <a:gd name="connsiteY5" fmla="*/ 5865356 h 5865356"/>
              <a:gd name="connsiteX6" fmla="*/ 0 w 5421039"/>
              <a:gd name="connsiteY6" fmla="*/ 855504 h 5865356"/>
              <a:gd name="connsiteX7" fmla="*/ 852329 w 5421039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113870"/>
              <a:gd name="connsiteY0" fmla="*/ 3175 h 5865356"/>
              <a:gd name="connsiteX1" fmla="*/ 5102916 w 5113870"/>
              <a:gd name="connsiteY1" fmla="*/ 0 h 5865356"/>
              <a:gd name="connsiteX2" fmla="*/ 5113870 w 5113870"/>
              <a:gd name="connsiteY2" fmla="*/ 5865356 h 5865356"/>
              <a:gd name="connsiteX3" fmla="*/ 5113870 w 5113870"/>
              <a:gd name="connsiteY3" fmla="*/ 5865356 h 5865356"/>
              <a:gd name="connsiteX4" fmla="*/ 0 w 5113870"/>
              <a:gd name="connsiteY4" fmla="*/ 5865356 h 5865356"/>
              <a:gd name="connsiteX5" fmla="*/ 0 w 5113870"/>
              <a:gd name="connsiteY5" fmla="*/ 5865356 h 5865356"/>
              <a:gd name="connsiteX6" fmla="*/ 0 w 5113870"/>
              <a:gd name="connsiteY6" fmla="*/ 855504 h 5865356"/>
              <a:gd name="connsiteX7" fmla="*/ 852329 w 5113870"/>
              <a:gd name="connsiteY7" fmla="*/ 3175 h 5865356"/>
              <a:gd name="connsiteX0" fmla="*/ 852329 w 5114840"/>
              <a:gd name="connsiteY0" fmla="*/ 3175 h 5865356"/>
              <a:gd name="connsiteX1" fmla="*/ 5112441 w 5114840"/>
              <a:gd name="connsiteY1" fmla="*/ 0 h 5865356"/>
              <a:gd name="connsiteX2" fmla="*/ 5113870 w 5114840"/>
              <a:gd name="connsiteY2" fmla="*/ 5865356 h 5865356"/>
              <a:gd name="connsiteX3" fmla="*/ 5113870 w 5114840"/>
              <a:gd name="connsiteY3" fmla="*/ 5865356 h 5865356"/>
              <a:gd name="connsiteX4" fmla="*/ 0 w 5114840"/>
              <a:gd name="connsiteY4" fmla="*/ 5865356 h 5865356"/>
              <a:gd name="connsiteX5" fmla="*/ 0 w 5114840"/>
              <a:gd name="connsiteY5" fmla="*/ 5865356 h 5865356"/>
              <a:gd name="connsiteX6" fmla="*/ 0 w 5114840"/>
              <a:gd name="connsiteY6" fmla="*/ 855504 h 5865356"/>
              <a:gd name="connsiteX7" fmla="*/ 852329 w 5114840"/>
              <a:gd name="connsiteY7" fmla="*/ 3175 h 58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4840" h="5865356">
                <a:moveTo>
                  <a:pt x="852329" y="3175"/>
                </a:moveTo>
                <a:lnTo>
                  <a:pt x="5112441" y="0"/>
                </a:lnTo>
                <a:cubicBezTo>
                  <a:pt x="5117918" y="2932678"/>
                  <a:pt x="5112044" y="4887797"/>
                  <a:pt x="5113870" y="5865356"/>
                </a:cubicBezTo>
                <a:lnTo>
                  <a:pt x="5113870" y="5865356"/>
                </a:lnTo>
                <a:lnTo>
                  <a:pt x="0" y="5865356"/>
                </a:lnTo>
                <a:lnTo>
                  <a:pt x="0" y="5865356"/>
                </a:lnTo>
                <a:lnTo>
                  <a:pt x="0" y="855504"/>
                </a:lnTo>
                <a:cubicBezTo>
                  <a:pt x="0" y="384776"/>
                  <a:pt x="381601" y="3175"/>
                  <a:pt x="852329" y="317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2C114-69AD-B6F6-F95C-E7DCE1600E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368" y="5769954"/>
            <a:ext cx="2800928" cy="72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3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1F27051-26BB-60A3-B898-76475D1968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078130" y="995819"/>
            <a:ext cx="5113867" cy="5862181"/>
          </a:xfrm>
          <a:prstGeom prst="round1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731C71-2F32-4781-993C-527FF0B96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368" y="5769954"/>
            <a:ext cx="2800928" cy="72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86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5716876"/>
            <a:ext cx="10941960" cy="6393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7" y="3902240"/>
            <a:ext cx="10941961" cy="1650381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ctr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92D35-D49A-C771-B820-0B0436B4A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2075" y="1883736"/>
            <a:ext cx="6167849" cy="1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31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5716876"/>
            <a:ext cx="10941960" cy="6393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7" y="3902240"/>
            <a:ext cx="10941961" cy="1650381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ctr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BECA70-C83E-7BA8-0D42-B9DD31F2C2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7829" y="1751626"/>
            <a:ext cx="5096339" cy="132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48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" y="2185416"/>
            <a:ext cx="6951472" cy="387617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BC65A68-87F5-011F-6939-564C13C5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DF86769-3B09-44C5-524F-15E86390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BC65A68-87F5-011F-6939-564C13C5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DF86769-3B09-44C5-524F-15E86390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6DA3DB-8694-44A7-C2C9-9E75E06847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928" y="2337014"/>
            <a:ext cx="2674937" cy="267335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FD401B-7510-9207-6C4A-1F00933BC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8696" y="2337014"/>
            <a:ext cx="7460731" cy="3021370"/>
          </a:xfrm>
        </p:spPr>
        <p:txBody>
          <a:bodyPr/>
          <a:lstStyle/>
          <a:p>
            <a:pPr lvl="0"/>
            <a:r>
              <a:rPr lang="en-US" dirty="0"/>
              <a:t>Speaker information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4744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BC65A68-87F5-011F-6939-564C13C5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DF86769-3B09-44C5-524F-15E86390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6DA3DB-8694-44A7-C2C9-9E75E06847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928" y="2337014"/>
            <a:ext cx="2674937" cy="267335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7939D-A64E-B8ED-49C7-8324820DED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738" y="5197475"/>
            <a:ext cx="2674937" cy="490538"/>
          </a:xfrm>
        </p:spPr>
        <p:txBody>
          <a:bodyPr/>
          <a:lstStyle>
            <a:lvl1pPr>
              <a:defRPr b="1">
                <a:solidFill>
                  <a:srgbClr val="13294B"/>
                </a:solidFill>
              </a:defRPr>
            </a:lvl1pPr>
          </a:lstStyle>
          <a:p>
            <a:pPr lvl="0"/>
            <a:r>
              <a:rPr lang="en-US" dirty="0"/>
              <a:t>Speaker 1 Name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6514C75-1040-C07A-92F4-271FDC46C6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26145" y="2337014"/>
            <a:ext cx="2674937" cy="267335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540DA21-0973-5AFF-7528-EE6C8C4B78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25955" y="5197475"/>
            <a:ext cx="2674937" cy="490538"/>
          </a:xfrm>
        </p:spPr>
        <p:txBody>
          <a:bodyPr/>
          <a:lstStyle>
            <a:lvl1pPr>
              <a:defRPr b="1">
                <a:solidFill>
                  <a:srgbClr val="13294B"/>
                </a:solidFill>
              </a:defRPr>
            </a:lvl1pPr>
          </a:lstStyle>
          <a:p>
            <a:pPr lvl="0"/>
            <a:r>
              <a:rPr lang="en-US" dirty="0"/>
              <a:t>Speaker 2 Name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733A4E3-AE12-7D91-7730-9FDD77849B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91796" y="2337014"/>
            <a:ext cx="2674937" cy="267335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63C9734-BBBE-E879-094A-B64E95F6FB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1606" y="5197475"/>
            <a:ext cx="2674937" cy="490538"/>
          </a:xfrm>
        </p:spPr>
        <p:txBody>
          <a:bodyPr/>
          <a:lstStyle>
            <a:lvl1pPr>
              <a:defRPr b="1">
                <a:solidFill>
                  <a:srgbClr val="13294B"/>
                </a:solidFill>
              </a:defRPr>
            </a:lvl1pPr>
          </a:lstStyle>
          <a:p>
            <a:pPr lvl="0"/>
            <a:r>
              <a:rPr lang="en-US" dirty="0"/>
              <a:t>Speaker 2 Name</a:t>
            </a:r>
          </a:p>
        </p:txBody>
      </p:sp>
    </p:spTree>
    <p:extLst>
      <p:ext uri="{BB962C8B-B14F-4D97-AF65-F5344CB8AC3E}">
        <p14:creationId xmlns:p14="http://schemas.microsoft.com/office/powerpoint/2010/main" val="2468902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66928" y="2185416"/>
            <a:ext cx="4500372" cy="39486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10200" y="2185416"/>
            <a:ext cx="4498848" cy="395020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C961090-4BBA-E015-731F-EDD04A1E43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C487424-4868-8C8E-24DD-12C7DDCB1F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rgbClr val="13294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0" indent="0">
              <a:buClr>
                <a:srgbClr val="FF5F05"/>
              </a:buClr>
              <a:buSzPct val="120000"/>
              <a:buFont typeface="Arial" panose="020B0604020202020204" pitchFamily="34" charset="0"/>
              <a:buNone/>
              <a:defRPr/>
            </a:lvl1pPr>
            <a:lvl2pPr>
              <a:buClr>
                <a:srgbClr val="FF5F05"/>
              </a:buClr>
              <a:defRPr/>
            </a:lvl2pPr>
            <a:lvl3pPr>
              <a:buClr>
                <a:srgbClr val="FF5F05"/>
              </a:buClr>
              <a:defRPr/>
            </a:lvl3pPr>
            <a:lvl4pPr>
              <a:buClr>
                <a:srgbClr val="FF5F05"/>
              </a:buClr>
              <a:defRPr/>
            </a:lvl4pPr>
            <a:lvl5pPr>
              <a:buClr>
                <a:srgbClr val="FF5F05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79078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rgbClr val="13294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0" indent="0">
              <a:buClr>
                <a:srgbClr val="FF5F05"/>
              </a:buClr>
              <a:buSzPct val="120000"/>
              <a:buFont typeface="Arial" panose="020B0604020202020204" pitchFamily="34" charset="0"/>
              <a:buNone/>
              <a:defRPr/>
            </a:lvl1pPr>
            <a:lvl2pPr>
              <a:buClr>
                <a:srgbClr val="FF5F05"/>
              </a:buClr>
              <a:defRPr/>
            </a:lvl2pPr>
            <a:lvl3pPr>
              <a:buClr>
                <a:srgbClr val="FF5F05"/>
              </a:buClr>
              <a:defRPr/>
            </a:lvl3pPr>
            <a:lvl4pPr>
              <a:buClr>
                <a:srgbClr val="FF5F05"/>
              </a:buClr>
              <a:defRPr/>
            </a:lvl4pPr>
            <a:lvl5pPr>
              <a:buClr>
                <a:srgbClr val="FF5F05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1C0333-8E57-3AA9-DCDE-75491A27A5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4A15086-ED3D-F32F-3957-A3454CC627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56FD49-33C2-8BF7-86DA-D3F78A0BC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54ADC-407E-86C8-BF02-488001CC58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932946"/>
            <a:ext cx="11037884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56FD49-33C2-8BF7-86DA-D3F78A0BC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54ADC-407E-86C8-BF02-488001CC58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A8E880-86DA-938C-6A3F-BDC3E4B47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2264" y="1770116"/>
            <a:ext cx="6907212" cy="3021598"/>
          </a:xfrm>
        </p:spPr>
        <p:txBody>
          <a:bodyPr anchor="ctr">
            <a:normAutofit/>
          </a:bodyPr>
          <a:lstStyle>
            <a:lvl1pPr algn="ctr">
              <a:defRPr sz="2400" b="0" i="1"/>
            </a:lvl1pPr>
            <a:lvl2pPr marL="50292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Quote Block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FF6010-9909-E8DA-CD29-D470F4E0E151}"/>
              </a:ext>
            </a:extLst>
          </p:cNvPr>
          <p:cNvSpPr txBox="1"/>
          <p:nvPr userDrawn="1"/>
        </p:nvSpPr>
        <p:spPr>
          <a:xfrm>
            <a:off x="1958290" y="1336743"/>
            <a:ext cx="782012" cy="1862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" sz="11500" b="1" dirty="0">
                <a:solidFill>
                  <a:srgbClr val="FF552E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“</a:t>
            </a:r>
            <a:endParaRPr lang="en-US" sz="1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C8120-DD7F-F409-FCF9-E133E6D19B11}"/>
              </a:ext>
            </a:extLst>
          </p:cNvPr>
          <p:cNvSpPr txBox="1"/>
          <p:nvPr userDrawn="1"/>
        </p:nvSpPr>
        <p:spPr>
          <a:xfrm rot="10800000">
            <a:off x="9438549" y="3337289"/>
            <a:ext cx="782012" cy="1862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" sz="11500" b="1" dirty="0">
                <a:solidFill>
                  <a:srgbClr val="FF552E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“</a:t>
            </a:r>
            <a:endParaRPr lang="en-US" sz="115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C5F68A5-F134-90F4-666E-E7D85B5E76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745" y="5086703"/>
            <a:ext cx="4286250" cy="407987"/>
          </a:xfrm>
        </p:spPr>
        <p:txBody>
          <a:bodyPr anchor="ctr">
            <a:noAutofit/>
          </a:bodyPr>
          <a:lstStyle>
            <a:lvl1pPr algn="ctr">
              <a:defRPr sz="2000"/>
            </a:lvl1pPr>
          </a:lstStyle>
          <a:p>
            <a:pPr lvl="0"/>
            <a:r>
              <a:rPr lang="en-US" dirty="0"/>
              <a:t>Quote Attribution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E0031-6DA8-9BBE-4551-06EC4A148DBF}"/>
              </a:ext>
            </a:extLst>
          </p:cNvPr>
          <p:cNvSpPr/>
          <p:nvPr userDrawn="1"/>
        </p:nvSpPr>
        <p:spPr>
          <a:xfrm>
            <a:off x="5807075" y="4918714"/>
            <a:ext cx="577850" cy="8356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48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21FA9B9F-ADBF-7432-05CA-7B89E9ACC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78130" y="995819"/>
            <a:ext cx="5113870" cy="5865356"/>
          </a:xfrm>
          <a:custGeom>
            <a:avLst/>
            <a:gdLst>
              <a:gd name="connsiteX0" fmla="*/ 852329 w 5113870"/>
              <a:gd name="connsiteY0" fmla="*/ 0 h 5862181"/>
              <a:gd name="connsiteX1" fmla="*/ 4261541 w 5113870"/>
              <a:gd name="connsiteY1" fmla="*/ 0 h 5862181"/>
              <a:gd name="connsiteX2" fmla="*/ 5113870 w 5113870"/>
              <a:gd name="connsiteY2" fmla="*/ 852329 h 5862181"/>
              <a:gd name="connsiteX3" fmla="*/ 5113870 w 5113870"/>
              <a:gd name="connsiteY3" fmla="*/ 5862181 h 5862181"/>
              <a:gd name="connsiteX4" fmla="*/ 5113870 w 5113870"/>
              <a:gd name="connsiteY4" fmla="*/ 5862181 h 5862181"/>
              <a:gd name="connsiteX5" fmla="*/ 0 w 5113870"/>
              <a:gd name="connsiteY5" fmla="*/ 5862181 h 5862181"/>
              <a:gd name="connsiteX6" fmla="*/ 0 w 5113870"/>
              <a:gd name="connsiteY6" fmla="*/ 5862181 h 5862181"/>
              <a:gd name="connsiteX7" fmla="*/ 0 w 5113870"/>
              <a:gd name="connsiteY7" fmla="*/ 852329 h 5862181"/>
              <a:gd name="connsiteX8" fmla="*/ 852329 w 5113870"/>
              <a:gd name="connsiteY8" fmla="*/ 0 h 5862181"/>
              <a:gd name="connsiteX0" fmla="*/ 852329 w 5294317"/>
              <a:gd name="connsiteY0" fmla="*/ 0 h 5862181"/>
              <a:gd name="connsiteX1" fmla="*/ 5074341 w 5294317"/>
              <a:gd name="connsiteY1" fmla="*/ 12700 h 5862181"/>
              <a:gd name="connsiteX2" fmla="*/ 5113870 w 5294317"/>
              <a:gd name="connsiteY2" fmla="*/ 852329 h 5862181"/>
              <a:gd name="connsiteX3" fmla="*/ 5113870 w 5294317"/>
              <a:gd name="connsiteY3" fmla="*/ 5862181 h 5862181"/>
              <a:gd name="connsiteX4" fmla="*/ 5113870 w 5294317"/>
              <a:gd name="connsiteY4" fmla="*/ 5862181 h 5862181"/>
              <a:gd name="connsiteX5" fmla="*/ 0 w 5294317"/>
              <a:gd name="connsiteY5" fmla="*/ 5862181 h 5862181"/>
              <a:gd name="connsiteX6" fmla="*/ 0 w 5294317"/>
              <a:gd name="connsiteY6" fmla="*/ 5862181 h 5862181"/>
              <a:gd name="connsiteX7" fmla="*/ 0 w 5294317"/>
              <a:gd name="connsiteY7" fmla="*/ 852329 h 5862181"/>
              <a:gd name="connsiteX8" fmla="*/ 852329 w 5294317"/>
              <a:gd name="connsiteY8" fmla="*/ 0 h 5862181"/>
              <a:gd name="connsiteX0" fmla="*/ 852329 w 5317339"/>
              <a:gd name="connsiteY0" fmla="*/ 0 h 5862181"/>
              <a:gd name="connsiteX1" fmla="*/ 5106091 w 5317339"/>
              <a:gd name="connsiteY1" fmla="*/ 15875 h 5862181"/>
              <a:gd name="connsiteX2" fmla="*/ 5113870 w 5317339"/>
              <a:gd name="connsiteY2" fmla="*/ 852329 h 5862181"/>
              <a:gd name="connsiteX3" fmla="*/ 5113870 w 5317339"/>
              <a:gd name="connsiteY3" fmla="*/ 5862181 h 5862181"/>
              <a:gd name="connsiteX4" fmla="*/ 5113870 w 5317339"/>
              <a:gd name="connsiteY4" fmla="*/ 5862181 h 5862181"/>
              <a:gd name="connsiteX5" fmla="*/ 0 w 5317339"/>
              <a:gd name="connsiteY5" fmla="*/ 5862181 h 5862181"/>
              <a:gd name="connsiteX6" fmla="*/ 0 w 5317339"/>
              <a:gd name="connsiteY6" fmla="*/ 5862181 h 5862181"/>
              <a:gd name="connsiteX7" fmla="*/ 0 w 5317339"/>
              <a:gd name="connsiteY7" fmla="*/ 852329 h 5862181"/>
              <a:gd name="connsiteX8" fmla="*/ 852329 w 5317339"/>
              <a:gd name="connsiteY8" fmla="*/ 0 h 5862181"/>
              <a:gd name="connsiteX0" fmla="*/ 852329 w 5118831"/>
              <a:gd name="connsiteY0" fmla="*/ 0 h 5862181"/>
              <a:gd name="connsiteX1" fmla="*/ 5106091 w 5118831"/>
              <a:gd name="connsiteY1" fmla="*/ 158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7043"/>
              <a:gd name="connsiteY0" fmla="*/ 6350 h 5868531"/>
              <a:gd name="connsiteX1" fmla="*/ 5102916 w 5117043"/>
              <a:gd name="connsiteY1" fmla="*/ 0 h 5868531"/>
              <a:gd name="connsiteX2" fmla="*/ 5113870 w 5117043"/>
              <a:gd name="connsiteY2" fmla="*/ 858679 h 5868531"/>
              <a:gd name="connsiteX3" fmla="*/ 5113870 w 5117043"/>
              <a:gd name="connsiteY3" fmla="*/ 5868531 h 5868531"/>
              <a:gd name="connsiteX4" fmla="*/ 5113870 w 5117043"/>
              <a:gd name="connsiteY4" fmla="*/ 5868531 h 5868531"/>
              <a:gd name="connsiteX5" fmla="*/ 0 w 5117043"/>
              <a:gd name="connsiteY5" fmla="*/ 5868531 h 5868531"/>
              <a:gd name="connsiteX6" fmla="*/ 0 w 5117043"/>
              <a:gd name="connsiteY6" fmla="*/ 5868531 h 5868531"/>
              <a:gd name="connsiteX7" fmla="*/ 0 w 5117043"/>
              <a:gd name="connsiteY7" fmla="*/ 858679 h 5868531"/>
              <a:gd name="connsiteX8" fmla="*/ 852329 w 5117043"/>
              <a:gd name="connsiteY8" fmla="*/ 6350 h 5868531"/>
              <a:gd name="connsiteX0" fmla="*/ 852329 w 5118831"/>
              <a:gd name="connsiteY0" fmla="*/ 0 h 5862181"/>
              <a:gd name="connsiteX1" fmla="*/ 5106091 w 5118831"/>
              <a:gd name="connsiteY1" fmla="*/ 31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3955"/>
              <a:gd name="connsiteY0" fmla="*/ 6350 h 5868531"/>
              <a:gd name="connsiteX1" fmla="*/ 5093391 w 5113955"/>
              <a:gd name="connsiteY1" fmla="*/ 0 h 5868531"/>
              <a:gd name="connsiteX2" fmla="*/ 5113870 w 5113955"/>
              <a:gd name="connsiteY2" fmla="*/ 858679 h 5868531"/>
              <a:gd name="connsiteX3" fmla="*/ 5113870 w 5113955"/>
              <a:gd name="connsiteY3" fmla="*/ 5868531 h 5868531"/>
              <a:gd name="connsiteX4" fmla="*/ 5113870 w 5113955"/>
              <a:gd name="connsiteY4" fmla="*/ 5868531 h 5868531"/>
              <a:gd name="connsiteX5" fmla="*/ 0 w 5113955"/>
              <a:gd name="connsiteY5" fmla="*/ 5868531 h 5868531"/>
              <a:gd name="connsiteX6" fmla="*/ 0 w 5113955"/>
              <a:gd name="connsiteY6" fmla="*/ 5868531 h 5868531"/>
              <a:gd name="connsiteX7" fmla="*/ 0 w 5113955"/>
              <a:gd name="connsiteY7" fmla="*/ 858679 h 5868531"/>
              <a:gd name="connsiteX8" fmla="*/ 852329 w 5113955"/>
              <a:gd name="connsiteY8" fmla="*/ 6350 h 5868531"/>
              <a:gd name="connsiteX0" fmla="*/ 852329 w 5117043"/>
              <a:gd name="connsiteY0" fmla="*/ 3175 h 5865356"/>
              <a:gd name="connsiteX1" fmla="*/ 5102916 w 5117043"/>
              <a:gd name="connsiteY1" fmla="*/ 0 h 5865356"/>
              <a:gd name="connsiteX2" fmla="*/ 5113870 w 5117043"/>
              <a:gd name="connsiteY2" fmla="*/ 855504 h 5865356"/>
              <a:gd name="connsiteX3" fmla="*/ 5113870 w 5117043"/>
              <a:gd name="connsiteY3" fmla="*/ 5865356 h 5865356"/>
              <a:gd name="connsiteX4" fmla="*/ 5113870 w 5117043"/>
              <a:gd name="connsiteY4" fmla="*/ 5865356 h 5865356"/>
              <a:gd name="connsiteX5" fmla="*/ 0 w 5117043"/>
              <a:gd name="connsiteY5" fmla="*/ 5865356 h 5865356"/>
              <a:gd name="connsiteX6" fmla="*/ 0 w 5117043"/>
              <a:gd name="connsiteY6" fmla="*/ 5865356 h 5865356"/>
              <a:gd name="connsiteX7" fmla="*/ 0 w 5117043"/>
              <a:gd name="connsiteY7" fmla="*/ 855504 h 5865356"/>
              <a:gd name="connsiteX8" fmla="*/ 852329 w 5117043"/>
              <a:gd name="connsiteY8" fmla="*/ 3175 h 5865356"/>
              <a:gd name="connsiteX0" fmla="*/ 852329 w 5421039"/>
              <a:gd name="connsiteY0" fmla="*/ 3175 h 5865356"/>
              <a:gd name="connsiteX1" fmla="*/ 5102916 w 5421039"/>
              <a:gd name="connsiteY1" fmla="*/ 0 h 5865356"/>
              <a:gd name="connsiteX2" fmla="*/ 5113870 w 5421039"/>
              <a:gd name="connsiteY2" fmla="*/ 5865356 h 5865356"/>
              <a:gd name="connsiteX3" fmla="*/ 5113870 w 5421039"/>
              <a:gd name="connsiteY3" fmla="*/ 5865356 h 5865356"/>
              <a:gd name="connsiteX4" fmla="*/ 0 w 5421039"/>
              <a:gd name="connsiteY4" fmla="*/ 5865356 h 5865356"/>
              <a:gd name="connsiteX5" fmla="*/ 0 w 5421039"/>
              <a:gd name="connsiteY5" fmla="*/ 5865356 h 5865356"/>
              <a:gd name="connsiteX6" fmla="*/ 0 w 5421039"/>
              <a:gd name="connsiteY6" fmla="*/ 855504 h 5865356"/>
              <a:gd name="connsiteX7" fmla="*/ 852329 w 5421039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113870"/>
              <a:gd name="connsiteY0" fmla="*/ 3175 h 5865356"/>
              <a:gd name="connsiteX1" fmla="*/ 5102916 w 5113870"/>
              <a:gd name="connsiteY1" fmla="*/ 0 h 5865356"/>
              <a:gd name="connsiteX2" fmla="*/ 5113870 w 5113870"/>
              <a:gd name="connsiteY2" fmla="*/ 5865356 h 5865356"/>
              <a:gd name="connsiteX3" fmla="*/ 5113870 w 5113870"/>
              <a:gd name="connsiteY3" fmla="*/ 5865356 h 5865356"/>
              <a:gd name="connsiteX4" fmla="*/ 0 w 5113870"/>
              <a:gd name="connsiteY4" fmla="*/ 5865356 h 5865356"/>
              <a:gd name="connsiteX5" fmla="*/ 0 w 5113870"/>
              <a:gd name="connsiteY5" fmla="*/ 5865356 h 5865356"/>
              <a:gd name="connsiteX6" fmla="*/ 0 w 5113870"/>
              <a:gd name="connsiteY6" fmla="*/ 855504 h 5865356"/>
              <a:gd name="connsiteX7" fmla="*/ 852329 w 5113870"/>
              <a:gd name="connsiteY7" fmla="*/ 3175 h 58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3870" h="5865356">
                <a:moveTo>
                  <a:pt x="852329" y="3175"/>
                </a:moveTo>
                <a:lnTo>
                  <a:pt x="5102916" y="0"/>
                </a:lnTo>
                <a:cubicBezTo>
                  <a:pt x="5108393" y="2932678"/>
                  <a:pt x="5112044" y="4887797"/>
                  <a:pt x="5113870" y="5865356"/>
                </a:cubicBezTo>
                <a:lnTo>
                  <a:pt x="5113870" y="5865356"/>
                </a:lnTo>
                <a:lnTo>
                  <a:pt x="0" y="5865356"/>
                </a:lnTo>
                <a:lnTo>
                  <a:pt x="0" y="5865356"/>
                </a:lnTo>
                <a:lnTo>
                  <a:pt x="0" y="855504"/>
                </a:lnTo>
                <a:cubicBezTo>
                  <a:pt x="0" y="384776"/>
                  <a:pt x="381601" y="3175"/>
                  <a:pt x="852329" y="317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97309F3-74AF-252A-0DD6-7FCCFD8EAFD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5C5C905-1363-CB7F-9ECC-3A39DC2A853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5002598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7" y="2185416"/>
            <a:ext cx="5002599" cy="359786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97309F3-74AF-252A-0DD6-7FCCFD8EAFD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5C5C905-1363-CB7F-9ECC-3A39DC2A853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08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5002598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7" y="2185416"/>
            <a:ext cx="5002599" cy="350286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8327CCF-CC89-7D38-F98E-C5D8A88A080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 flipH="1">
            <a:off x="6096000" y="1"/>
            <a:ext cx="6096000" cy="6858000"/>
          </a:xfrm>
          <a:prstGeom prst="round1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525A3-5FE7-A463-5E55-73A56B71964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A7223-1327-D9D0-49C7-C84344680B9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55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5114631" y="0"/>
            <a:ext cx="7077369" cy="342679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5114631" y="3429000"/>
            <a:ext cx="3602522" cy="342679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8701089" y="3429000"/>
            <a:ext cx="3490912" cy="342679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5F738EF-BE2D-EBBE-5EFC-9D962D19C3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D82571D-624C-0CD3-7EA6-4B172E81E9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CF08B-6B2E-BD2E-C155-A10108B2C48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Office or unit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8354-9A54-F5BC-FBE0-56151889C9E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968C925-1F4D-59FC-C656-61F3120B427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5044782-6AB9-7686-BADD-5BCA3E9E3BD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1037884" cy="59093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1037884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: Single Corner Rounded 3">
            <a:extLst>
              <a:ext uri="{FF2B5EF4-FFF2-40B4-BE49-F238E27FC236}">
                <a16:creationId xmlns:a16="http://schemas.microsoft.com/office/drawing/2014/main" id="{82EEAE8F-7519-29C8-F957-A5DF1A345AFD}"/>
              </a:ext>
            </a:extLst>
          </p:cNvPr>
          <p:cNvSpPr/>
          <p:nvPr userDrawn="1"/>
        </p:nvSpPr>
        <p:spPr>
          <a:xfrm>
            <a:off x="549831" y="6174376"/>
            <a:ext cx="3446775" cy="683623"/>
          </a:xfrm>
          <a:prstGeom prst="round1Rect">
            <a:avLst>
              <a:gd name="adj" fmla="val 33439"/>
            </a:avLst>
          </a:prstGeom>
          <a:solidFill>
            <a:srgbClr val="FF5F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orange letter on a blue background&#10;&#10;Description automatically generated">
            <a:extLst>
              <a:ext uri="{FF2B5EF4-FFF2-40B4-BE49-F238E27FC236}">
                <a16:creationId xmlns:a16="http://schemas.microsoft.com/office/drawing/2014/main" id="{AEC98D1C-C106-80CF-E3E0-21B4E70BF5F4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4377"/>
            <a:ext cx="549831" cy="68362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5058491-9C5F-2CBA-8A79-649BC9C3D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99DD88-293F-B174-9B69-932022C7B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bg1"/>
          </a:solidFill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sz="1200">
                <a:solidFill>
                  <a:srgbClr val="13294B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4" r:id="rId2"/>
    <p:sldLayoutId id="2147483672" r:id="rId3"/>
    <p:sldLayoutId id="2147483673" r:id="rId4"/>
    <p:sldLayoutId id="2147483671" r:id="rId5"/>
    <p:sldLayoutId id="2147483681" r:id="rId6"/>
    <p:sldLayoutId id="2147483675" r:id="rId7"/>
    <p:sldLayoutId id="2147483670" r:id="rId8"/>
    <p:sldLayoutId id="2147483676" r:id="rId9"/>
    <p:sldLayoutId id="2147483650" r:id="rId10"/>
    <p:sldLayoutId id="2147483679" r:id="rId11"/>
    <p:sldLayoutId id="2147483680" r:id="rId12"/>
    <p:sldLayoutId id="2147483652" r:id="rId13"/>
    <p:sldLayoutId id="2147483653" r:id="rId14"/>
    <p:sldLayoutId id="2147483654" r:id="rId15"/>
    <p:sldLayoutId id="2147483677" r:id="rId16"/>
    <p:sldLayoutId id="2147483665" r:id="rId17"/>
    <p:sldLayoutId id="2147483678" r:id="rId18"/>
    <p:sldLayoutId id="2147483669" r:id="rId19"/>
    <p:sldLayoutId id="2147483666" r:id="rId20"/>
    <p:sldLayoutId id="2147483660" r:id="rId21"/>
    <p:sldLayoutId id="2147483667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FF5F0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Arial" panose="020B0604020202020204" pitchFamily="34" charset="0"/>
        <a:buNone/>
        <a:defRPr sz="1800" kern="1200">
          <a:solidFill>
            <a:srgbClr val="13294B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System Font Regular"/>
        <a:buChar char="-"/>
        <a:defRPr sz="1800" kern="1200">
          <a:solidFill>
            <a:srgbClr val="13294B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System Font Regular"/>
        <a:buChar char="-"/>
        <a:defRPr sz="1800" kern="1200">
          <a:solidFill>
            <a:srgbClr val="13294B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System Font Regular"/>
        <a:buChar char="-"/>
        <a:defRPr sz="1800" kern="1200">
          <a:solidFill>
            <a:srgbClr val="13294B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System Font Regular"/>
        <a:buChar char="-"/>
        <a:defRPr sz="1800" kern="1200">
          <a:solidFill>
            <a:srgbClr val="13294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3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E247-B3EF-206D-895B-EB36516C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B48D8A69-C585-E66D-493C-0140CA7BF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490472"/>
            <a:ext cx="10166650" cy="1399032"/>
          </a:xfrm>
        </p:spPr>
        <p:txBody>
          <a:bodyPr/>
          <a:lstStyle/>
          <a:p>
            <a:r>
              <a:rPr lang="en-US" sz="3200" dirty="0"/>
              <a:t>Towards Multiscale Modeling of Swift Heavy-Ion Track Formation in Redox Active Materials</a:t>
            </a:r>
          </a:p>
        </p:txBody>
      </p:sp>
      <p:sp>
        <p:nvSpPr>
          <p:cNvPr id="7" name="Sub-topic">
            <a:extLst>
              <a:ext uri="{FF2B5EF4-FFF2-40B4-BE49-F238E27FC236}">
                <a16:creationId xmlns:a16="http://schemas.microsoft.com/office/drawing/2014/main" id="{3327F33F-ED4A-16A9-7E74-808A0509C1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3429000"/>
            <a:ext cx="5783996" cy="1650381"/>
          </a:xfrm>
        </p:spPr>
        <p:txBody>
          <a:bodyPr/>
          <a:lstStyle/>
          <a:p>
            <a:r>
              <a:rPr lang="en-US" dirty="0"/>
              <a:t>Grady Clopton, Elif Ertekin</a:t>
            </a:r>
            <a:br>
              <a:rPr lang="en-US" dirty="0"/>
            </a:br>
            <a:r>
              <a:rPr lang="en-US" sz="2000" dirty="0"/>
              <a:t>May 8, 2027</a:t>
            </a:r>
          </a:p>
        </p:txBody>
      </p:sp>
    </p:spTree>
    <p:extLst>
      <p:ext uri="{BB962C8B-B14F-4D97-AF65-F5344CB8AC3E}">
        <p14:creationId xmlns:p14="http://schemas.microsoft.com/office/powerpoint/2010/main" val="286924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1475-AEBA-A47B-C3D9-8A6120767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11" y="550491"/>
            <a:ext cx="11037884" cy="590931"/>
          </a:xfrm>
        </p:spPr>
        <p:txBody>
          <a:bodyPr/>
          <a:lstStyle/>
          <a:p>
            <a:r>
              <a:rPr lang="en-US" dirty="0"/>
              <a:t>Radiation Damage in Nuclear Fuels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1B5DF-83F9-E093-C238-5F8AC8DB96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9979C-B901-9FB7-6A56-B7451FA5A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549" y="1141422"/>
            <a:ext cx="3149600" cy="2819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12FC3B-A439-2D2A-00FE-189CC69E4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353" y="3926726"/>
            <a:ext cx="3275796" cy="28363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9DCC39-2201-D84A-0216-8C889A515C02}"/>
              </a:ext>
            </a:extLst>
          </p:cNvPr>
          <p:cNvSpPr txBox="1"/>
          <p:nvPr/>
        </p:nvSpPr>
        <p:spPr>
          <a:xfrm>
            <a:off x="568811" y="1643605"/>
            <a:ext cx="62834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Nuclear fuel operates in a severe radiation environment. Fission damage accumulates in UO2 pellets leading 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Lower thermal conductivity (defects scatter phonons)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Swelling and micro-cracking (pellet-cladding stress)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Fission-gas retention and release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Reduced fuel lifetime and tightened safety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Damage physics happens to fast, too small to measure directly. Swift heavy ion tracks form in picoseconds across nanometer scales.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CeO2 is a non-radioactive surrogate for UO2. Same fluorite structure, same f-electron redox chemistry, with a much larger SHI experimental database.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89B657DE-5DEA-D324-1C87-8895DAC8B5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5391" y="6356350"/>
            <a:ext cx="3093573" cy="36512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53151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C90CB-C90B-0987-B75B-A50BF7C5C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1170C1A-CACF-0A19-E2ED-2B1C1BD5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367" y="1840126"/>
            <a:ext cx="4109559" cy="4312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32F35-BBCB-132B-9CB3-7354F834C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252314"/>
            <a:ext cx="11037884" cy="1089529"/>
          </a:xfrm>
        </p:spPr>
        <p:txBody>
          <a:bodyPr/>
          <a:lstStyle/>
          <a:p>
            <a:r>
              <a:rPr lang="en-US" dirty="0"/>
              <a:t>Swift heavy Ions: Stopping Power and Energy-Loss Channels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2AB87-A930-86D6-D80E-7ED7FD679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6FCB-C8F5-83C8-3355-02FC1A02BE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D654C-A419-FE5E-925E-5816A439E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3" y="1848096"/>
            <a:ext cx="1815329" cy="3343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91034F-5F28-A5AC-21CC-07CDCF601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92" y="1425673"/>
            <a:ext cx="2273300" cy="29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5802C3-2F44-E6CC-2FCB-C16DC5D5E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5943" y="1789291"/>
            <a:ext cx="145787" cy="40900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36315E-1151-F77C-3E02-A52203B27B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687" y="3171591"/>
            <a:ext cx="3852851" cy="24982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62E75C-60DB-DECE-6D22-4646C13590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5510" y="1789291"/>
            <a:ext cx="3020384" cy="11855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C6E522-8A4C-C3CA-F542-858DA44DFF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0192" y="1382121"/>
            <a:ext cx="2159000" cy="33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004A4C-DF4A-A1B8-1A13-22C412BAA0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87668" y="1663240"/>
            <a:ext cx="1815329" cy="19150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AD2B7D3-0B23-B471-9985-D6038227A2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264" y="5321760"/>
            <a:ext cx="3187700" cy="6223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0C0491-ED71-474C-7E85-8CFADB72235E}"/>
              </a:ext>
            </a:extLst>
          </p:cNvPr>
          <p:cNvSpPr txBox="1"/>
          <p:nvPr/>
        </p:nvSpPr>
        <p:spPr>
          <a:xfrm>
            <a:off x="8651926" y="3797593"/>
            <a:ext cx="25170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 the swift regime, energy is lost mainly to electrons - the atomic damage appears only after electron-lattice coupling.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SHI tracks are driven by electronic stopping, not by an ordinary collision cascade.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latent track is the surviving damaged cylinder after the thermal spike.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83A382A-AB52-CC5C-8FDB-2D25331B82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5606" y="5695254"/>
            <a:ext cx="1231900" cy="330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0F56D3C-A3D8-4AFF-C668-A240195E9F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6289" y="5650551"/>
            <a:ext cx="1168400" cy="342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790175-9552-3A01-EACD-82CFC40B08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0700" y="1754133"/>
            <a:ext cx="1009194" cy="4922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B3688FF-31D6-7C11-59DA-ACED5CF67E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5721" y="2963748"/>
            <a:ext cx="370918" cy="2078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4D52B8D-613D-DF97-BF50-8D034C5914D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5721" y="4048416"/>
            <a:ext cx="429521" cy="17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FFBC-72A2-EB11-0A9F-13C9A256E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2543-20B6-F2F9-4CB8-BF7676C3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750912"/>
            <a:ext cx="11037884" cy="590931"/>
          </a:xfrm>
        </p:spPr>
        <p:txBody>
          <a:bodyPr/>
          <a:lstStyle/>
          <a:p>
            <a:r>
              <a:rPr lang="en-US" dirty="0"/>
              <a:t>How a Swift-Heavy-Ion Track Forms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65EBB6-A55B-6090-1DB6-EABDD94338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10B27-54E3-273C-4B17-764E1BD847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9013E-2950-0615-A5FB-B9D8A2A75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614" y="5941745"/>
            <a:ext cx="5852074" cy="2974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B2009B-18B5-668C-CBC9-4797A72A1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83" y="1543258"/>
            <a:ext cx="2540000" cy="330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4F2D5F-3DF0-594B-9918-F1378D8F0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799" y="1542336"/>
            <a:ext cx="3000513" cy="330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BAED86-1F6A-F04F-484A-CC09A6FFF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328" y="1542336"/>
            <a:ext cx="2834217" cy="330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E52045-8391-6944-35A6-25D4A71B4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3561" y="1542336"/>
            <a:ext cx="2716645" cy="330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CBB6B7-2113-42D5-1254-DC89085B0A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305" y="2142322"/>
            <a:ext cx="2133468" cy="17067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3344C0-EF2D-3CA7-0D09-084AD6F3A4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112" y="2372220"/>
            <a:ext cx="2280323" cy="14689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CF77ECC-DB3E-6061-5386-01ACE92672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2053" y="2381172"/>
            <a:ext cx="2238670" cy="12290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09A8DD5-96F9-D4A4-D270-5806BF773D29}"/>
              </a:ext>
            </a:extLst>
          </p:cNvPr>
          <p:cNvSpPr txBox="1"/>
          <p:nvPr/>
        </p:nvSpPr>
        <p:spPr>
          <a:xfrm>
            <a:off x="906305" y="4275263"/>
            <a:ext cx="211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Energy Deposited into</a:t>
            </a:r>
            <a:br>
              <a:rPr lang="en-US" sz="1400" dirty="0"/>
            </a:br>
            <a:r>
              <a:rPr lang="en-US" sz="1400" dirty="0"/>
              <a:t>electrons along Ion Path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51A5254-579E-CCCC-79F3-8025485F84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1683" y="3524238"/>
            <a:ext cx="642774" cy="3601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D2DB727-B336-98EE-DF24-5CF8B97642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70138" y="3574178"/>
            <a:ext cx="642774" cy="36017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4BD608D-7048-4178-AC3B-47635E9D4C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5236" y="3611563"/>
            <a:ext cx="552250" cy="2295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77B29C9-FBD8-482E-7E21-4AA1888D34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6847" y="2017068"/>
            <a:ext cx="145787" cy="29674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B46B210-7FD8-E20A-A76C-8C73F75DC61C}"/>
              </a:ext>
            </a:extLst>
          </p:cNvPr>
          <p:cNvSpPr txBox="1"/>
          <p:nvPr/>
        </p:nvSpPr>
        <p:spPr>
          <a:xfrm>
            <a:off x="3625508" y="4227854"/>
            <a:ext cx="2231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Electrons diffuse outward</a:t>
            </a:r>
          </a:p>
          <a:p>
            <a:r>
              <a:rPr lang="en-US" sz="1400" dirty="0"/>
              <a:t>and transfer energy to the</a:t>
            </a:r>
            <a:br>
              <a:rPr lang="en-US" sz="1400" dirty="0"/>
            </a:br>
            <a:r>
              <a:rPr lang="en-US" sz="1400" dirty="0"/>
              <a:t>lattice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8805200-8B37-AB91-1D8B-BD540D86C6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8328" y="2049243"/>
            <a:ext cx="145787" cy="29353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1B9A6C4-BF55-0AFF-3F57-F251902EF024}"/>
              </a:ext>
            </a:extLst>
          </p:cNvPr>
          <p:cNvSpPr txBox="1"/>
          <p:nvPr/>
        </p:nvSpPr>
        <p:spPr>
          <a:xfrm>
            <a:off x="6645245" y="4174810"/>
            <a:ext cx="20345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Lattice heats above the</a:t>
            </a:r>
            <a:br>
              <a:rPr lang="en-US" sz="1400" dirty="0"/>
            </a:br>
            <a:r>
              <a:rPr lang="en-US" sz="1400" dirty="0"/>
              <a:t>melting point, forming</a:t>
            </a:r>
            <a:br>
              <a:rPr lang="en-US" sz="1400" dirty="0"/>
            </a:br>
            <a:r>
              <a:rPr lang="en-US" sz="1400" dirty="0"/>
              <a:t>molten cylindrical core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A5DBBCB-2CF3-3E39-A751-D73E6F7984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8651" y="876498"/>
            <a:ext cx="145787" cy="40900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45B87B4-F6DC-4348-9BDF-D6E19424A7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1525" y="1967166"/>
            <a:ext cx="1195755" cy="5832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C896EFB-74DE-0C48-5DED-C0EC52955E5A}"/>
              </a:ext>
            </a:extLst>
          </p:cNvPr>
          <p:cNvSpPr txBox="1"/>
          <p:nvPr/>
        </p:nvSpPr>
        <p:spPr>
          <a:xfrm>
            <a:off x="9514122" y="4162190"/>
            <a:ext cx="17556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Core recrystallizes,</a:t>
            </a:r>
          </a:p>
          <a:p>
            <a:r>
              <a:rPr lang="en-US" sz="1400" dirty="0"/>
              <a:t>Leaving a damaged</a:t>
            </a:r>
          </a:p>
          <a:p>
            <a:r>
              <a:rPr lang="en-US" sz="1400" dirty="0"/>
              <a:t>Latent track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DE19E-252A-91CC-E12B-41F511BD418B}"/>
              </a:ext>
            </a:extLst>
          </p:cNvPr>
          <p:cNvSpPr txBox="1"/>
          <p:nvPr/>
        </p:nvSpPr>
        <p:spPr>
          <a:xfrm>
            <a:off x="872342" y="5012960"/>
            <a:ext cx="9686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Electronic excitation leads to heating of the crystal lattice, a transient molten cylinder, then quenches into a latent damage 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Experiments see the end state; simulations resolve the picosecond pathway.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AF9A40-0350-4E4E-E921-2983AA2F4BC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33895" b="18763"/>
          <a:stretch>
            <a:fillRect/>
          </a:stretch>
        </p:blipFill>
        <p:spPr>
          <a:xfrm>
            <a:off x="3557083" y="2699359"/>
            <a:ext cx="2368550" cy="87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9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80D3-17EC-46CD-AD57-A548406B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364934"/>
            <a:ext cx="11037884" cy="590931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1AAB6-968E-1C78-DDC1-2536D6CF8A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5</a:t>
            </a:fld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C12A9976-23FE-0DD6-2B9B-00EC44AC5C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5391" y="6356350"/>
            <a:ext cx="3093573" cy="365125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C302E6-2A63-AF5B-B174-5511F66E5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33" y="955865"/>
            <a:ext cx="8466734" cy="514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07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8133-EAF6-E69D-B494-9419C388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DAC885-5418-8BF9-C85B-81CA7F403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 Selection</a:t>
            </a:r>
          </a:p>
        </p:txBody>
      </p:sp>
    </p:spTree>
    <p:extLst>
      <p:ext uri="{BB962C8B-B14F-4D97-AF65-F5344CB8AC3E}">
        <p14:creationId xmlns:p14="http://schemas.microsoft.com/office/powerpoint/2010/main" val="131651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BA9D-047D-C9EF-1522-56E60F15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56" y="-278275"/>
            <a:ext cx="11326900" cy="1089529"/>
          </a:xfrm>
        </p:spPr>
        <p:txBody>
          <a:bodyPr/>
          <a:lstStyle/>
          <a:p>
            <a:r>
              <a:rPr lang="en-US" dirty="0"/>
              <a:t>Process for Selecting U: Why is it Challenging?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DA54-8415-D8D4-175F-CEE01853E3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 Selection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A6233-72E1-7F1D-B1BC-7CE3DB4C22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16D20-278A-0696-93FF-8F1AC18F0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35" y="927052"/>
            <a:ext cx="5841148" cy="51977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AA0AC-DBFD-EE43-5484-248053BE2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457" y="985223"/>
            <a:ext cx="2470949" cy="16354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5D7126-BB48-322E-F14E-0202359A4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83" y="2824379"/>
            <a:ext cx="2249348" cy="14930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CC3510-E599-4F26-0F7E-C2ECC4A60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617" y="4575679"/>
            <a:ext cx="2271467" cy="14887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3539B4-0861-2B34-34EF-943FEA7392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783" y="4575679"/>
            <a:ext cx="2185465" cy="14930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048C5F-7BCF-F762-1F89-1D534921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0736" y="2824379"/>
            <a:ext cx="2271467" cy="151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51A4-73D5-FF19-CA61-0F14B0CD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22A8-74D7-839E-E29C-E7755B7C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56" y="82478"/>
            <a:ext cx="11065643" cy="728776"/>
          </a:xfrm>
        </p:spPr>
        <p:txBody>
          <a:bodyPr/>
          <a:lstStyle/>
          <a:p>
            <a:r>
              <a:rPr lang="en-US" dirty="0"/>
              <a:t>Process for Selecting U: Why is it Challenging?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24710-E8C5-587E-D4F9-3ABEFF7EE6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 Selection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DDABE-235E-2D51-69DA-59DCCA6166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FE52A-D78F-FD03-D55C-71D7635AD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35" y="927052"/>
            <a:ext cx="5841148" cy="51977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5197CB-C293-EF0A-5F95-67E09DFB5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457" y="985223"/>
            <a:ext cx="2470949" cy="16354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4F52C1-57F3-A548-B49F-6931D8855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83" y="2824379"/>
            <a:ext cx="2249348" cy="14930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5F2313-0D6B-82EF-96D0-9AE1455C8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617" y="4575679"/>
            <a:ext cx="2271467" cy="14887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C9E0C1-0234-3683-F3BC-824BA16E7B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783" y="4575679"/>
            <a:ext cx="2185465" cy="14930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879983-4058-DE63-DC45-89F4CA42AC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0736" y="2824379"/>
            <a:ext cx="2271467" cy="15143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53ADBB-4C1B-409C-5FA7-8B243A43F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5106" y="2458192"/>
            <a:ext cx="6150333" cy="2174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A3DBAB-5ADB-2B25-DB7F-AA3975EDE4DF}"/>
              </a:ext>
            </a:extLst>
          </p:cNvPr>
          <p:cNvSpPr txBox="1"/>
          <p:nvPr/>
        </p:nvSpPr>
        <p:spPr>
          <a:xfrm>
            <a:off x="4686305" y="3129802"/>
            <a:ext cx="334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 selection is a judgment process supported by data</a:t>
            </a:r>
          </a:p>
        </p:txBody>
      </p:sp>
    </p:spTree>
    <p:extLst>
      <p:ext uri="{BB962C8B-B14F-4D97-AF65-F5344CB8AC3E}">
        <p14:creationId xmlns:p14="http://schemas.microsoft.com/office/powerpoint/2010/main" val="304137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EEBC-32DB-FC1D-AAF0-719C6CF8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52" y="547481"/>
            <a:ext cx="9803486" cy="590931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DFT + U Sweep Results (Metastable Solution)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4320E-8C4E-99AE-F808-CA259D8671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25391" y="6356350"/>
            <a:ext cx="30935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U Selection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02DE15-3330-9719-018D-9488F2FC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468" y="1501445"/>
            <a:ext cx="5287291" cy="4124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2B95EC-5B4E-972E-559C-14ABCA992630}"/>
              </a:ext>
            </a:extLst>
          </p:cNvPr>
          <p:cNvSpPr txBox="1"/>
          <p:nvPr/>
        </p:nvSpPr>
        <p:spPr>
          <a:xfrm>
            <a:off x="6096000" y="2161754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U=4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632F3-B851-AE4C-3213-7777FAD24464}"/>
              </a:ext>
            </a:extLst>
          </p:cNvPr>
          <p:cNvSpPr txBox="1"/>
          <p:nvPr/>
        </p:nvSpPr>
        <p:spPr>
          <a:xfrm>
            <a:off x="6096000" y="3400625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U=5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148B6-3962-61C6-B653-838EB042A9E6}"/>
              </a:ext>
            </a:extLst>
          </p:cNvPr>
          <p:cNvSpPr txBox="1"/>
          <p:nvPr/>
        </p:nvSpPr>
        <p:spPr>
          <a:xfrm>
            <a:off x="6112626" y="4684087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U=6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577B65-5E4E-F017-74D5-2A7EF262B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52" y="2217124"/>
            <a:ext cx="55372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6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16445-F812-5F7A-B5A8-CC0EE0FF4B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U Selection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2DE836-9BA9-E85E-65BF-563A62776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94996-3A95-3CC4-B127-7999B6FAC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59" y="1165563"/>
            <a:ext cx="8365149" cy="499083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F49E30-DCC7-DC52-47F7-3EA95FB9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41" y="701599"/>
            <a:ext cx="11487531" cy="590931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Staged SCF Convergence for Systems with Multiple Electronic Solutions</a:t>
            </a:r>
          </a:p>
        </p:txBody>
      </p:sp>
    </p:spTree>
    <p:extLst>
      <p:ext uri="{BB962C8B-B14F-4D97-AF65-F5344CB8AC3E}">
        <p14:creationId xmlns:p14="http://schemas.microsoft.com/office/powerpoint/2010/main" val="4036754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CC13-831D-243A-A097-9EE2BE78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6846-D1D8-E28C-03A1-FD57D99F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561770"/>
            <a:ext cx="10515600" cy="590931"/>
          </a:xfrm>
        </p:spPr>
        <p:txBody>
          <a:bodyPr/>
          <a:lstStyle/>
          <a:p>
            <a:r>
              <a:rPr lang="en-US" dirty="0"/>
              <a:t>Current DFT + U Sweep 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6D03-0943-CF1E-5D90-1B31C02466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71733-52EF-B6E1-6E06-ED3823FF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171" y="1249416"/>
            <a:ext cx="5479498" cy="47862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D21612-2409-F84E-54FC-A44D003D1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27"/>
          <a:stretch>
            <a:fillRect/>
          </a:stretch>
        </p:blipFill>
        <p:spPr>
          <a:xfrm>
            <a:off x="566928" y="1921564"/>
            <a:ext cx="5625528" cy="321783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370193-1FAE-EDB4-29BA-B15E7B0541D7}"/>
              </a:ext>
            </a:extLst>
          </p:cNvPr>
          <p:cNvSpPr txBox="1">
            <a:spLocks/>
          </p:cNvSpPr>
          <p:nvPr/>
        </p:nvSpPr>
        <p:spPr>
          <a:xfrm>
            <a:off x="725391" y="6356350"/>
            <a:ext cx="309357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/>
                </a:solidFill>
              </a:rPr>
              <a:t>U Selection</a:t>
            </a:r>
          </a:p>
        </p:txBody>
      </p:sp>
    </p:spTree>
    <p:extLst>
      <p:ext uri="{BB962C8B-B14F-4D97-AF65-F5344CB8AC3E}">
        <p14:creationId xmlns:p14="http://schemas.microsoft.com/office/powerpoint/2010/main" val="3122129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12CAB5-E23D-95AC-53BA-94980249D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1490472"/>
            <a:ext cx="8436537" cy="2386584"/>
          </a:xfrm>
        </p:spPr>
        <p:txBody>
          <a:bodyPr/>
          <a:lstStyle/>
          <a:p>
            <a:r>
              <a:rPr lang="en-US" dirty="0"/>
              <a:t>AIMD Data Generation</a:t>
            </a:r>
          </a:p>
        </p:txBody>
      </p:sp>
    </p:spTree>
    <p:extLst>
      <p:ext uri="{BB962C8B-B14F-4D97-AF65-F5344CB8AC3E}">
        <p14:creationId xmlns:p14="http://schemas.microsoft.com/office/powerpoint/2010/main" val="442071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BF1C1-6F01-AA23-0232-129865FB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2D13-5751-A3BD-0272-290EA9BC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317761"/>
            <a:ext cx="11037884" cy="1089529"/>
          </a:xfrm>
        </p:spPr>
        <p:txBody>
          <a:bodyPr/>
          <a:lstStyle/>
          <a:p>
            <a:r>
              <a:rPr lang="en-US" dirty="0"/>
              <a:t>AIMD Generation: Stratified Sampling for Combined Allegro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B8803-5C7F-B784-B4AA-BE37D0B1AA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AIMD Data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BE626-B835-0B60-8C6B-4BEC6564C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417CD1-9F43-12E2-BE30-C7D4B6129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" y="1407290"/>
            <a:ext cx="3889879" cy="33036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1F3C01-AAF3-9850-304E-9DB2A6CBD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444" y="1440295"/>
            <a:ext cx="4571090" cy="36178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E8B200-8EED-625B-BB71-2ED7258393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21" b="53669"/>
          <a:stretch>
            <a:fillRect/>
          </a:stretch>
        </p:blipFill>
        <p:spPr>
          <a:xfrm>
            <a:off x="4161281" y="5505796"/>
            <a:ext cx="1117958" cy="840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EED3C0-BF3C-8CCB-F58E-518485B9CB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256" b="6062"/>
          <a:stretch>
            <a:fillRect/>
          </a:stretch>
        </p:blipFill>
        <p:spPr>
          <a:xfrm>
            <a:off x="6650918" y="5505795"/>
            <a:ext cx="956211" cy="8406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261726-D8FF-1322-C886-123A893A02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16"/>
          <a:stretch>
            <a:fillRect/>
          </a:stretch>
        </p:blipFill>
        <p:spPr>
          <a:xfrm>
            <a:off x="5279239" y="5417705"/>
            <a:ext cx="1209932" cy="1016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1F0D3C-8EB8-7F68-DFC7-CBA802FFCF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0334" y="1372654"/>
            <a:ext cx="3631814" cy="404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1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64F20-F4FE-312B-BB8F-59EC4963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985CF0-E63D-A808-8E26-20C150C75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Allegro MLIP</a:t>
            </a:r>
          </a:p>
        </p:txBody>
      </p:sp>
    </p:spTree>
    <p:extLst>
      <p:ext uri="{BB962C8B-B14F-4D97-AF65-F5344CB8AC3E}">
        <p14:creationId xmlns:p14="http://schemas.microsoft.com/office/powerpoint/2010/main" val="3868752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6D56-75AA-F20C-2982-B117F5F5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76" y="1018354"/>
            <a:ext cx="11037884" cy="590931"/>
          </a:xfrm>
        </p:spPr>
        <p:txBody>
          <a:bodyPr/>
          <a:lstStyle/>
          <a:p>
            <a:r>
              <a:rPr lang="en-US" dirty="0"/>
              <a:t>Why Equivariance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C294D-7995-6E62-DEB1-7F005E3184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15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D411840F-296C-3799-32AD-81005CC50F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5391" y="6356350"/>
            <a:ext cx="3093573" cy="365125"/>
          </a:xfrm>
        </p:spPr>
        <p:txBody>
          <a:bodyPr/>
          <a:lstStyle/>
          <a:p>
            <a:r>
              <a:rPr lang="en-US" dirty="0"/>
              <a:t>Allegro MLIP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6AE0E4-65BA-64CF-00FD-CE132AC1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75" y="3761155"/>
            <a:ext cx="6858874" cy="2263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26018-7E50-E79A-9131-0B119E577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555" y="1789083"/>
            <a:ext cx="7095320" cy="1639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8968C2-0A06-0F57-5978-24208309C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241" y="1719380"/>
            <a:ext cx="2669972" cy="19084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CEDE1-0306-8BB9-B7F4-33D74A8AE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5038" y="3921022"/>
            <a:ext cx="2432378" cy="194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92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699" y="-70400"/>
            <a:ext cx="10515600" cy="1089529"/>
          </a:xfrm>
        </p:spPr>
        <p:txBody>
          <a:bodyPr/>
          <a:lstStyle/>
          <a:p>
            <a:r>
              <a:rPr lang="en-US" dirty="0"/>
              <a:t>Why Allegro Is the Right Choice for Ceria SHI Tracks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7AC737-8807-C504-C105-B62BE766DD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Allegro MLIP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A03AE-7021-8554-C2DB-0A79B9F8F6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B22CB-303B-0DC0-8524-F3C8ABB3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1" y="6573909"/>
            <a:ext cx="9365741" cy="47680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498D08-F975-439D-E5EE-99BA2E6C42C7}"/>
              </a:ext>
            </a:extLst>
          </p:cNvPr>
          <p:cNvSpPr txBox="1"/>
          <p:nvPr/>
        </p:nvSpPr>
        <p:spPr>
          <a:xfrm>
            <a:off x="802433" y="1019129"/>
            <a:ext cx="102858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1.) What the SHI Problem Demands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Directional Local Physics: </a:t>
            </a:r>
            <a:r>
              <a:rPr lang="en-US" dirty="0"/>
              <a:t>local geometry and forces change rapidly in the damaged track core.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Redox Active Chemistry: </a:t>
            </a:r>
            <a:r>
              <a:rPr lang="en-US" dirty="0"/>
              <a:t>Ceria samples multiple oxidation states and intermediate stoichiometries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Extreme Environments: </a:t>
            </a:r>
            <a:r>
              <a:rPr lang="en-US" dirty="0"/>
              <a:t>High temperature, defects, and non-equilibrium states (including molten-core-like conditions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Large production cells: </a:t>
            </a:r>
            <a:r>
              <a:rPr lang="en-US" dirty="0"/>
              <a:t>Track simulations require multi-million atoms systems and long timescales</a:t>
            </a:r>
          </a:p>
          <a:p>
            <a:r>
              <a:rPr lang="en-US" b="1" dirty="0">
                <a:solidFill>
                  <a:schemeClr val="accent1"/>
                </a:solidFill>
              </a:rPr>
              <a:t>2.) What the SHI Problem Demands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Rotationally consistent forces and energies: </a:t>
            </a:r>
            <a:r>
              <a:rPr lang="en-US" dirty="0"/>
              <a:t>Preserve consistent information and symmetries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Transfer across phases and intermediate stoichiometries: </a:t>
            </a:r>
            <a:r>
              <a:rPr lang="en-US" dirty="0"/>
              <a:t>Generalize across oxidized, reduced, and mixed states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Stability in high-temperature off-equilibrium states: </a:t>
            </a:r>
            <a:r>
              <a:rPr lang="en-US" dirty="0"/>
              <a:t>Remain robust in disordered defective, and molten-core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Linear scaling, local operations with strong GPU parallelism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0576-E10C-6151-D29A-9336425C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80" y="355512"/>
            <a:ext cx="10515600" cy="590931"/>
          </a:xfrm>
        </p:spPr>
        <p:txBody>
          <a:bodyPr/>
          <a:lstStyle/>
          <a:p>
            <a:r>
              <a:rPr lang="en-US" dirty="0"/>
              <a:t>Allegro MLIP for Redox-Active Ceria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90612-F197-05A2-414F-7F06697DCF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17</a:t>
            </a:fld>
            <a:endParaRPr lang="en-US"/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48B7DE2-4026-AD4A-23A0-32F0756608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5391" y="6356350"/>
            <a:ext cx="3093573" cy="365125"/>
          </a:xfrm>
        </p:spPr>
        <p:txBody>
          <a:bodyPr/>
          <a:lstStyle/>
          <a:p>
            <a:r>
              <a:rPr lang="en-US" dirty="0"/>
              <a:t>Allegro MLIP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76BB3-B23A-53B3-E939-C9A8E447B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81" y="1058358"/>
            <a:ext cx="9974279" cy="484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48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7905"/>
            <a:ext cx="6951472" cy="590931"/>
          </a:xfrm>
        </p:spPr>
        <p:txBody>
          <a:bodyPr/>
          <a:lstStyle/>
          <a:p>
            <a:r>
              <a:rPr lang="en-US" dirty="0"/>
              <a:t>Data Generation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38F3A7AD-BFCA-B14B-8363-A4C1A4B74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189851"/>
            <a:ext cx="4634992" cy="464025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Main challenge: in ceria, oxygen vacancies are coupled to Ce⁴⁺/Ce³⁺ redox changes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Training data must therefore capture both atomic distortions and the correct localized 4f electronic state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DFT+U can describe this physics, but reduced ceria often has multiple metastable 4f occupation patterns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 generate data across the ceria reduction series </a:t>
            </a:r>
            <a:r>
              <a:rPr lang="en-US" sz="1600" dirty="0" err="1"/>
              <a:t>CeO</a:t>
            </a:r>
            <a:r>
              <a:rPr lang="en-US" sz="1600" dirty="0"/>
              <a:t>₂, </a:t>
            </a:r>
            <a:r>
              <a:rPr lang="en-US" sz="1600" dirty="0" err="1"/>
              <a:t>Ce₇O</a:t>
            </a:r>
            <a:r>
              <a:rPr lang="en-US" sz="1600" dirty="0"/>
              <a:t>₁₂ </a:t>
            </a:r>
            <a:r>
              <a:rPr lang="en-US" sz="1600" dirty="0" err="1"/>
              <a:t>Ce₂O</a:t>
            </a:r>
            <a:r>
              <a:rPr lang="en-US" sz="1600" dirty="0"/>
              <a:t>₃.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Data Generation Process:</a:t>
            </a:r>
          </a:p>
          <a:p>
            <a:pPr marL="971550" lvl="1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ab initio molecular dynamics at multiple temperatures to sample anharmonic, non-equilibrium local environments</a:t>
            </a:r>
          </a:p>
          <a:p>
            <a:pPr marL="971550" lvl="1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Label each configuration with total energies, atomic forces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endParaRPr lang="en-US" sz="15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50" dirty="0"/>
          </a:p>
          <a:p>
            <a:endParaRPr lang="en-US" sz="155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055101-CA1A-8989-48EA-0685132C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Office or unit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D5237-D733-2D81-185C-3C3CAF03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0165-016C-3A7E-02F2-17CD3760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2EC821-BB1A-8329-600B-BD8B403D0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Source Physics</a:t>
            </a:r>
          </a:p>
        </p:txBody>
      </p:sp>
    </p:spTree>
    <p:extLst>
      <p:ext uri="{BB962C8B-B14F-4D97-AF65-F5344CB8AC3E}">
        <p14:creationId xmlns:p14="http://schemas.microsoft.com/office/powerpoint/2010/main" val="57723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64B9-7A7E-9503-6351-7AE4829F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6" y="431531"/>
            <a:ext cx="11037884" cy="480131"/>
          </a:xfrm>
        </p:spPr>
        <p:txBody>
          <a:bodyPr/>
          <a:lstStyle/>
          <a:p>
            <a:r>
              <a:rPr lang="en-US" sz="2800" dirty="0"/>
              <a:t>Source Physics: From Stopping Power to Track 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8432F-C3FB-12F7-444F-4D4F6C3F67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B07AD-EA8E-178A-FD09-3C7C16F9CC94}"/>
              </a:ext>
            </a:extLst>
          </p:cNvPr>
          <p:cNvSpPr txBox="1"/>
          <p:nvPr/>
        </p:nvSpPr>
        <p:spPr>
          <a:xfrm>
            <a:off x="926674" y="6354827"/>
            <a:ext cx="209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Source Physics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097533-B2E3-8281-E8E8-B11D77813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904" y="1220501"/>
            <a:ext cx="7772400" cy="441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80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D3F4-BD67-1E99-7F6D-618DE466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BB64-C352-3EAA-CD36-B9CBE278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11" y="258152"/>
            <a:ext cx="11037884" cy="867930"/>
          </a:xfrm>
        </p:spPr>
        <p:txBody>
          <a:bodyPr/>
          <a:lstStyle/>
          <a:p>
            <a:r>
              <a:rPr lang="en-US" sz="2800" dirty="0"/>
              <a:t>The </a:t>
            </a:r>
            <a:r>
              <a:rPr lang="en-US" sz="2800" dirty="0" err="1"/>
              <a:t>i</a:t>
            </a:r>
            <a:r>
              <a:rPr lang="en-US" sz="2800" dirty="0"/>
              <a:t>–TS Model: Converting Electronic Excitation into Lattice Heating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7800B-4301-55A6-720B-CE7A96E3C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967BD-E64C-DBF4-0EF1-162D5307C514}"/>
              </a:ext>
            </a:extLst>
          </p:cNvPr>
          <p:cNvSpPr txBox="1"/>
          <p:nvPr/>
        </p:nvSpPr>
        <p:spPr>
          <a:xfrm>
            <a:off x="926674" y="6354827"/>
            <a:ext cx="209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Source Physics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73AE3-ED4B-2A95-B4C0-FC7E28DAB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0" y="1678435"/>
            <a:ext cx="9144000" cy="441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23019-6A51-8C08-BA26-45F5B89FC2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84"/>
          <a:stretch>
            <a:fillRect/>
          </a:stretch>
        </p:blipFill>
        <p:spPr>
          <a:xfrm>
            <a:off x="568811" y="1126082"/>
            <a:ext cx="10972658" cy="486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56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C1FF2-D3A3-70B8-12A8-7EAAB793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761B-2633-6E83-D1A5-C3E59F805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724772"/>
            <a:ext cx="11037884" cy="590931"/>
          </a:xfrm>
        </p:spPr>
        <p:txBody>
          <a:bodyPr/>
          <a:lstStyle/>
          <a:p>
            <a:r>
              <a:rPr lang="en-US" dirty="0"/>
              <a:t>Validation of Track 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78DC4-E89A-F704-4BBD-6DB0A7AC86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03AEC-3ED0-B215-830F-25F1B9539405}"/>
              </a:ext>
            </a:extLst>
          </p:cNvPr>
          <p:cNvSpPr txBox="1"/>
          <p:nvPr/>
        </p:nvSpPr>
        <p:spPr>
          <a:xfrm>
            <a:off x="926674" y="6354827"/>
            <a:ext cx="209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Source Physics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C7AFC8-4A7D-00D7-D899-348E9F40A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23405"/>
            <a:ext cx="7772400" cy="39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35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E604D-5F92-B42A-84BF-54002E84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E52853-D2E8-E757-36C6-087705AFE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1490472"/>
            <a:ext cx="8971770" cy="2386584"/>
          </a:xfrm>
        </p:spPr>
        <p:txBody>
          <a:bodyPr/>
          <a:lstStyle/>
          <a:p>
            <a:r>
              <a:rPr lang="en-US" dirty="0"/>
              <a:t>SHI Track Simulations Analytics</a:t>
            </a:r>
          </a:p>
        </p:txBody>
      </p:sp>
    </p:spTree>
    <p:extLst>
      <p:ext uri="{BB962C8B-B14F-4D97-AF65-F5344CB8AC3E}">
        <p14:creationId xmlns:p14="http://schemas.microsoft.com/office/powerpoint/2010/main" val="3472621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05289"/>
            <a:ext cx="6951472" cy="590931"/>
          </a:xfrm>
        </p:spPr>
        <p:txBody>
          <a:bodyPr/>
          <a:lstStyle/>
          <a:p>
            <a:r>
              <a:rPr lang="en-US" dirty="0"/>
              <a:t>Classical MD Results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C69252C7-A6C4-2849-AD0F-63A6BD9A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619" y="1380078"/>
            <a:ext cx="6221799" cy="387617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 Track simulations in LAMMPS with classical rigid-ion Buckingham + Coulomb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Simulations captured thermal disorder, point defects, and local rearrangements; did not reproduce the chemically realistic track response suggested by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Core Limitation: </a:t>
            </a:r>
            <a:r>
              <a:rPr lang="en-US" dirty="0"/>
              <a:t>fixed-charge classical potentials cannot represent Ce(4+) → Ce(3+)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Oxygen vacancy formation in real ceria leaves two electrons that localize on nearby Ce sites; this changes local bonding, defect energetics, migration barriers, strain, and recovery behavior.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A63C53-767F-736A-4B57-B27806E9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519B6-43F8-8010-CD77-B4844E950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92" y="535765"/>
            <a:ext cx="3432255" cy="259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62BD75-87EA-C761-439D-A6A16D1E0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176" y="3376863"/>
            <a:ext cx="3553743" cy="25534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4045E5-D96D-6D48-D23C-91AA06678E9C}"/>
              </a:ext>
            </a:extLst>
          </p:cNvPr>
          <p:cNvSpPr txBox="1"/>
          <p:nvPr/>
        </p:nvSpPr>
        <p:spPr>
          <a:xfrm>
            <a:off x="926674" y="6308660"/>
            <a:ext cx="254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SHI Track Simulations</a:t>
            </a:r>
          </a:p>
        </p:txBody>
      </p:sp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CB37-8FE2-76D3-0108-306B5F31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11" y="700963"/>
            <a:ext cx="11037884" cy="590931"/>
          </a:xfrm>
        </p:spPr>
        <p:txBody>
          <a:bodyPr/>
          <a:lstStyle/>
          <a:p>
            <a:r>
              <a:rPr lang="en-US" dirty="0"/>
              <a:t>Track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C151D-A472-D6D4-DA3C-40961365DC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B49E25-249E-010C-5D07-6C38A04D5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316" y="2350972"/>
            <a:ext cx="2617718" cy="15162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845A0-C59B-3823-7EBC-F64A85E1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316" y="492923"/>
            <a:ext cx="2617718" cy="18426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3BAE6A-C9CE-6369-1324-EC273406A2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44" t="25392" r="24251" b="22243"/>
          <a:stretch>
            <a:fillRect/>
          </a:stretch>
        </p:blipFill>
        <p:spPr>
          <a:xfrm>
            <a:off x="8725316" y="3935271"/>
            <a:ext cx="2612526" cy="16021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EE5B14-6546-9818-DC30-E79A123EDA41}"/>
              </a:ext>
            </a:extLst>
          </p:cNvPr>
          <p:cNvSpPr txBox="1"/>
          <p:nvPr/>
        </p:nvSpPr>
        <p:spPr>
          <a:xfrm>
            <a:off x="725391" y="1467272"/>
            <a:ext cx="74694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Production-Size SiO2 Simulation:</a:t>
            </a:r>
            <a:r>
              <a:rPr lang="en-US" dirty="0"/>
              <a:t> 166k-atom alpha-quartz cell, Vashishta Potential, Guassian SHI energy deposition (Se = 16.5 keV/nm) with cooled-rim Langevin boundary, ~1 </a:t>
            </a:r>
            <a:r>
              <a:rPr lang="en-US" dirty="0" err="1"/>
              <a:t>ps</a:t>
            </a:r>
            <a:r>
              <a:rPr lang="en-US" dirty="0"/>
              <a:t> relaxation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Quantitative Damage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1D-matched displacement against equilibrated reference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Central 0-2 angstrom bin shows mean displacement of 20.4 angstroms, falling off radially to undisturbed lattice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OVITO Visualizations: </a:t>
            </a:r>
            <a:r>
              <a:rPr lang="en-US" dirty="0"/>
              <a:t>Displacement-colored views, local-density slice maps, and half-cell slicing for resolving the cylindrical core through the slab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76F4EF-4308-539D-8660-36FC3E7EBEB5}"/>
              </a:ext>
            </a:extLst>
          </p:cNvPr>
          <p:cNvSpPr txBox="1"/>
          <p:nvPr/>
        </p:nvSpPr>
        <p:spPr>
          <a:xfrm>
            <a:off x="926673" y="6354827"/>
            <a:ext cx="258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SHI Track Simulations</a:t>
            </a:r>
          </a:p>
        </p:txBody>
      </p:sp>
    </p:spTree>
    <p:extLst>
      <p:ext uri="{BB962C8B-B14F-4D97-AF65-F5344CB8AC3E}">
        <p14:creationId xmlns:p14="http://schemas.microsoft.com/office/powerpoint/2010/main" val="82749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llinois">
      <a:dk1>
        <a:srgbClr val="12284B"/>
      </a:dk1>
      <a:lt1>
        <a:srgbClr val="FFFFFF"/>
      </a:lt1>
      <a:dk2>
        <a:srgbClr val="FF542E"/>
      </a:dk2>
      <a:lt2>
        <a:srgbClr val="FFFFFF"/>
      </a:lt2>
      <a:accent1>
        <a:srgbClr val="FF542E"/>
      </a:accent1>
      <a:accent2>
        <a:srgbClr val="12284B"/>
      </a:accent2>
      <a:accent3>
        <a:srgbClr val="FCB316"/>
      </a:accent3>
      <a:accent4>
        <a:srgbClr val="006130"/>
      </a:accent4>
      <a:accent5>
        <a:srgbClr val="007E8E"/>
      </a:accent5>
      <a:accent6>
        <a:srgbClr val="5C0E41"/>
      </a:accent6>
      <a:hlink>
        <a:srgbClr val="1D58A7"/>
      </a:hlink>
      <a:folHlink>
        <a:srgbClr val="C8411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10565</TotalTime>
  <Words>895</Words>
  <Application>Microsoft Macintosh PowerPoint</Application>
  <PresentationFormat>Widescreen</PresentationFormat>
  <Paragraphs>136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System Font Regular</vt:lpstr>
      <vt:lpstr>Office Theme</vt:lpstr>
      <vt:lpstr>Towards Multiscale Modeling of Swift Heavy-Ion Track Formation in Redox Active Materials</vt:lpstr>
      <vt:lpstr>Radiation Damage in Nuclear Fuels</vt:lpstr>
      <vt:lpstr>Swift heavy Ions: Stopping Power and Energy-Loss Channels</vt:lpstr>
      <vt:lpstr>How a Swift-Heavy-Ion Track Forms</vt:lpstr>
      <vt:lpstr>Project Overview</vt:lpstr>
      <vt:lpstr>U Selection</vt:lpstr>
      <vt:lpstr>Process for Selecting U: Why is it Challenging?</vt:lpstr>
      <vt:lpstr>Process for Selecting U: Why is it Challenging?</vt:lpstr>
      <vt:lpstr>DFT + U Sweep Results (Metastable Solution)</vt:lpstr>
      <vt:lpstr>Staged SCF Convergence for Systems with Multiple Electronic Solutions</vt:lpstr>
      <vt:lpstr>Current DFT + U Sweep Results</vt:lpstr>
      <vt:lpstr>AIMD Data Generation</vt:lpstr>
      <vt:lpstr>AIMD Generation: Stratified Sampling for Combined Allegro</vt:lpstr>
      <vt:lpstr>Allegro MLIP</vt:lpstr>
      <vt:lpstr>Why Equivariance Matters</vt:lpstr>
      <vt:lpstr>Why Allegro Is the Right Choice for Ceria SHI Tracks</vt:lpstr>
      <vt:lpstr>Allegro MLIP for Redox-Active Ceria</vt:lpstr>
      <vt:lpstr>Data Generation</vt:lpstr>
      <vt:lpstr>Source Physics</vt:lpstr>
      <vt:lpstr>Source Physics: From Stopping Power to Track Formation</vt:lpstr>
      <vt:lpstr>The i–TS Model: Converting Electronic Excitation into Lattice Heating</vt:lpstr>
      <vt:lpstr>Validation of Track Formation</vt:lpstr>
      <vt:lpstr>SHI Track Simulations Analytics</vt:lpstr>
      <vt:lpstr>Classical MD Results</vt:lpstr>
      <vt:lpstr>Track Analytics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(primary logo)</dc:title>
  <dc:subject/>
  <dc:creator/>
  <cp:keywords/>
  <dc:description/>
  <cp:lastModifiedBy>Clopton, Grady</cp:lastModifiedBy>
  <cp:revision>115</cp:revision>
  <dcterms:created xsi:type="dcterms:W3CDTF">2019-04-04T19:20:28Z</dcterms:created>
  <dcterms:modified xsi:type="dcterms:W3CDTF">2026-06-16T15:26:36Z</dcterms:modified>
  <cp:category/>
</cp:coreProperties>
</file>